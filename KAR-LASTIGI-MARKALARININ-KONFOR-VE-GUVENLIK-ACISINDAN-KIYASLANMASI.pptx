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4630400" cy="8229600"/>
  <p:notesSz cx="8229600" cy="14630400"/>
  <p:embeddedFontLst>
    <p:embeddedFont>
      <p:font typeface="Platypi Medium"/>
      <p:regular r:id="rId17"/>
    </p:embeddedFont>
    <p:embeddedFont>
      <p:font typeface="Platypi Medium"/>
      <p:regular r:id="rId18"/>
    </p:embeddedFont>
    <p:embeddedFont>
      <p:font typeface="Platypi Medium"/>
      <p:regular r:id="rId19"/>
    </p:embeddedFont>
    <p:embeddedFont>
      <p:font typeface="Platypi Medium"/>
      <p:regular r:id="rId20"/>
    </p:embeddedFont>
    <p:embeddedFont>
      <p:font typeface="Source Serif 4"/>
      <p:regular r:id="rId21"/>
    </p:embeddedFont>
    <p:embeddedFont>
      <p:font typeface="Source Serif 4"/>
      <p:regular r:id="rId22"/>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2-1.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3-1.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4-1.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5-1.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6-1.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7-1.pn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8-1.pn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09-1.pn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10-1.pn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hyperlink" Target="https://gamma.app/?utm_source=made-with-gamma" TargetMode="External"/><Relationship Id="rId1" Type="http://schemas.openxmlformats.org/officeDocument/2006/relationships/image" Target="../media/image-1011-1.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7F3F0"/>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tooltip=""/>
          </p:cNvPr>
          <p:cNvPicPr>
            <a:picLocks noChangeAspect="1"/>
          </p:cNvPicPr>
          <p:nvPr/>
        </p:nvPicPr>
        <p:blipFill>
          <a:blip r:embed="rId1"/>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slideLayout" Target="../slideLayouts/slideLayout3.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7.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svg"/><Relationship Id="rId4" Type="http://schemas.openxmlformats.org/officeDocument/2006/relationships/image" Target="../media/image-7-4.png"/><Relationship Id="rId5" Type="http://schemas.openxmlformats.org/officeDocument/2006/relationships/image" Target="../media/image-7-5.svg"/><Relationship Id="rId6" Type="http://schemas.openxmlformats.org/officeDocument/2006/relationships/slideLayout" Target="../slideLayouts/slideLayout8.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0.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2345650"/>
            <a:ext cx="7556421" cy="2835116"/>
          </a:xfrm>
          <a:prstGeom prst="rect">
            <a:avLst/>
          </a:prstGeom>
          <a:noFill/>
          <a:ln/>
        </p:spPr>
        <p:txBody>
          <a:bodyPr wrap="squar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KAR LASTİĞİ MARKALARININ KONFOR VE GÜVENLİK AÇISINDAN KIYASLANMASI</a:t>
            </a:r>
            <a:endParaRPr lang="en-US" sz="4450" dirty="0"/>
          </a:p>
        </p:txBody>
      </p:sp>
      <p:sp>
        <p:nvSpPr>
          <p:cNvPr id="4" name="Text 1"/>
          <p:cNvSpPr/>
          <p:nvPr/>
        </p:nvSpPr>
        <p:spPr>
          <a:xfrm>
            <a:off x="6280190" y="5520928"/>
            <a:ext cx="7556421"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Mini Proje 3 (MP3): Veri Analizi ve Karşılaştırmalı Değerlendirme</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1112520"/>
            <a:ext cx="10177820" cy="708779"/>
          </a:xfrm>
          <a:prstGeom prst="rect">
            <a:avLst/>
          </a:prstGeom>
          <a:noFill/>
          <a:ln/>
        </p:spPr>
        <p:txBody>
          <a:bodyPr wrap="non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SEÇİLEN MARKALAR VE MODELLER</a:t>
            </a:r>
            <a:endParaRPr lang="en-US" sz="4450" dirty="0"/>
          </a:p>
        </p:txBody>
      </p:sp>
      <p:sp>
        <p:nvSpPr>
          <p:cNvPr id="3" name="Text 1"/>
          <p:cNvSpPr/>
          <p:nvPr/>
        </p:nvSpPr>
        <p:spPr>
          <a:xfrm>
            <a:off x="793790" y="2274927"/>
            <a:ext cx="13042821" cy="725805"/>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Piyasada en çok tercih edilen ve güvenilen kar lastiği markaları analizimiz için titizlikle seçilmiştir. Bu seçim, hem global pazar liderlerini hem de yerel üreticilerin güçlü temsilcilerini içermektedir.</a:t>
            </a:r>
            <a:endParaRPr lang="en-US" sz="1750"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93790" y="3255883"/>
            <a:ext cx="566976" cy="566976"/>
          </a:xfrm>
          <a:prstGeom prst="rect">
            <a:avLst/>
          </a:prstGeom>
        </p:spPr>
      </p:pic>
      <p:sp>
        <p:nvSpPr>
          <p:cNvPr id="5" name="Text 2"/>
          <p:cNvSpPr/>
          <p:nvPr/>
        </p:nvSpPr>
        <p:spPr>
          <a:xfrm>
            <a:off x="793790" y="4106347"/>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Michelin</a:t>
            </a:r>
            <a:endParaRPr lang="en-US" sz="2200" dirty="0"/>
          </a:p>
        </p:txBody>
      </p:sp>
      <p:sp>
        <p:nvSpPr>
          <p:cNvPr id="6" name="Text 3"/>
          <p:cNvSpPr/>
          <p:nvPr/>
        </p:nvSpPr>
        <p:spPr>
          <a:xfrm>
            <a:off x="793790" y="4596765"/>
            <a:ext cx="4158615"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Alpin 6</a:t>
            </a:r>
            <a:endParaRPr lang="en-US" sz="1750" dirty="0"/>
          </a:p>
        </p:txBody>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35893" y="3255883"/>
            <a:ext cx="566976" cy="566976"/>
          </a:xfrm>
          <a:prstGeom prst="rect">
            <a:avLst/>
          </a:prstGeom>
        </p:spPr>
      </p:pic>
      <p:sp>
        <p:nvSpPr>
          <p:cNvPr id="8" name="Text 4"/>
          <p:cNvSpPr/>
          <p:nvPr/>
        </p:nvSpPr>
        <p:spPr>
          <a:xfrm>
            <a:off x="5235893" y="4106347"/>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Continental</a:t>
            </a:r>
            <a:endParaRPr lang="en-US" sz="2200" dirty="0"/>
          </a:p>
        </p:txBody>
      </p:sp>
      <p:sp>
        <p:nvSpPr>
          <p:cNvPr id="9" name="Text 5"/>
          <p:cNvSpPr/>
          <p:nvPr/>
        </p:nvSpPr>
        <p:spPr>
          <a:xfrm>
            <a:off x="5235893" y="4596765"/>
            <a:ext cx="4158615"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TS 870</a:t>
            </a:r>
            <a:endParaRPr lang="en-US" sz="1750" dirty="0"/>
          </a:p>
        </p:txBody>
      </p:sp>
      <p:pic>
        <p:nvPicPr>
          <p:cNvPr id="1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677995" y="3255883"/>
            <a:ext cx="566976" cy="566976"/>
          </a:xfrm>
          <a:prstGeom prst="rect">
            <a:avLst/>
          </a:prstGeom>
        </p:spPr>
      </p:pic>
      <p:sp>
        <p:nvSpPr>
          <p:cNvPr id="11" name="Text 6"/>
          <p:cNvSpPr/>
          <p:nvPr/>
        </p:nvSpPr>
        <p:spPr>
          <a:xfrm>
            <a:off x="9677995" y="4106347"/>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Bridgestone</a:t>
            </a:r>
            <a:endParaRPr lang="en-US" sz="2200" dirty="0"/>
          </a:p>
        </p:txBody>
      </p:sp>
      <p:sp>
        <p:nvSpPr>
          <p:cNvPr id="12" name="Text 7"/>
          <p:cNvSpPr/>
          <p:nvPr/>
        </p:nvSpPr>
        <p:spPr>
          <a:xfrm>
            <a:off x="9677995" y="4596765"/>
            <a:ext cx="4158615"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LM005</a:t>
            </a:r>
            <a:endParaRPr lang="en-US" sz="175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3790" y="5413296"/>
            <a:ext cx="566976" cy="566976"/>
          </a:xfrm>
          <a:prstGeom prst="rect">
            <a:avLst/>
          </a:prstGeom>
        </p:spPr>
      </p:pic>
      <p:sp>
        <p:nvSpPr>
          <p:cNvPr id="14" name="Text 8"/>
          <p:cNvSpPr/>
          <p:nvPr/>
        </p:nvSpPr>
        <p:spPr>
          <a:xfrm>
            <a:off x="793790" y="6263759"/>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Goodyear</a:t>
            </a:r>
            <a:endParaRPr lang="en-US" sz="2200" dirty="0"/>
          </a:p>
        </p:txBody>
      </p:sp>
      <p:sp>
        <p:nvSpPr>
          <p:cNvPr id="15" name="Text 9"/>
          <p:cNvSpPr/>
          <p:nvPr/>
        </p:nvSpPr>
        <p:spPr>
          <a:xfrm>
            <a:off x="793790" y="6754177"/>
            <a:ext cx="4158615"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UG Performance 3</a:t>
            </a:r>
            <a:endParaRPr lang="en-US" sz="175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235893" y="5413296"/>
            <a:ext cx="566976" cy="566976"/>
          </a:xfrm>
          <a:prstGeom prst="rect">
            <a:avLst/>
          </a:prstGeom>
        </p:spPr>
      </p:pic>
      <p:sp>
        <p:nvSpPr>
          <p:cNvPr id="17" name="Text 10"/>
          <p:cNvSpPr/>
          <p:nvPr/>
        </p:nvSpPr>
        <p:spPr>
          <a:xfrm>
            <a:off x="5235893" y="6263759"/>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Lassa</a:t>
            </a:r>
            <a:endParaRPr lang="en-US" sz="2200" dirty="0"/>
          </a:p>
        </p:txBody>
      </p:sp>
      <p:sp>
        <p:nvSpPr>
          <p:cNvPr id="18" name="Text 11"/>
          <p:cNvSpPr/>
          <p:nvPr/>
        </p:nvSpPr>
        <p:spPr>
          <a:xfrm>
            <a:off x="5235893" y="6754177"/>
            <a:ext cx="4158615"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Snoways 4</a:t>
            </a:r>
            <a:endParaRPr lang="en-US" sz="1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708541"/>
            <a:ext cx="7556421" cy="1417558"/>
          </a:xfrm>
          <a:prstGeom prst="rect">
            <a:avLst/>
          </a:prstGeom>
          <a:noFill/>
          <a:ln/>
        </p:spPr>
        <p:txBody>
          <a:bodyPr wrap="squar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VERİ SETİ VE PUANLAMA KRİTERLERİ</a:t>
            </a:r>
            <a:endParaRPr lang="en-US" sz="4450" dirty="0"/>
          </a:p>
        </p:txBody>
      </p:sp>
      <p:sp>
        <p:nvSpPr>
          <p:cNvPr id="4" name="Text 1"/>
          <p:cNvSpPr/>
          <p:nvPr/>
        </p:nvSpPr>
        <p:spPr>
          <a:xfrm>
            <a:off x="6280190" y="2466261"/>
            <a:ext cx="7556421" cy="1088708"/>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Analizimizde kar lastiklerinin performansını değerlendirmek için iki temel kategori ve alt kriterler belirlenmiştir. Bu kriterler, hem sürüş güvenliğini hem de yolculuk konforunu kapsamaktadır.</a:t>
            </a:r>
            <a:endParaRPr lang="en-US" sz="1750" dirty="0"/>
          </a:p>
        </p:txBody>
      </p:sp>
      <p:sp>
        <p:nvSpPr>
          <p:cNvPr id="5" name="Text 2"/>
          <p:cNvSpPr/>
          <p:nvPr/>
        </p:nvSpPr>
        <p:spPr>
          <a:xfrm>
            <a:off x="6280190" y="4036933"/>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201B18"/>
                </a:solidFill>
                <a:latin typeface="Platypi Medium" pitchFamily="34" charset="0"/>
                <a:ea typeface="Platypi Medium" pitchFamily="34" charset="-122"/>
                <a:cs typeface="Platypi Medium" pitchFamily="34" charset="-120"/>
              </a:rPr>
              <a:t>Güvenlik Puanı</a:t>
            </a:r>
            <a:endParaRPr lang="en-US" sz="2200" dirty="0"/>
          </a:p>
        </p:txBody>
      </p:sp>
      <p:sp>
        <p:nvSpPr>
          <p:cNvPr id="6" name="Text 3"/>
          <p:cNvSpPr/>
          <p:nvPr/>
        </p:nvSpPr>
        <p:spPr>
          <a:xfrm>
            <a:off x="6280190" y="4618077"/>
            <a:ext cx="3501509" cy="1088708"/>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Kış koşullarında kritik öneme sahip fren performansı ve yol tutuş kabiliyeti:</a:t>
            </a:r>
            <a:endParaRPr lang="en-US" sz="1750" dirty="0"/>
          </a:p>
        </p:txBody>
      </p:sp>
      <p:sp>
        <p:nvSpPr>
          <p:cNvPr id="7" name="Text 4"/>
          <p:cNvSpPr/>
          <p:nvPr/>
        </p:nvSpPr>
        <p:spPr>
          <a:xfrm>
            <a:off x="6280190" y="5910858"/>
            <a:ext cx="3501509" cy="725805"/>
          </a:xfrm>
          <a:prstGeom prst="rect">
            <a:avLst/>
          </a:prstGeom>
          <a:noFill/>
          <a:ln/>
        </p:spPr>
        <p:txBody>
          <a:bodyPr wrap="square" lIns="0" tIns="0" rIns="0" bIns="0" rtlCol="0" anchor="t"/>
          <a:lstStyle/>
          <a:p>
            <a:pPr algn="l" marL="342900" indent="-342900">
              <a:lnSpc>
                <a:spcPts val="2850"/>
              </a:lnSpc>
              <a:buSzPct val="100000"/>
              <a:buChar char="•"/>
            </a:pPr>
            <a:r>
              <a:rPr lang="en-US" sz="1750" dirty="0">
                <a:solidFill>
                  <a:srgbClr val="504C49"/>
                </a:solidFill>
                <a:latin typeface="Source Serif 4" pitchFamily="34" charset="0"/>
                <a:ea typeface="Source Serif 4" pitchFamily="34" charset="-122"/>
                <a:cs typeface="Source Serif 4" pitchFamily="34" charset="-120"/>
              </a:rPr>
              <a:t>Islak/Buzlu Zemin Fren Mesafesi</a:t>
            </a:r>
            <a:endParaRPr lang="en-US" sz="1750" dirty="0"/>
          </a:p>
        </p:txBody>
      </p:sp>
      <p:sp>
        <p:nvSpPr>
          <p:cNvPr id="8" name="Text 5"/>
          <p:cNvSpPr/>
          <p:nvPr/>
        </p:nvSpPr>
        <p:spPr>
          <a:xfrm>
            <a:off x="6280190" y="6715958"/>
            <a:ext cx="3501509" cy="362903"/>
          </a:xfrm>
          <a:prstGeom prst="rect">
            <a:avLst/>
          </a:prstGeom>
          <a:noFill/>
          <a:ln/>
        </p:spPr>
        <p:txBody>
          <a:bodyPr wrap="none" lIns="0" tIns="0" rIns="0" bIns="0" rtlCol="0" anchor="t"/>
          <a:lstStyle/>
          <a:p>
            <a:pPr algn="l" marL="342900" indent="-342900">
              <a:lnSpc>
                <a:spcPts val="2850"/>
              </a:lnSpc>
              <a:buSzPct val="100000"/>
              <a:buChar char="•"/>
            </a:pPr>
            <a:r>
              <a:rPr lang="en-US" sz="1750" dirty="0">
                <a:solidFill>
                  <a:srgbClr val="504C49"/>
                </a:solidFill>
                <a:latin typeface="Source Serif 4" pitchFamily="34" charset="0"/>
                <a:ea typeface="Source Serif 4" pitchFamily="34" charset="-122"/>
                <a:cs typeface="Source Serif 4" pitchFamily="34" charset="-120"/>
              </a:rPr>
              <a:t>Aquaplaning Direnci</a:t>
            </a:r>
            <a:endParaRPr lang="en-US" sz="1750" dirty="0"/>
          </a:p>
        </p:txBody>
      </p:sp>
      <p:sp>
        <p:nvSpPr>
          <p:cNvPr id="9" name="Text 6"/>
          <p:cNvSpPr/>
          <p:nvPr/>
        </p:nvSpPr>
        <p:spPr>
          <a:xfrm>
            <a:off x="10342721" y="4036933"/>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201B18"/>
                </a:solidFill>
                <a:latin typeface="Platypi Medium" pitchFamily="34" charset="0"/>
                <a:ea typeface="Platypi Medium" pitchFamily="34" charset="-122"/>
                <a:cs typeface="Platypi Medium" pitchFamily="34" charset="-120"/>
              </a:rPr>
              <a:t>Konfor Puanı</a:t>
            </a:r>
            <a:endParaRPr lang="en-US" sz="2200" dirty="0"/>
          </a:p>
        </p:txBody>
      </p:sp>
      <p:sp>
        <p:nvSpPr>
          <p:cNvPr id="10" name="Text 7"/>
          <p:cNvSpPr/>
          <p:nvPr/>
        </p:nvSpPr>
        <p:spPr>
          <a:xfrm>
            <a:off x="10342721" y="4618077"/>
            <a:ext cx="3501509" cy="1088708"/>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Uzun yolculuklarda sürücü ve yolcu deneyimini doğrudan etkileyen unsurlar:</a:t>
            </a:r>
            <a:endParaRPr lang="en-US" sz="1750" dirty="0"/>
          </a:p>
        </p:txBody>
      </p:sp>
      <p:sp>
        <p:nvSpPr>
          <p:cNvPr id="11" name="Text 8"/>
          <p:cNvSpPr/>
          <p:nvPr/>
        </p:nvSpPr>
        <p:spPr>
          <a:xfrm>
            <a:off x="10342721" y="5910858"/>
            <a:ext cx="3501509" cy="725805"/>
          </a:xfrm>
          <a:prstGeom prst="rect">
            <a:avLst/>
          </a:prstGeom>
          <a:noFill/>
          <a:ln/>
        </p:spPr>
        <p:txBody>
          <a:bodyPr wrap="square" lIns="0" tIns="0" rIns="0" bIns="0" rtlCol="0" anchor="t"/>
          <a:lstStyle/>
          <a:p>
            <a:pPr algn="l" marL="342900" indent="-342900">
              <a:lnSpc>
                <a:spcPts val="2850"/>
              </a:lnSpc>
              <a:buSzPct val="100000"/>
              <a:buChar char="•"/>
            </a:pPr>
            <a:r>
              <a:rPr lang="en-US" sz="1750" dirty="0">
                <a:solidFill>
                  <a:srgbClr val="504C49"/>
                </a:solidFill>
                <a:latin typeface="Source Serif 4" pitchFamily="34" charset="0"/>
                <a:ea typeface="Source Serif 4" pitchFamily="34" charset="-122"/>
                <a:cs typeface="Source Serif 4" pitchFamily="34" charset="-120"/>
              </a:rPr>
              <a:t>Kabin İçi Gürültü Seviyesi (dB)</a:t>
            </a:r>
            <a:endParaRPr lang="en-US" sz="1750" dirty="0"/>
          </a:p>
        </p:txBody>
      </p:sp>
      <p:sp>
        <p:nvSpPr>
          <p:cNvPr id="12" name="Text 9"/>
          <p:cNvSpPr/>
          <p:nvPr/>
        </p:nvSpPr>
        <p:spPr>
          <a:xfrm>
            <a:off x="10342721" y="6715958"/>
            <a:ext cx="3501509" cy="725805"/>
          </a:xfrm>
          <a:prstGeom prst="rect">
            <a:avLst/>
          </a:prstGeom>
          <a:noFill/>
          <a:ln/>
        </p:spPr>
        <p:txBody>
          <a:bodyPr wrap="square" lIns="0" tIns="0" rIns="0" bIns="0" rtlCol="0" anchor="t"/>
          <a:lstStyle/>
          <a:p>
            <a:pPr algn="l" marL="342900" indent="-342900">
              <a:lnSpc>
                <a:spcPts val="2850"/>
              </a:lnSpc>
              <a:buSzPct val="100000"/>
              <a:buChar char="•"/>
            </a:pPr>
            <a:r>
              <a:rPr lang="en-US" sz="1750" dirty="0">
                <a:solidFill>
                  <a:srgbClr val="504C49"/>
                </a:solidFill>
                <a:latin typeface="Source Serif 4" pitchFamily="34" charset="0"/>
                <a:ea typeface="Source Serif 4" pitchFamily="34" charset="-122"/>
                <a:cs typeface="Source Serif 4" pitchFamily="34" charset="-120"/>
              </a:rPr>
              <a:t>Sürüş Yumuşaklığı (Vibrasyon Sönümleme)</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1228249"/>
            <a:ext cx="5670590" cy="708779"/>
          </a:xfrm>
          <a:prstGeom prst="rect">
            <a:avLst/>
          </a:prstGeom>
          <a:noFill/>
          <a:ln/>
        </p:spPr>
        <p:txBody>
          <a:bodyPr wrap="non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GÜVENLİK ANALİZİ</a:t>
            </a:r>
            <a:endParaRPr lang="en-US" sz="4450" dirty="0"/>
          </a:p>
        </p:txBody>
      </p:sp>
      <p:sp>
        <p:nvSpPr>
          <p:cNvPr id="3" name="Text 1"/>
          <p:cNvSpPr/>
          <p:nvPr/>
        </p:nvSpPr>
        <p:spPr>
          <a:xfrm>
            <a:off x="793790" y="2390656"/>
            <a:ext cx="13042821" cy="1088708"/>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Bu bölümde, seçilen lastik markalarının güvenlik performansları, fren mesafesi ve aquaplaning direnci gibi kritik parametreler üzerinden değerlendirilmiştir. En yüksek puanlar, kış koşullarında üstün yol tutuşu ve kontrol sağlayan lastiklere verilmiştir.</a:t>
            </a:r>
            <a:endParaRPr lang="en-US" sz="1750" dirty="0"/>
          </a:p>
        </p:txBody>
      </p:sp>
      <p:sp>
        <p:nvSpPr>
          <p:cNvPr id="4" name="Shape 2"/>
          <p:cNvSpPr/>
          <p:nvPr/>
        </p:nvSpPr>
        <p:spPr>
          <a:xfrm>
            <a:off x="793790" y="3734514"/>
            <a:ext cx="13042821" cy="3266837"/>
          </a:xfrm>
          <a:prstGeom prst="roundRect">
            <a:avLst>
              <a:gd name="adj" fmla="val 1042"/>
            </a:avLst>
          </a:prstGeom>
          <a:noFill/>
          <a:ln w="7620">
            <a:solidFill>
              <a:srgbClr val="000000">
                <a:alpha val="8000"/>
              </a:srgbClr>
            </a:solidFill>
            <a:prstDash val="solid"/>
          </a:ln>
        </p:spPr>
      </p:sp>
      <p:sp>
        <p:nvSpPr>
          <p:cNvPr id="5" name="Shape 3"/>
          <p:cNvSpPr/>
          <p:nvPr/>
        </p:nvSpPr>
        <p:spPr>
          <a:xfrm>
            <a:off x="801410" y="3742134"/>
            <a:ext cx="13027581" cy="650319"/>
          </a:xfrm>
          <a:prstGeom prst="rect">
            <a:avLst/>
          </a:prstGeom>
          <a:solidFill>
            <a:srgbClr val="FFFFFF">
              <a:alpha val="4000"/>
            </a:srgbClr>
          </a:solidFill>
          <a:ln/>
        </p:spPr>
      </p:sp>
      <p:sp>
        <p:nvSpPr>
          <p:cNvPr id="6" name="Text 4"/>
          <p:cNvSpPr/>
          <p:nvPr/>
        </p:nvSpPr>
        <p:spPr>
          <a:xfrm>
            <a:off x="1028224" y="3885843"/>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Michelin Alpin 6</a:t>
            </a:r>
            <a:endParaRPr lang="en-US" sz="1750" dirty="0"/>
          </a:p>
        </p:txBody>
      </p:sp>
      <p:sp>
        <p:nvSpPr>
          <p:cNvPr id="7" name="Text 5"/>
          <p:cNvSpPr/>
          <p:nvPr/>
        </p:nvSpPr>
        <p:spPr>
          <a:xfrm>
            <a:off x="7545824" y="3885843"/>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9.5</a:t>
            </a:r>
            <a:endParaRPr lang="en-US" sz="1750" dirty="0"/>
          </a:p>
        </p:txBody>
      </p:sp>
      <p:sp>
        <p:nvSpPr>
          <p:cNvPr id="8" name="Shape 6"/>
          <p:cNvSpPr/>
          <p:nvPr/>
        </p:nvSpPr>
        <p:spPr>
          <a:xfrm>
            <a:off x="801410" y="4392454"/>
            <a:ext cx="13027581" cy="650319"/>
          </a:xfrm>
          <a:prstGeom prst="rect">
            <a:avLst/>
          </a:prstGeom>
          <a:solidFill>
            <a:srgbClr val="000000">
              <a:alpha val="4000"/>
            </a:srgbClr>
          </a:solidFill>
          <a:ln/>
        </p:spPr>
      </p:sp>
      <p:sp>
        <p:nvSpPr>
          <p:cNvPr id="9" name="Text 7"/>
          <p:cNvSpPr/>
          <p:nvPr/>
        </p:nvSpPr>
        <p:spPr>
          <a:xfrm>
            <a:off x="1028224" y="4536162"/>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Continental TS 870</a:t>
            </a:r>
            <a:endParaRPr lang="en-US" sz="1750" dirty="0"/>
          </a:p>
        </p:txBody>
      </p:sp>
      <p:sp>
        <p:nvSpPr>
          <p:cNvPr id="10" name="Text 8"/>
          <p:cNvSpPr/>
          <p:nvPr/>
        </p:nvSpPr>
        <p:spPr>
          <a:xfrm>
            <a:off x="7545824" y="4536162"/>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9.8</a:t>
            </a:r>
            <a:endParaRPr lang="en-US" sz="1750" dirty="0"/>
          </a:p>
        </p:txBody>
      </p:sp>
      <p:sp>
        <p:nvSpPr>
          <p:cNvPr id="11" name="Shape 9"/>
          <p:cNvSpPr/>
          <p:nvPr/>
        </p:nvSpPr>
        <p:spPr>
          <a:xfrm>
            <a:off x="801410" y="5042773"/>
            <a:ext cx="13027581" cy="650319"/>
          </a:xfrm>
          <a:prstGeom prst="rect">
            <a:avLst/>
          </a:prstGeom>
          <a:solidFill>
            <a:srgbClr val="FFFFFF">
              <a:alpha val="4000"/>
            </a:srgbClr>
          </a:solidFill>
          <a:ln/>
        </p:spPr>
      </p:sp>
      <p:sp>
        <p:nvSpPr>
          <p:cNvPr id="12" name="Text 10"/>
          <p:cNvSpPr/>
          <p:nvPr/>
        </p:nvSpPr>
        <p:spPr>
          <a:xfrm>
            <a:off x="1028224" y="5186482"/>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Bridgestone LM005</a:t>
            </a:r>
            <a:endParaRPr lang="en-US" sz="1750" dirty="0"/>
          </a:p>
        </p:txBody>
      </p:sp>
      <p:sp>
        <p:nvSpPr>
          <p:cNvPr id="13" name="Text 11"/>
          <p:cNvSpPr/>
          <p:nvPr/>
        </p:nvSpPr>
        <p:spPr>
          <a:xfrm>
            <a:off x="7545824" y="5186482"/>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9.6</a:t>
            </a:r>
            <a:endParaRPr lang="en-US" sz="1750" dirty="0"/>
          </a:p>
        </p:txBody>
      </p:sp>
      <p:sp>
        <p:nvSpPr>
          <p:cNvPr id="14" name="Shape 12"/>
          <p:cNvSpPr/>
          <p:nvPr/>
        </p:nvSpPr>
        <p:spPr>
          <a:xfrm>
            <a:off x="801410" y="5693093"/>
            <a:ext cx="13027581" cy="650319"/>
          </a:xfrm>
          <a:prstGeom prst="rect">
            <a:avLst/>
          </a:prstGeom>
          <a:solidFill>
            <a:srgbClr val="000000">
              <a:alpha val="4000"/>
            </a:srgbClr>
          </a:solidFill>
          <a:ln/>
        </p:spPr>
      </p:sp>
      <p:sp>
        <p:nvSpPr>
          <p:cNvPr id="15" name="Text 13"/>
          <p:cNvSpPr/>
          <p:nvPr/>
        </p:nvSpPr>
        <p:spPr>
          <a:xfrm>
            <a:off x="1028224" y="5836801"/>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Goodyear UG Perf. 3</a:t>
            </a:r>
            <a:endParaRPr lang="en-US" sz="1750" dirty="0"/>
          </a:p>
        </p:txBody>
      </p:sp>
      <p:sp>
        <p:nvSpPr>
          <p:cNvPr id="16" name="Text 14"/>
          <p:cNvSpPr/>
          <p:nvPr/>
        </p:nvSpPr>
        <p:spPr>
          <a:xfrm>
            <a:off x="7545824" y="5836801"/>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9.4</a:t>
            </a:r>
            <a:endParaRPr lang="en-US" sz="1750" dirty="0"/>
          </a:p>
        </p:txBody>
      </p:sp>
      <p:sp>
        <p:nvSpPr>
          <p:cNvPr id="17" name="Shape 15"/>
          <p:cNvSpPr/>
          <p:nvPr/>
        </p:nvSpPr>
        <p:spPr>
          <a:xfrm>
            <a:off x="801410" y="6343412"/>
            <a:ext cx="13027581" cy="650319"/>
          </a:xfrm>
          <a:prstGeom prst="rect">
            <a:avLst/>
          </a:prstGeom>
          <a:solidFill>
            <a:srgbClr val="FFFFFF">
              <a:alpha val="4000"/>
            </a:srgbClr>
          </a:solidFill>
          <a:ln/>
        </p:spPr>
      </p:sp>
      <p:sp>
        <p:nvSpPr>
          <p:cNvPr id="18" name="Text 16"/>
          <p:cNvSpPr/>
          <p:nvPr/>
        </p:nvSpPr>
        <p:spPr>
          <a:xfrm>
            <a:off x="1028224" y="6487120"/>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Lassa Snoways 4</a:t>
            </a:r>
            <a:endParaRPr lang="en-US" sz="1750" dirty="0"/>
          </a:p>
        </p:txBody>
      </p:sp>
      <p:sp>
        <p:nvSpPr>
          <p:cNvPr id="19" name="Text 17"/>
          <p:cNvSpPr/>
          <p:nvPr/>
        </p:nvSpPr>
        <p:spPr>
          <a:xfrm>
            <a:off x="7545824" y="6487120"/>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8.5</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1228249"/>
            <a:ext cx="5670590" cy="708779"/>
          </a:xfrm>
          <a:prstGeom prst="rect">
            <a:avLst/>
          </a:prstGeom>
          <a:noFill/>
          <a:ln/>
        </p:spPr>
        <p:txBody>
          <a:bodyPr wrap="non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KONFOR ANALİZİ</a:t>
            </a:r>
            <a:endParaRPr lang="en-US" sz="4450" dirty="0"/>
          </a:p>
        </p:txBody>
      </p:sp>
      <p:sp>
        <p:nvSpPr>
          <p:cNvPr id="3" name="Text 1"/>
          <p:cNvSpPr/>
          <p:nvPr/>
        </p:nvSpPr>
        <p:spPr>
          <a:xfrm>
            <a:off x="793790" y="2390656"/>
            <a:ext cx="13042821" cy="1088708"/>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Konfor, uzun kış yolculuklarında sürücü ve yolcular için büyük önem taşır. Bu analizde, lastiklerin kabin içi gürültü seviyesi ve sürüş yumuşaklığına olan katkıları incelenmiştir. Daha yüksek puanlar, daha sessiz ve titreşimsiz bir sürüş deneyimi sunan lastikleri temsil etmektedir.</a:t>
            </a:r>
            <a:endParaRPr lang="en-US" sz="1750" dirty="0"/>
          </a:p>
        </p:txBody>
      </p:sp>
      <p:sp>
        <p:nvSpPr>
          <p:cNvPr id="4" name="Shape 2"/>
          <p:cNvSpPr/>
          <p:nvPr/>
        </p:nvSpPr>
        <p:spPr>
          <a:xfrm>
            <a:off x="793790" y="3734514"/>
            <a:ext cx="13042821" cy="3266837"/>
          </a:xfrm>
          <a:prstGeom prst="roundRect">
            <a:avLst>
              <a:gd name="adj" fmla="val 1042"/>
            </a:avLst>
          </a:prstGeom>
          <a:noFill/>
          <a:ln w="7620">
            <a:solidFill>
              <a:srgbClr val="000000">
                <a:alpha val="8000"/>
              </a:srgbClr>
            </a:solidFill>
            <a:prstDash val="solid"/>
          </a:ln>
        </p:spPr>
      </p:sp>
      <p:sp>
        <p:nvSpPr>
          <p:cNvPr id="5" name="Shape 3"/>
          <p:cNvSpPr/>
          <p:nvPr/>
        </p:nvSpPr>
        <p:spPr>
          <a:xfrm>
            <a:off x="801410" y="3742134"/>
            <a:ext cx="13027581" cy="650319"/>
          </a:xfrm>
          <a:prstGeom prst="rect">
            <a:avLst/>
          </a:prstGeom>
          <a:solidFill>
            <a:srgbClr val="FFFFFF">
              <a:alpha val="4000"/>
            </a:srgbClr>
          </a:solidFill>
          <a:ln/>
        </p:spPr>
      </p:sp>
      <p:sp>
        <p:nvSpPr>
          <p:cNvPr id="6" name="Text 4"/>
          <p:cNvSpPr/>
          <p:nvPr/>
        </p:nvSpPr>
        <p:spPr>
          <a:xfrm>
            <a:off x="1028224" y="3885843"/>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Michelin Alpin 6</a:t>
            </a:r>
            <a:endParaRPr lang="en-US" sz="1750" dirty="0"/>
          </a:p>
        </p:txBody>
      </p:sp>
      <p:sp>
        <p:nvSpPr>
          <p:cNvPr id="7" name="Text 5"/>
          <p:cNvSpPr/>
          <p:nvPr/>
        </p:nvSpPr>
        <p:spPr>
          <a:xfrm>
            <a:off x="7545824" y="3885843"/>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9.8</a:t>
            </a:r>
            <a:endParaRPr lang="en-US" sz="1750" dirty="0"/>
          </a:p>
        </p:txBody>
      </p:sp>
      <p:sp>
        <p:nvSpPr>
          <p:cNvPr id="8" name="Shape 6"/>
          <p:cNvSpPr/>
          <p:nvPr/>
        </p:nvSpPr>
        <p:spPr>
          <a:xfrm>
            <a:off x="801410" y="4392454"/>
            <a:ext cx="13027581" cy="650319"/>
          </a:xfrm>
          <a:prstGeom prst="rect">
            <a:avLst/>
          </a:prstGeom>
          <a:solidFill>
            <a:srgbClr val="000000">
              <a:alpha val="4000"/>
            </a:srgbClr>
          </a:solidFill>
          <a:ln/>
        </p:spPr>
      </p:sp>
      <p:sp>
        <p:nvSpPr>
          <p:cNvPr id="9" name="Text 7"/>
          <p:cNvSpPr/>
          <p:nvPr/>
        </p:nvSpPr>
        <p:spPr>
          <a:xfrm>
            <a:off x="1028224" y="4536162"/>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Continental TS 870</a:t>
            </a:r>
            <a:endParaRPr lang="en-US" sz="1750" dirty="0"/>
          </a:p>
        </p:txBody>
      </p:sp>
      <p:sp>
        <p:nvSpPr>
          <p:cNvPr id="10" name="Text 8"/>
          <p:cNvSpPr/>
          <p:nvPr/>
        </p:nvSpPr>
        <p:spPr>
          <a:xfrm>
            <a:off x="7545824" y="4536162"/>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9.2</a:t>
            </a:r>
            <a:endParaRPr lang="en-US" sz="1750" dirty="0"/>
          </a:p>
        </p:txBody>
      </p:sp>
      <p:sp>
        <p:nvSpPr>
          <p:cNvPr id="11" name="Shape 9"/>
          <p:cNvSpPr/>
          <p:nvPr/>
        </p:nvSpPr>
        <p:spPr>
          <a:xfrm>
            <a:off x="801410" y="5042773"/>
            <a:ext cx="13027581" cy="650319"/>
          </a:xfrm>
          <a:prstGeom prst="rect">
            <a:avLst/>
          </a:prstGeom>
          <a:solidFill>
            <a:srgbClr val="FFFFFF">
              <a:alpha val="4000"/>
            </a:srgbClr>
          </a:solidFill>
          <a:ln/>
        </p:spPr>
      </p:sp>
      <p:sp>
        <p:nvSpPr>
          <p:cNvPr id="12" name="Text 10"/>
          <p:cNvSpPr/>
          <p:nvPr/>
        </p:nvSpPr>
        <p:spPr>
          <a:xfrm>
            <a:off x="1028224" y="5186482"/>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Bridgestone LM005</a:t>
            </a:r>
            <a:endParaRPr lang="en-US" sz="1750" dirty="0"/>
          </a:p>
        </p:txBody>
      </p:sp>
      <p:sp>
        <p:nvSpPr>
          <p:cNvPr id="13" name="Text 11"/>
          <p:cNvSpPr/>
          <p:nvPr/>
        </p:nvSpPr>
        <p:spPr>
          <a:xfrm>
            <a:off x="7545824" y="5186482"/>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9.0</a:t>
            </a:r>
            <a:endParaRPr lang="en-US" sz="1750" dirty="0"/>
          </a:p>
        </p:txBody>
      </p:sp>
      <p:sp>
        <p:nvSpPr>
          <p:cNvPr id="14" name="Shape 12"/>
          <p:cNvSpPr/>
          <p:nvPr/>
        </p:nvSpPr>
        <p:spPr>
          <a:xfrm>
            <a:off x="801410" y="5693093"/>
            <a:ext cx="13027581" cy="650319"/>
          </a:xfrm>
          <a:prstGeom prst="rect">
            <a:avLst/>
          </a:prstGeom>
          <a:solidFill>
            <a:srgbClr val="000000">
              <a:alpha val="4000"/>
            </a:srgbClr>
          </a:solidFill>
          <a:ln/>
        </p:spPr>
      </p:sp>
      <p:sp>
        <p:nvSpPr>
          <p:cNvPr id="15" name="Text 13"/>
          <p:cNvSpPr/>
          <p:nvPr/>
        </p:nvSpPr>
        <p:spPr>
          <a:xfrm>
            <a:off x="1028224" y="5836801"/>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Goodyear UG Perf. 3</a:t>
            </a:r>
            <a:endParaRPr lang="en-US" sz="1750" dirty="0"/>
          </a:p>
        </p:txBody>
      </p:sp>
      <p:sp>
        <p:nvSpPr>
          <p:cNvPr id="16" name="Text 14"/>
          <p:cNvSpPr/>
          <p:nvPr/>
        </p:nvSpPr>
        <p:spPr>
          <a:xfrm>
            <a:off x="7545824" y="5836801"/>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9.3</a:t>
            </a:r>
            <a:endParaRPr lang="en-US" sz="1750" dirty="0"/>
          </a:p>
        </p:txBody>
      </p:sp>
      <p:sp>
        <p:nvSpPr>
          <p:cNvPr id="17" name="Shape 15"/>
          <p:cNvSpPr/>
          <p:nvPr/>
        </p:nvSpPr>
        <p:spPr>
          <a:xfrm>
            <a:off x="801410" y="6343412"/>
            <a:ext cx="13027581" cy="650319"/>
          </a:xfrm>
          <a:prstGeom prst="rect">
            <a:avLst/>
          </a:prstGeom>
          <a:solidFill>
            <a:srgbClr val="FFFFFF">
              <a:alpha val="4000"/>
            </a:srgbClr>
          </a:solidFill>
          <a:ln/>
        </p:spPr>
      </p:sp>
      <p:sp>
        <p:nvSpPr>
          <p:cNvPr id="18" name="Text 16"/>
          <p:cNvSpPr/>
          <p:nvPr/>
        </p:nvSpPr>
        <p:spPr>
          <a:xfrm>
            <a:off x="1028224" y="6487120"/>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Lassa Snoways 4</a:t>
            </a:r>
            <a:endParaRPr lang="en-US" sz="1750" dirty="0"/>
          </a:p>
        </p:txBody>
      </p:sp>
      <p:sp>
        <p:nvSpPr>
          <p:cNvPr id="19" name="Text 17"/>
          <p:cNvSpPr/>
          <p:nvPr/>
        </p:nvSpPr>
        <p:spPr>
          <a:xfrm>
            <a:off x="7545824" y="6487120"/>
            <a:ext cx="6056352"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8.2</a:t>
            </a:r>
            <a:endParaRPr lang="en-US" sz="1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6138" y="421243"/>
            <a:ext cx="5639514" cy="478750"/>
          </a:xfrm>
          <a:prstGeom prst="rect">
            <a:avLst/>
          </a:prstGeom>
          <a:noFill/>
          <a:ln/>
        </p:spPr>
        <p:txBody>
          <a:bodyPr wrap="none" lIns="0" tIns="0" rIns="0" bIns="0" rtlCol="0" anchor="t"/>
          <a:lstStyle/>
          <a:p>
            <a:pPr algn="l" indent="0" marL="0">
              <a:lnSpc>
                <a:spcPts val="3750"/>
              </a:lnSpc>
              <a:buNone/>
            </a:pPr>
            <a:r>
              <a:rPr lang="en-US" sz="3000" dirty="0">
                <a:solidFill>
                  <a:srgbClr val="201B18"/>
                </a:solidFill>
                <a:latin typeface="Platypi Medium" pitchFamily="34" charset="0"/>
                <a:ea typeface="Platypi Medium" pitchFamily="34" charset="-122"/>
                <a:cs typeface="Platypi Medium" pitchFamily="34" charset="-120"/>
              </a:rPr>
              <a:t>MARKA KIYASLAMA GRAFİĞİ</a:t>
            </a:r>
            <a:endParaRPr lang="en-US" sz="3000" dirty="0"/>
          </a:p>
        </p:txBody>
      </p:sp>
      <p:sp>
        <p:nvSpPr>
          <p:cNvPr id="3" name="Text 1"/>
          <p:cNvSpPr/>
          <p:nvPr/>
        </p:nvSpPr>
        <p:spPr>
          <a:xfrm>
            <a:off x="536138" y="1206341"/>
            <a:ext cx="13558123" cy="490299"/>
          </a:xfrm>
          <a:prstGeom prst="rect">
            <a:avLst/>
          </a:prstGeom>
          <a:noFill/>
          <a:ln/>
        </p:spPr>
        <p:txBody>
          <a:bodyPr wrap="square" lIns="0" tIns="0" rIns="0" bIns="0" rtlCol="0" anchor="t"/>
          <a:lstStyle/>
          <a:p>
            <a:pPr algn="l" indent="0" marL="0">
              <a:lnSpc>
                <a:spcPts val="1900"/>
              </a:lnSpc>
              <a:buNone/>
            </a:pPr>
            <a:r>
              <a:rPr lang="en-US" sz="1200" dirty="0">
                <a:solidFill>
                  <a:srgbClr val="504C49"/>
                </a:solidFill>
                <a:latin typeface="Source Serif 4" pitchFamily="34" charset="0"/>
                <a:ea typeface="Source Serif 4" pitchFamily="34" charset="-122"/>
                <a:cs typeface="Source Serif 4" pitchFamily="34" charset="-120"/>
              </a:rPr>
              <a:t>Aşağıdaki grafik, incelenen beş kar lastiği markasının güvenlik ve konfor puanlarını karşılaştırmalı olarak sunmaktadır. Bu görselleştirme, her bir lastiğin güçlü yönlerini ve potansiyel gelişim alanlarını net bir şekilde ortaya koymaktadır.</a:t>
            </a:r>
            <a:endParaRPr lang="en-US" sz="1200" dirty="0"/>
          </a:p>
        </p:txBody>
      </p:sp>
      <p:pic>
        <p:nvPicPr>
          <p:cNvPr id="4" name="Image 0" descr="preencoded.png">    </p:cNvPr>
          <p:cNvPicPr>
            <a:picLocks noChangeAspect="1"/>
          </p:cNvPicPr>
          <p:nvPr/>
        </p:nvPicPr>
        <p:blipFill>
          <a:blip r:embed="rId1"/>
          <a:stretch>
            <a:fillRect/>
          </a:stretch>
        </p:blipFill>
        <p:spPr>
          <a:xfrm>
            <a:off x="536138" y="1868924"/>
            <a:ext cx="13558123" cy="7132796"/>
          </a:xfrm>
          <a:prstGeom prst="rect">
            <a:avLst/>
          </a:prstGeom>
        </p:spPr>
      </p:pic>
      <p:sp>
        <p:nvSpPr>
          <p:cNvPr id="5" name="Shape 2"/>
          <p:cNvSpPr/>
          <p:nvPr/>
        </p:nvSpPr>
        <p:spPr>
          <a:xfrm>
            <a:off x="5905619" y="9001720"/>
            <a:ext cx="153114" cy="153114"/>
          </a:xfrm>
          <a:prstGeom prst="roundRect">
            <a:avLst>
              <a:gd name="adj" fmla="val 11944"/>
            </a:avLst>
          </a:prstGeom>
          <a:solidFill>
            <a:srgbClr val="3B2312"/>
          </a:solidFill>
          <a:ln/>
        </p:spPr>
      </p:sp>
      <p:sp>
        <p:nvSpPr>
          <p:cNvPr id="6" name="Text 3"/>
          <p:cNvSpPr/>
          <p:nvPr/>
        </p:nvSpPr>
        <p:spPr>
          <a:xfrm>
            <a:off x="6119693" y="9001720"/>
            <a:ext cx="1119307" cy="153233"/>
          </a:xfrm>
          <a:prstGeom prst="rect">
            <a:avLst/>
          </a:prstGeom>
          <a:noFill/>
          <a:ln/>
        </p:spPr>
        <p:txBody>
          <a:bodyPr wrap="none" lIns="0" tIns="0" rIns="0" bIns="0" rtlCol="0" anchor="t"/>
          <a:lstStyle/>
          <a:p>
            <a:pPr algn="l" indent="0" marL="0">
              <a:lnSpc>
                <a:spcPts val="1200"/>
              </a:lnSpc>
              <a:buNone/>
            </a:pPr>
            <a:r>
              <a:rPr lang="en-US" sz="1200" dirty="0">
                <a:solidFill>
                  <a:srgbClr val="504C49"/>
                </a:solidFill>
                <a:latin typeface="Source Serif 4" pitchFamily="34" charset="0"/>
                <a:ea typeface="Source Serif 4" pitchFamily="34" charset="-122"/>
                <a:cs typeface="Source Serif 4" pitchFamily="34" charset="-120"/>
              </a:rPr>
              <a:t>Güvenlik Puanı</a:t>
            </a:r>
            <a:endParaRPr lang="en-US" sz="1200" dirty="0"/>
          </a:p>
        </p:txBody>
      </p:sp>
      <p:sp>
        <p:nvSpPr>
          <p:cNvPr id="7" name="Shape 4"/>
          <p:cNvSpPr/>
          <p:nvPr/>
        </p:nvSpPr>
        <p:spPr>
          <a:xfrm>
            <a:off x="7391400" y="9001720"/>
            <a:ext cx="153114" cy="153114"/>
          </a:xfrm>
          <a:prstGeom prst="roundRect">
            <a:avLst>
              <a:gd name="adj" fmla="val 11944"/>
            </a:avLst>
          </a:prstGeom>
          <a:solidFill>
            <a:srgbClr val="8B532A"/>
          </a:solidFill>
          <a:ln/>
        </p:spPr>
      </p:sp>
      <p:sp>
        <p:nvSpPr>
          <p:cNvPr id="8" name="Text 5"/>
          <p:cNvSpPr/>
          <p:nvPr/>
        </p:nvSpPr>
        <p:spPr>
          <a:xfrm>
            <a:off x="7605474" y="9001720"/>
            <a:ext cx="964883" cy="153233"/>
          </a:xfrm>
          <a:prstGeom prst="rect">
            <a:avLst/>
          </a:prstGeom>
          <a:noFill/>
          <a:ln/>
        </p:spPr>
        <p:txBody>
          <a:bodyPr wrap="none" lIns="0" tIns="0" rIns="0" bIns="0" rtlCol="0" anchor="t"/>
          <a:lstStyle/>
          <a:p>
            <a:pPr algn="l" indent="0" marL="0">
              <a:lnSpc>
                <a:spcPts val="1200"/>
              </a:lnSpc>
              <a:buNone/>
            </a:pPr>
            <a:r>
              <a:rPr lang="en-US" sz="1200" dirty="0">
                <a:solidFill>
                  <a:srgbClr val="504C49"/>
                </a:solidFill>
                <a:latin typeface="Source Serif 4" pitchFamily="34" charset="0"/>
                <a:ea typeface="Source Serif 4" pitchFamily="34" charset="-122"/>
                <a:cs typeface="Source Serif 4" pitchFamily="34" charset="-120"/>
              </a:rPr>
              <a:t>Konfor Puanı</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1034534"/>
            <a:ext cx="7177921" cy="708779"/>
          </a:xfrm>
          <a:prstGeom prst="rect">
            <a:avLst/>
          </a:prstGeom>
          <a:noFill/>
          <a:ln/>
        </p:spPr>
        <p:txBody>
          <a:bodyPr wrap="non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ÖNE ÇIKAN BULGULAR - I</a:t>
            </a:r>
            <a:endParaRPr lang="en-US" sz="4450" dirty="0"/>
          </a:p>
        </p:txBody>
      </p:sp>
      <p:sp>
        <p:nvSpPr>
          <p:cNvPr id="4" name="Text 1"/>
          <p:cNvSpPr/>
          <p:nvPr/>
        </p:nvSpPr>
        <p:spPr>
          <a:xfrm>
            <a:off x="6280190" y="2083475"/>
            <a:ext cx="7556421" cy="1451610"/>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Detaylı analizler sonucunda, her markanın kendine özgü güçlü yönleri olduğu gözlemlenmiştir. Bu bulgular, filo yöneticilerine ve bireysel kullanıcılara lastik seçiminde önemli bir rehber sunmaktadır.</a:t>
            </a:r>
            <a:endParaRPr lang="en-US" sz="1750" dirty="0"/>
          </a:p>
        </p:txBody>
      </p:sp>
      <p:sp>
        <p:nvSpPr>
          <p:cNvPr id="5" name="Shape 2"/>
          <p:cNvSpPr/>
          <p:nvPr/>
        </p:nvSpPr>
        <p:spPr>
          <a:xfrm>
            <a:off x="6280190" y="3790236"/>
            <a:ext cx="510302" cy="510302"/>
          </a:xfrm>
          <a:prstGeom prst="roundRect">
            <a:avLst>
              <a:gd name="adj" fmla="val 6667"/>
            </a:avLst>
          </a:prstGeom>
          <a:solidFill>
            <a:srgbClr val="F9F7F7"/>
          </a:solidFill>
          <a:ln/>
        </p:spPr>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365260" y="3875246"/>
            <a:ext cx="340162" cy="340162"/>
          </a:xfrm>
          <a:prstGeom prst="rect">
            <a:avLst/>
          </a:prstGeom>
        </p:spPr>
      </p:pic>
      <p:sp>
        <p:nvSpPr>
          <p:cNvPr id="7" name="Text 3"/>
          <p:cNvSpPr/>
          <p:nvPr/>
        </p:nvSpPr>
        <p:spPr>
          <a:xfrm>
            <a:off x="7017306" y="3868103"/>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Continental TS 870</a:t>
            </a:r>
            <a:endParaRPr lang="en-US" sz="2200" dirty="0"/>
          </a:p>
        </p:txBody>
      </p:sp>
      <p:sp>
        <p:nvSpPr>
          <p:cNvPr id="8" name="Text 4"/>
          <p:cNvSpPr/>
          <p:nvPr/>
        </p:nvSpPr>
        <p:spPr>
          <a:xfrm>
            <a:off x="7017306" y="4358521"/>
            <a:ext cx="6819305" cy="1088708"/>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Kısa fren mesafesi ile </a:t>
            </a:r>
            <a:pPr algn="l" indent="0" marL="0">
              <a:lnSpc>
                <a:spcPts val="2850"/>
              </a:lnSpc>
              <a:buNone/>
            </a:pPr>
            <a:r>
              <a:rPr lang="en-US" sz="1750" dirty="0">
                <a:solidFill>
                  <a:srgbClr val="3E2513"/>
                </a:solidFill>
                <a:latin typeface="Source Serif 4" pitchFamily="34" charset="0"/>
                <a:ea typeface="Source Serif 4" pitchFamily="34" charset="-122"/>
                <a:cs typeface="Source Serif 4" pitchFamily="34" charset="-120"/>
              </a:rPr>
              <a:t>güvenlik kategorisinde zirvede</a:t>
            </a:r>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 yer almaktadır. Özellikle buzlu ve ıslak zeminlerdeki üstün performansı dikkat çekicidir.</a:t>
            </a:r>
            <a:endParaRPr lang="en-US" sz="1750" dirty="0"/>
          </a:p>
        </p:txBody>
      </p:sp>
      <p:sp>
        <p:nvSpPr>
          <p:cNvPr id="9" name="Shape 5"/>
          <p:cNvSpPr/>
          <p:nvPr/>
        </p:nvSpPr>
        <p:spPr>
          <a:xfrm>
            <a:off x="6280190" y="5900857"/>
            <a:ext cx="510302" cy="510302"/>
          </a:xfrm>
          <a:prstGeom prst="roundRect">
            <a:avLst>
              <a:gd name="adj" fmla="val 6667"/>
            </a:avLst>
          </a:prstGeom>
          <a:solidFill>
            <a:srgbClr val="F9F7F7"/>
          </a:solidFill>
          <a:ln/>
        </p:spPr>
      </p:sp>
      <p:pic>
        <p:nvPicPr>
          <p:cNvPr id="10"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365260" y="5985867"/>
            <a:ext cx="340162" cy="340162"/>
          </a:xfrm>
          <a:prstGeom prst="rect">
            <a:avLst/>
          </a:prstGeom>
        </p:spPr>
      </p:pic>
      <p:sp>
        <p:nvSpPr>
          <p:cNvPr id="11" name="Text 6"/>
          <p:cNvSpPr/>
          <p:nvPr/>
        </p:nvSpPr>
        <p:spPr>
          <a:xfrm>
            <a:off x="7017306" y="5978723"/>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Michelin Alpin 6</a:t>
            </a:r>
            <a:endParaRPr lang="en-US" sz="2200" dirty="0"/>
          </a:p>
        </p:txBody>
      </p:sp>
      <p:sp>
        <p:nvSpPr>
          <p:cNvPr id="12" name="Text 7"/>
          <p:cNvSpPr/>
          <p:nvPr/>
        </p:nvSpPr>
        <p:spPr>
          <a:xfrm>
            <a:off x="7017306" y="6469142"/>
            <a:ext cx="6819305" cy="725805"/>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Düşük desibel değeri ile uzun yolculuklarda </a:t>
            </a:r>
            <a:pPr algn="l" indent="0" marL="0">
              <a:lnSpc>
                <a:spcPts val="2850"/>
              </a:lnSpc>
              <a:buNone/>
            </a:pPr>
            <a:r>
              <a:rPr lang="en-US" sz="1750" dirty="0">
                <a:solidFill>
                  <a:srgbClr val="3E2513"/>
                </a:solidFill>
                <a:latin typeface="Source Serif 4" pitchFamily="34" charset="0"/>
                <a:ea typeface="Source Serif 4" pitchFamily="34" charset="-122"/>
                <a:cs typeface="Source Serif 4" pitchFamily="34" charset="-120"/>
              </a:rPr>
              <a:t>en yüksek konfor puanını</a:t>
            </a:r>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 almıştır. Sessiz ve akıcı sürüş deneyimi sunar.</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711279"/>
            <a:ext cx="7373541" cy="708779"/>
          </a:xfrm>
          <a:prstGeom prst="rect">
            <a:avLst/>
          </a:prstGeom>
          <a:noFill/>
          <a:ln/>
        </p:spPr>
        <p:txBody>
          <a:bodyPr wrap="non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ÖNE ÇIKAN BULGULAR - II</a:t>
            </a:r>
            <a:endParaRPr lang="en-US" sz="4450" dirty="0"/>
          </a:p>
        </p:txBody>
      </p:sp>
      <p:sp>
        <p:nvSpPr>
          <p:cNvPr id="4" name="Text 1"/>
          <p:cNvSpPr/>
          <p:nvPr/>
        </p:nvSpPr>
        <p:spPr>
          <a:xfrm>
            <a:off x="6280190" y="1760220"/>
            <a:ext cx="7556421" cy="1451610"/>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Piyasadaki çeşitliliğin avantajını kullanarak, farklı ihtiyaçlara yönelik lastiklerin performans karakteristiklerini daha derinlemesine inceledik. Her lastiğin, belirli koşullar ve bütçeler için ideal olabileceği görülmüştür.</a:t>
            </a:r>
            <a:endParaRPr lang="en-US" sz="1750" dirty="0"/>
          </a:p>
        </p:txBody>
      </p:sp>
      <p:sp>
        <p:nvSpPr>
          <p:cNvPr id="5" name="Shape 2"/>
          <p:cNvSpPr/>
          <p:nvPr/>
        </p:nvSpPr>
        <p:spPr>
          <a:xfrm>
            <a:off x="6280190" y="3466981"/>
            <a:ext cx="7556421" cy="2093714"/>
          </a:xfrm>
          <a:prstGeom prst="roundRect">
            <a:avLst>
              <a:gd name="adj" fmla="val 6988"/>
            </a:avLst>
          </a:prstGeom>
          <a:solidFill>
            <a:srgbClr val="FFFFFF"/>
          </a:solidFill>
          <a:ln w="30480">
            <a:solidFill>
              <a:srgbClr val="D8D4D4"/>
            </a:solidFill>
            <a:prstDash val="solid"/>
          </a:ln>
        </p:spPr>
      </p:sp>
      <p:sp>
        <p:nvSpPr>
          <p:cNvPr id="6" name="Shape 3"/>
          <p:cNvSpPr/>
          <p:nvPr/>
        </p:nvSpPr>
        <p:spPr>
          <a:xfrm>
            <a:off x="6249710" y="3466981"/>
            <a:ext cx="121920" cy="2093714"/>
          </a:xfrm>
          <a:prstGeom prst="roundRect">
            <a:avLst>
              <a:gd name="adj" fmla="val 27907"/>
            </a:avLst>
          </a:prstGeom>
          <a:solidFill>
            <a:srgbClr val="3E2513"/>
          </a:solidFill>
          <a:ln/>
        </p:spPr>
      </p:sp>
      <p:sp>
        <p:nvSpPr>
          <p:cNvPr id="7" name="Text 4"/>
          <p:cNvSpPr/>
          <p:nvPr/>
        </p:nvSpPr>
        <p:spPr>
          <a:xfrm>
            <a:off x="6628924" y="3724275"/>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Bridgestone LM005</a:t>
            </a:r>
            <a:endParaRPr lang="en-US" sz="2200" dirty="0"/>
          </a:p>
        </p:txBody>
      </p:sp>
      <p:sp>
        <p:nvSpPr>
          <p:cNvPr id="8" name="Text 5"/>
          <p:cNvSpPr/>
          <p:nvPr/>
        </p:nvSpPr>
        <p:spPr>
          <a:xfrm>
            <a:off x="6628924" y="4214693"/>
            <a:ext cx="6950393" cy="1088708"/>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Islak zeminlerde gösterdiği </a:t>
            </a:r>
            <a:pPr algn="l" indent="0" marL="0">
              <a:lnSpc>
                <a:spcPts val="2850"/>
              </a:lnSpc>
              <a:buNone/>
            </a:pPr>
            <a:r>
              <a:rPr lang="en-US" sz="1750" dirty="0">
                <a:solidFill>
                  <a:srgbClr val="3E2513"/>
                </a:solidFill>
                <a:latin typeface="Source Serif 4" pitchFamily="34" charset="0"/>
                <a:ea typeface="Source Serif 4" pitchFamily="34" charset="-122"/>
                <a:cs typeface="Source Serif 4" pitchFamily="34" charset="-120"/>
              </a:rPr>
              <a:t>en güvenli tepkilerle</a:t>
            </a:r>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 öne çıkmaktadır. Yağmurlu ve sulu kar koşullarında üstün performans sergiler.</a:t>
            </a:r>
            <a:endParaRPr lang="en-US" sz="1750" dirty="0"/>
          </a:p>
        </p:txBody>
      </p:sp>
      <p:sp>
        <p:nvSpPr>
          <p:cNvPr id="9" name="Shape 6"/>
          <p:cNvSpPr/>
          <p:nvPr/>
        </p:nvSpPr>
        <p:spPr>
          <a:xfrm>
            <a:off x="6280190" y="5787509"/>
            <a:ext cx="7556421" cy="1730812"/>
          </a:xfrm>
          <a:prstGeom prst="roundRect">
            <a:avLst>
              <a:gd name="adj" fmla="val 8453"/>
            </a:avLst>
          </a:prstGeom>
          <a:solidFill>
            <a:srgbClr val="FFFFFF"/>
          </a:solidFill>
          <a:ln w="30480">
            <a:solidFill>
              <a:srgbClr val="D8D4D4"/>
            </a:solidFill>
            <a:prstDash val="solid"/>
          </a:ln>
        </p:spPr>
      </p:sp>
      <p:sp>
        <p:nvSpPr>
          <p:cNvPr id="10" name="Shape 7"/>
          <p:cNvSpPr/>
          <p:nvPr/>
        </p:nvSpPr>
        <p:spPr>
          <a:xfrm>
            <a:off x="6249710" y="5787509"/>
            <a:ext cx="121920" cy="1730812"/>
          </a:xfrm>
          <a:prstGeom prst="roundRect">
            <a:avLst>
              <a:gd name="adj" fmla="val 27907"/>
            </a:avLst>
          </a:prstGeom>
          <a:solidFill>
            <a:srgbClr val="3E2513"/>
          </a:solidFill>
          <a:ln/>
        </p:spPr>
      </p:sp>
      <p:sp>
        <p:nvSpPr>
          <p:cNvPr id="11" name="Text 8"/>
          <p:cNvSpPr/>
          <p:nvPr/>
        </p:nvSpPr>
        <p:spPr>
          <a:xfrm>
            <a:off x="6628924" y="6044803"/>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Lassa Snoways 4</a:t>
            </a:r>
            <a:endParaRPr lang="en-US" sz="2200" dirty="0"/>
          </a:p>
        </p:txBody>
      </p:sp>
      <p:sp>
        <p:nvSpPr>
          <p:cNvPr id="12" name="Text 9"/>
          <p:cNvSpPr/>
          <p:nvPr/>
        </p:nvSpPr>
        <p:spPr>
          <a:xfrm>
            <a:off x="6628924" y="6535222"/>
            <a:ext cx="6950393" cy="725805"/>
          </a:xfrm>
          <a:prstGeom prst="rect">
            <a:avLst/>
          </a:prstGeom>
          <a:noFill/>
          <a:ln/>
        </p:spPr>
        <p:txBody>
          <a:bodyPr wrap="squar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Ekonomik segmentte, </a:t>
            </a:r>
            <a:pPr algn="l" indent="0" marL="0">
              <a:lnSpc>
                <a:spcPts val="2850"/>
              </a:lnSpc>
              <a:buNone/>
            </a:pPr>
            <a:r>
              <a:rPr lang="en-US" sz="1750" dirty="0">
                <a:solidFill>
                  <a:srgbClr val="3E2513"/>
                </a:solidFill>
                <a:latin typeface="Source Serif 4" pitchFamily="34" charset="0"/>
                <a:ea typeface="Source Serif 4" pitchFamily="34" charset="-122"/>
                <a:cs typeface="Source Serif 4" pitchFamily="34" charset="-120"/>
              </a:rPr>
              <a:t>kabul edilebilir bir güvenlik-konfor dengesi</a:t>
            </a:r>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 sunarak bütçe dostu bir alternatif oluşturur.</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46495" y="770811"/>
            <a:ext cx="5429369" cy="678656"/>
          </a:xfrm>
          <a:prstGeom prst="rect">
            <a:avLst/>
          </a:prstGeom>
          <a:noFill/>
          <a:ln/>
        </p:spPr>
        <p:txBody>
          <a:bodyPr wrap="none" lIns="0" tIns="0" rIns="0" bIns="0" rtlCol="0" anchor="t"/>
          <a:lstStyle/>
          <a:p>
            <a:pPr algn="l" indent="0" marL="0">
              <a:lnSpc>
                <a:spcPts val="5300"/>
              </a:lnSpc>
              <a:buNone/>
            </a:pPr>
            <a:r>
              <a:rPr lang="en-US" sz="4250" dirty="0">
                <a:solidFill>
                  <a:srgbClr val="201B18"/>
                </a:solidFill>
                <a:latin typeface="Platypi Medium" pitchFamily="34" charset="0"/>
                <a:ea typeface="Platypi Medium" pitchFamily="34" charset="-122"/>
                <a:cs typeface="Platypi Medium" pitchFamily="34" charset="-120"/>
              </a:rPr>
              <a:t>KAYNAKÇA</a:t>
            </a:r>
            <a:endParaRPr lang="en-US" sz="4250" dirty="0"/>
          </a:p>
        </p:txBody>
      </p:sp>
      <p:sp>
        <p:nvSpPr>
          <p:cNvPr id="4" name="Text 1"/>
          <p:cNvSpPr/>
          <p:nvPr/>
        </p:nvSpPr>
        <p:spPr>
          <a:xfrm>
            <a:off x="6246495" y="1775222"/>
            <a:ext cx="7623810" cy="1389698"/>
          </a:xfrm>
          <a:prstGeom prst="rect">
            <a:avLst/>
          </a:prstGeom>
          <a:noFill/>
          <a:ln/>
        </p:spPr>
        <p:txBody>
          <a:bodyPr wrap="square" lIns="0" tIns="0" rIns="0" bIns="0" rtlCol="0" anchor="t"/>
          <a:lstStyle/>
          <a:p>
            <a:pPr algn="l" indent="0" marL="0">
              <a:lnSpc>
                <a:spcPts val="2700"/>
              </a:lnSpc>
              <a:buNone/>
            </a:pPr>
            <a:r>
              <a:rPr lang="en-US" sz="1700" dirty="0">
                <a:solidFill>
                  <a:srgbClr val="504C49"/>
                </a:solidFill>
                <a:latin typeface="Source Serif 4" pitchFamily="34" charset="0"/>
                <a:ea typeface="Source Serif 4" pitchFamily="34" charset="-122"/>
                <a:cs typeface="Source Serif 4" pitchFamily="34" charset="-120"/>
              </a:rPr>
              <a:t>Bu sunumda yer alan veriler ve analizler, sektörün önde gelen kuruluşları ve bağımsız test laboratuvarları tarafından yayımlanan güncel raporlardan derlenmiştir. Doğru ve güvenilir bilgi sağlamak adına titizlikle incelenmiş kaynaklar kullanılmıştır.</a:t>
            </a:r>
            <a:endParaRPr lang="en-US" sz="1700" dirty="0"/>
          </a:p>
        </p:txBody>
      </p:sp>
      <p:sp>
        <p:nvSpPr>
          <p:cNvPr id="5" name="Text 2"/>
          <p:cNvSpPr/>
          <p:nvPr/>
        </p:nvSpPr>
        <p:spPr>
          <a:xfrm>
            <a:off x="6246495" y="3409236"/>
            <a:ext cx="7623810" cy="1042273"/>
          </a:xfrm>
          <a:prstGeom prst="rect">
            <a:avLst/>
          </a:prstGeom>
          <a:noFill/>
          <a:ln/>
        </p:spPr>
        <p:txBody>
          <a:bodyPr wrap="square" lIns="0" tIns="0" rIns="0" bIns="0" rtlCol="0" anchor="t"/>
          <a:lstStyle/>
          <a:p>
            <a:pPr algn="l" marL="342900" indent="-342900">
              <a:lnSpc>
                <a:spcPts val="2700"/>
              </a:lnSpc>
              <a:buSzPct val="100000"/>
              <a:buChar char="•"/>
            </a:pPr>
            <a:r>
              <a:rPr lang="en-US" sz="1700" b="1" dirty="0">
                <a:solidFill>
                  <a:srgbClr val="504C49"/>
                </a:solidFill>
                <a:latin typeface="Source Serif 4" pitchFamily="34" charset="0"/>
                <a:ea typeface="Source Serif 4" pitchFamily="34" charset="-122"/>
                <a:cs typeface="Source Serif 4" pitchFamily="34" charset="-120"/>
              </a:rPr>
              <a:t>ADAC Winter Tyre Test Results (2024-2025):</a:t>
            </a:r>
            <a:pPr algn="l" indent="0" marL="0">
              <a:lnSpc>
                <a:spcPts val="2700"/>
              </a:lnSpc>
              <a:buNone/>
            </a:pPr>
            <a:r>
              <a:rPr lang="en-US" sz="1700" dirty="0">
                <a:solidFill>
                  <a:srgbClr val="504C49"/>
                </a:solidFill>
                <a:latin typeface="Source Serif 4" pitchFamily="34" charset="0"/>
                <a:ea typeface="Source Serif 4" pitchFamily="34" charset="-122"/>
                <a:cs typeface="Source Serif 4" pitchFamily="34" charset="-120"/>
              </a:rPr>
              <a:t> Avrupa'nın en saygın otomobil kulüplerinden biri olan ADAC'ın kapsamlı kış lastiği test sonuçları.</a:t>
            </a:r>
            <a:endParaRPr lang="en-US" sz="1700" dirty="0"/>
          </a:p>
        </p:txBody>
      </p:sp>
      <p:sp>
        <p:nvSpPr>
          <p:cNvPr id="6" name="Text 3"/>
          <p:cNvSpPr/>
          <p:nvPr/>
        </p:nvSpPr>
        <p:spPr>
          <a:xfrm>
            <a:off x="6246495" y="4527471"/>
            <a:ext cx="7623810" cy="1042273"/>
          </a:xfrm>
          <a:prstGeom prst="rect">
            <a:avLst/>
          </a:prstGeom>
          <a:noFill/>
          <a:ln/>
        </p:spPr>
        <p:txBody>
          <a:bodyPr wrap="square" lIns="0" tIns="0" rIns="0" bIns="0" rtlCol="0" anchor="t"/>
          <a:lstStyle/>
          <a:p>
            <a:pPr algn="l" marL="342900" indent="-342900">
              <a:lnSpc>
                <a:spcPts val="2700"/>
              </a:lnSpc>
              <a:buSzPct val="100000"/>
              <a:buChar char="•"/>
            </a:pPr>
            <a:r>
              <a:rPr lang="en-US" sz="1700" b="1" dirty="0">
                <a:solidFill>
                  <a:srgbClr val="504C49"/>
                </a:solidFill>
                <a:latin typeface="Source Serif 4" pitchFamily="34" charset="0"/>
                <a:ea typeface="Source Serif 4" pitchFamily="34" charset="-122"/>
                <a:cs typeface="Source Serif 4" pitchFamily="34" charset="-120"/>
              </a:rPr>
              <a:t>Tyre Reviews "Best Winter Tires 2024" YouTube Data:</a:t>
            </a:r>
            <a:pPr algn="l" indent="0" marL="0">
              <a:lnSpc>
                <a:spcPts val="2700"/>
              </a:lnSpc>
              <a:buNone/>
            </a:pPr>
            <a:r>
              <a:rPr lang="en-US" sz="1700" dirty="0">
                <a:solidFill>
                  <a:srgbClr val="504C49"/>
                </a:solidFill>
                <a:latin typeface="Source Serif 4" pitchFamily="34" charset="0"/>
                <a:ea typeface="Source Serif 4" pitchFamily="34" charset="-122"/>
                <a:cs typeface="Source Serif 4" pitchFamily="34" charset="-120"/>
              </a:rPr>
              <a:t> Bağımsız lastik değerlendirme platformu Tyre Reviews'un video analizleri ve performans karşılaştırmaları.</a:t>
            </a:r>
            <a:endParaRPr lang="en-US" sz="1700" dirty="0"/>
          </a:p>
        </p:txBody>
      </p:sp>
      <p:sp>
        <p:nvSpPr>
          <p:cNvPr id="7" name="Text 4"/>
          <p:cNvSpPr/>
          <p:nvPr/>
        </p:nvSpPr>
        <p:spPr>
          <a:xfrm>
            <a:off x="6246495" y="5645706"/>
            <a:ext cx="7623810" cy="694849"/>
          </a:xfrm>
          <a:prstGeom prst="rect">
            <a:avLst/>
          </a:prstGeom>
          <a:noFill/>
          <a:ln/>
        </p:spPr>
        <p:txBody>
          <a:bodyPr wrap="square" lIns="0" tIns="0" rIns="0" bIns="0" rtlCol="0" anchor="t"/>
          <a:lstStyle/>
          <a:p>
            <a:pPr algn="l" marL="342900" indent="-342900">
              <a:lnSpc>
                <a:spcPts val="2700"/>
              </a:lnSpc>
              <a:buSzPct val="100000"/>
              <a:buChar char="•"/>
            </a:pPr>
            <a:r>
              <a:rPr lang="en-US" sz="1700" b="1" dirty="0">
                <a:solidFill>
                  <a:srgbClr val="504C49"/>
                </a:solidFill>
                <a:latin typeface="Source Serif 4" pitchFamily="34" charset="0"/>
                <a:ea typeface="Source Serif 4" pitchFamily="34" charset="-122"/>
                <a:cs typeface="Source Serif 4" pitchFamily="34" charset="-120"/>
              </a:rPr>
              <a:t>Auto Bild "Kış Lastiği Güvenlik Karşılaştırmaları":</a:t>
            </a:r>
            <a:pPr algn="l" indent="0" marL="0">
              <a:lnSpc>
                <a:spcPts val="2700"/>
              </a:lnSpc>
              <a:buNone/>
            </a:pPr>
            <a:r>
              <a:rPr lang="en-US" sz="1700" dirty="0">
                <a:solidFill>
                  <a:srgbClr val="504C49"/>
                </a:solidFill>
                <a:latin typeface="Source Serif 4" pitchFamily="34" charset="0"/>
                <a:ea typeface="Source Serif 4" pitchFamily="34" charset="-122"/>
                <a:cs typeface="Source Serif 4" pitchFamily="34" charset="-120"/>
              </a:rPr>
              <a:t> Almanya'nın önde gelen otomobil dergilerinden Auto Bild'in detaylı güvenlik testleri.</a:t>
            </a:r>
            <a:endParaRPr lang="en-US" sz="1700" dirty="0"/>
          </a:p>
        </p:txBody>
      </p:sp>
      <p:sp>
        <p:nvSpPr>
          <p:cNvPr id="8" name="Text 5"/>
          <p:cNvSpPr/>
          <p:nvPr/>
        </p:nvSpPr>
        <p:spPr>
          <a:xfrm>
            <a:off x="6246495" y="6416516"/>
            <a:ext cx="7623810" cy="1042273"/>
          </a:xfrm>
          <a:prstGeom prst="rect">
            <a:avLst/>
          </a:prstGeom>
          <a:noFill/>
          <a:ln/>
        </p:spPr>
        <p:txBody>
          <a:bodyPr wrap="square" lIns="0" tIns="0" rIns="0" bIns="0" rtlCol="0" anchor="t"/>
          <a:lstStyle/>
          <a:p>
            <a:pPr algn="l" marL="342900" indent="-342900">
              <a:lnSpc>
                <a:spcPts val="2700"/>
              </a:lnSpc>
              <a:buSzPct val="100000"/>
              <a:buChar char="•"/>
            </a:pPr>
            <a:r>
              <a:rPr lang="en-US" sz="1700" b="1" dirty="0">
                <a:solidFill>
                  <a:srgbClr val="504C49"/>
                </a:solidFill>
                <a:latin typeface="Source Serif 4" pitchFamily="34" charset="0"/>
                <a:ea typeface="Source Serif 4" pitchFamily="34" charset="-122"/>
                <a:cs typeface="Source Serif 4" pitchFamily="34" charset="-120"/>
              </a:rPr>
              <a:t>Google Scholar - Vehicle Comfort &amp; Tyre Interaction Studies:</a:t>
            </a:r>
            <a:pPr algn="l" indent="0" marL="0">
              <a:lnSpc>
                <a:spcPts val="2700"/>
              </a:lnSpc>
              <a:buNone/>
            </a:pPr>
            <a:r>
              <a:rPr lang="en-US" sz="1700" dirty="0">
                <a:solidFill>
                  <a:srgbClr val="504C49"/>
                </a:solidFill>
                <a:latin typeface="Source Serif 4" pitchFamily="34" charset="0"/>
                <a:ea typeface="Source Serif 4" pitchFamily="34" charset="-122"/>
                <a:cs typeface="Source Serif 4" pitchFamily="34" charset="-120"/>
              </a:rPr>
              <a:t> Araç konforu ve lastik etkileşimi üzerine akademik çalışmalar ve bilimsel makaleler.</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2593777"/>
            <a:ext cx="5670590" cy="708779"/>
          </a:xfrm>
          <a:prstGeom prst="rect">
            <a:avLst/>
          </a:prstGeom>
          <a:noFill/>
          <a:ln/>
        </p:spPr>
        <p:txBody>
          <a:bodyPr wrap="none" lIns="0" tIns="0" rIns="0" bIns="0" rtlCol="0" anchor="t"/>
          <a:lstStyle/>
          <a:p>
            <a:pPr algn="l" indent="0" marL="0">
              <a:lnSpc>
                <a:spcPts val="5550"/>
              </a:lnSpc>
              <a:buNone/>
            </a:pPr>
            <a:r>
              <a:rPr lang="en-US" sz="4450" dirty="0">
                <a:solidFill>
                  <a:srgbClr val="201B18"/>
                </a:solidFill>
                <a:latin typeface="Platypi Medium" pitchFamily="34" charset="0"/>
                <a:ea typeface="Platypi Medium" pitchFamily="34" charset="-122"/>
                <a:cs typeface="Platypi Medium" pitchFamily="34" charset="-120"/>
              </a:rPr>
              <a:t>PROJE EKİBİ</a:t>
            </a:r>
            <a:endParaRPr lang="en-US" sz="4450" dirty="0"/>
          </a:p>
        </p:txBody>
      </p:sp>
      <p:sp>
        <p:nvSpPr>
          <p:cNvPr id="4" name="Text 1"/>
          <p:cNvSpPr/>
          <p:nvPr/>
        </p:nvSpPr>
        <p:spPr>
          <a:xfrm>
            <a:off x="6280190" y="3642717"/>
            <a:ext cx="7556421"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Bu projenin hazırlanmasında emeği geçen ekip üyeleri.</a:t>
            </a:r>
            <a:endParaRPr lang="en-US" sz="1750" dirty="0"/>
          </a:p>
        </p:txBody>
      </p:sp>
      <p:sp>
        <p:nvSpPr>
          <p:cNvPr id="5" name="Text 2"/>
          <p:cNvSpPr/>
          <p:nvPr/>
        </p:nvSpPr>
        <p:spPr>
          <a:xfrm>
            <a:off x="6280190" y="4487585"/>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201B18"/>
                </a:solidFill>
                <a:latin typeface="Platypi Medium" pitchFamily="34" charset="0"/>
                <a:ea typeface="Platypi Medium" pitchFamily="34" charset="-122"/>
                <a:cs typeface="Platypi Medium" pitchFamily="34" charset="-120"/>
              </a:rPr>
              <a:t>360125051</a:t>
            </a:r>
            <a:endParaRPr lang="en-US" sz="2200" dirty="0"/>
          </a:p>
        </p:txBody>
      </p:sp>
      <p:sp>
        <p:nvSpPr>
          <p:cNvPr id="6" name="Text 3"/>
          <p:cNvSpPr/>
          <p:nvPr/>
        </p:nvSpPr>
        <p:spPr>
          <a:xfrm>
            <a:off x="6280190" y="5068729"/>
            <a:ext cx="3501509" cy="362903"/>
          </a:xfrm>
          <a:prstGeom prst="rect">
            <a:avLst/>
          </a:prstGeom>
          <a:noFill/>
          <a:ln/>
        </p:spPr>
        <p:txBody>
          <a:bodyPr wrap="none" lIns="0" tIns="0" rIns="0" bIns="0" rtlCol="0" anchor="t"/>
          <a:lstStyle/>
          <a:p>
            <a:pPr algn="l" indent="0" marL="0">
              <a:lnSpc>
                <a:spcPts val="2850"/>
              </a:lnSpc>
              <a:buNone/>
            </a:pPr>
            <a:r>
              <a:rPr lang="en-US" sz="1750" b="1" dirty="0">
                <a:solidFill>
                  <a:srgbClr val="504C49"/>
                </a:solidFill>
                <a:latin typeface="Source Serif 4" pitchFamily="34" charset="0"/>
                <a:ea typeface="Source Serif 4" pitchFamily="34" charset="-122"/>
                <a:cs typeface="Source Serif 4" pitchFamily="34" charset="-120"/>
              </a:rPr>
              <a:t>MUSTAFA ERAYDIN</a:t>
            </a:r>
            <a:endParaRPr lang="en-US" sz="1750" dirty="0"/>
          </a:p>
        </p:txBody>
      </p:sp>
      <p:sp>
        <p:nvSpPr>
          <p:cNvPr id="7" name="Text 4"/>
          <p:cNvSpPr/>
          <p:nvPr/>
        </p:nvSpPr>
        <p:spPr>
          <a:xfrm>
            <a:off x="10342721" y="4487585"/>
            <a:ext cx="2835235" cy="354330"/>
          </a:xfrm>
          <a:prstGeom prst="rect">
            <a:avLst/>
          </a:prstGeom>
          <a:noFill/>
          <a:ln/>
        </p:spPr>
        <p:txBody>
          <a:bodyPr wrap="none" lIns="0" tIns="0" rIns="0" bIns="0" rtlCol="0" anchor="t"/>
          <a:lstStyle/>
          <a:p>
            <a:pPr algn="l" indent="0" marL="0">
              <a:lnSpc>
                <a:spcPts val="2750"/>
              </a:lnSpc>
              <a:buNone/>
            </a:pPr>
            <a:r>
              <a:rPr lang="en-US" sz="2200" dirty="0">
                <a:solidFill>
                  <a:srgbClr val="201B18"/>
                </a:solidFill>
                <a:latin typeface="Platypi Medium" pitchFamily="34" charset="0"/>
                <a:ea typeface="Platypi Medium" pitchFamily="34" charset="-122"/>
                <a:cs typeface="Platypi Medium" pitchFamily="34" charset="-120"/>
              </a:rPr>
              <a:t>360125050</a:t>
            </a:r>
            <a:endParaRPr lang="en-US" sz="2200" dirty="0"/>
          </a:p>
        </p:txBody>
      </p:sp>
      <p:sp>
        <p:nvSpPr>
          <p:cNvPr id="8" name="Text 5"/>
          <p:cNvSpPr/>
          <p:nvPr/>
        </p:nvSpPr>
        <p:spPr>
          <a:xfrm>
            <a:off x="10342721" y="5068729"/>
            <a:ext cx="3501509" cy="362903"/>
          </a:xfrm>
          <a:prstGeom prst="rect">
            <a:avLst/>
          </a:prstGeom>
          <a:noFill/>
          <a:ln/>
        </p:spPr>
        <p:txBody>
          <a:bodyPr wrap="none" lIns="0" tIns="0" rIns="0" bIns="0" rtlCol="0" anchor="t"/>
          <a:lstStyle/>
          <a:p>
            <a:pPr algn="l" indent="0" marL="0">
              <a:lnSpc>
                <a:spcPts val="2850"/>
              </a:lnSpc>
              <a:buNone/>
            </a:pPr>
            <a:r>
              <a:rPr lang="en-US" sz="1750" dirty="0">
                <a:solidFill>
                  <a:srgbClr val="504C49"/>
                </a:solidFill>
                <a:latin typeface="Source Serif 4" pitchFamily="34" charset="0"/>
                <a:ea typeface="Source Serif 4" pitchFamily="34" charset="-122"/>
                <a:cs typeface="Source Serif 4" pitchFamily="34" charset="-120"/>
              </a:rPr>
              <a:t>ŞEVKİ BİLGİÇ</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2025-12-29T11:48:00Z</dcterms:created>
  <dcterms:modified xsi:type="dcterms:W3CDTF">2025-12-29T11:48:00Z</dcterms:modified>
</cp:coreProperties>
</file>