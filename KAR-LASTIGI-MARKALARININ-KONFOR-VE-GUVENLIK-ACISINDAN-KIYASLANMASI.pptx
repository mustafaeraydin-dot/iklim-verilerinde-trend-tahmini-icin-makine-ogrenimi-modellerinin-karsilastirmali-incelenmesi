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Platypi Medium"/>
      <p:regular r:id="rId17"/>
    </p:embeddedFont>
    <p:embeddedFont>
      <p:font typeface="Platypi Medium"/>
      <p:regular r:id="rId18"/>
    </p:embeddedFont>
    <p:embeddedFont>
      <p:font typeface="Platypi Medium"/>
      <p:regular r:id="rId19"/>
    </p:embeddedFont>
    <p:embeddedFont>
      <p:font typeface="Platypi Medium"/>
      <p:regular r:id="rId20"/>
    </p:embeddedFont>
    <p:embeddedFont>
      <p:font typeface="Source Serif 4"/>
      <p:regular r:id="rId21"/>
    </p:embeddedFont>
    <p:embeddedFont>
      <p:font typeface="Source Serif 4"/>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5.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697242"/>
            <a:ext cx="7556421" cy="2835116"/>
          </a:xfrm>
          <a:prstGeom prst="rect">
            <a:avLst/>
          </a:prstGeom>
          <a:noFill/>
          <a:ln/>
        </p:spPr>
        <p:txBody>
          <a:bodyPr wrap="square" lIns="0" tIns="0" rIns="0" bIns="0" rtlCol="0" anchor="t"/>
          <a:lstStyle/>
          <a:p>
            <a:pPr algn="l" indent="0" marL="0">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KAR LASTİĞİ MARKALARININ KONFOR VE GÜVENLİK AÇISINDAN KIYASLANMASI</a:t>
            </a:r>
            <a:endParaRPr lang="en-US" sz="4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4282083"/>
            <a:ext cx="7454622" cy="708779"/>
          </a:xfrm>
          <a:prstGeom prst="rect">
            <a:avLst/>
          </a:prstGeom>
          <a:noFill/>
          <a:ln/>
        </p:spPr>
        <p:txBody>
          <a:bodyPr wrap="none" lIns="0" tIns="0" rIns="0" bIns="0" rtlCol="0" anchor="t"/>
          <a:lstStyle/>
          <a:p>
            <a:pPr algn="l" indent="0" marL="0">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NEDEN BU KONU SEÇİLDİ?</a:t>
            </a:r>
            <a:endParaRPr lang="en-US" sz="4450" dirty="0"/>
          </a:p>
        </p:txBody>
      </p:sp>
      <p:sp>
        <p:nvSpPr>
          <p:cNvPr id="4" name="Text 1"/>
          <p:cNvSpPr/>
          <p:nvPr/>
        </p:nvSpPr>
        <p:spPr>
          <a:xfrm>
            <a:off x="793790" y="5331023"/>
            <a:ext cx="13042821" cy="1451610"/>
          </a:xfrm>
          <a:prstGeom prst="rect">
            <a:avLst/>
          </a:prstGeom>
          <a:noFill/>
          <a:ln/>
        </p:spPr>
        <p:txBody>
          <a:bodyPr wrap="square" lIns="0" tIns="0" rIns="0" bIns="0" rtlCol="0" anchor="t"/>
          <a:lstStyle/>
          <a:p>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Kış şartlarında sürüş güvenliği ve sürüş konforu arasındaki optimal denge, kullanıcı memnuniyeti ve yol güvenliği açısından büyük önem taşımaktadır. Bu çalışma, farklı marka ve teknolojilerin (vakumlu, çivili, özel kauçuk karışımlı) ıslak ve buzlu zeminlerdeki performans farklarını bilimsel temelde karşılaştırarak, tüketicilere bilinçli seçim yapma imkanı sunmayı hedeflemektedir.</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21638" y="566976"/>
            <a:ext cx="6062901" cy="644366"/>
          </a:xfrm>
          <a:prstGeom prst="rect">
            <a:avLst/>
          </a:prstGeom>
          <a:noFill/>
          <a:ln/>
        </p:spPr>
        <p:txBody>
          <a:bodyPr wrap="none" lIns="0" tIns="0" rIns="0" bIns="0" rtlCol="0" anchor="t"/>
          <a:lstStyle/>
          <a:p>
            <a:pPr algn="l" indent="0" marL="0">
              <a:lnSpc>
                <a:spcPts val="5050"/>
              </a:lnSpc>
              <a:buNone/>
            </a:pPr>
            <a:r>
              <a:rPr lang="en-US" sz="4050" dirty="0">
                <a:solidFill>
                  <a:srgbClr val="201B18"/>
                </a:solidFill>
                <a:latin typeface="Platypi Medium" pitchFamily="34" charset="0"/>
                <a:ea typeface="Platypi Medium" pitchFamily="34" charset="-122"/>
                <a:cs typeface="Platypi Medium" pitchFamily="34" charset="-120"/>
              </a:rPr>
              <a:t>ARAŞTIRMA PROBLEMİ</a:t>
            </a:r>
            <a:endParaRPr lang="en-US" sz="4050" dirty="0"/>
          </a:p>
        </p:txBody>
      </p:sp>
      <p:sp>
        <p:nvSpPr>
          <p:cNvPr id="3" name="Text 1"/>
          <p:cNvSpPr/>
          <p:nvPr/>
        </p:nvSpPr>
        <p:spPr>
          <a:xfrm>
            <a:off x="721638" y="1726644"/>
            <a:ext cx="3432691" cy="322183"/>
          </a:xfrm>
          <a:prstGeom prst="rect">
            <a:avLst/>
          </a:prstGeom>
          <a:noFill/>
          <a:ln/>
        </p:spPr>
        <p:txBody>
          <a:bodyPr wrap="none" lIns="0" tIns="0" rIns="0" bIns="0" rtlCol="0" anchor="t"/>
          <a:lstStyle/>
          <a:p>
            <a:pPr algn="l" indent="0" marL="0">
              <a:lnSpc>
                <a:spcPts val="2500"/>
              </a:lnSpc>
              <a:buNone/>
            </a:pPr>
            <a:r>
              <a:rPr lang="en-US" sz="2000" dirty="0">
                <a:solidFill>
                  <a:srgbClr val="201B18"/>
                </a:solidFill>
                <a:latin typeface="Platypi Medium" pitchFamily="34" charset="0"/>
                <a:ea typeface="Platypi Medium" pitchFamily="34" charset="-122"/>
                <a:cs typeface="Platypi Medium" pitchFamily="34" charset="-120"/>
              </a:rPr>
              <a:t>Güvenlik vs. Konfor İkilemi</a:t>
            </a:r>
            <a:endParaRPr lang="en-US" sz="2000" dirty="0"/>
          </a:p>
        </p:txBody>
      </p:sp>
      <p:sp>
        <p:nvSpPr>
          <p:cNvPr id="4" name="Text 2"/>
          <p:cNvSpPr/>
          <p:nvPr/>
        </p:nvSpPr>
        <p:spPr>
          <a:xfrm>
            <a:off x="721638" y="2254925"/>
            <a:ext cx="6342102" cy="1979533"/>
          </a:xfrm>
          <a:prstGeom prst="rect">
            <a:avLst/>
          </a:prstGeom>
          <a:noFill/>
          <a:ln/>
        </p:spPr>
        <p:txBody>
          <a:bodyPr wrap="square" lIns="0" tIns="0" rIns="0" bIns="0" rtlCol="0" anchor="t"/>
          <a:lstStyle/>
          <a:p>
            <a:pPr algn="l" indent="0" marL="0">
              <a:lnSpc>
                <a:spcPts val="2550"/>
              </a:lnSpc>
              <a:buNone/>
            </a:pPr>
            <a:r>
              <a:rPr lang="en-US" sz="1600" dirty="0">
                <a:solidFill>
                  <a:srgbClr val="504C49"/>
                </a:solidFill>
                <a:latin typeface="Source Serif 4" pitchFamily="34" charset="0"/>
                <a:ea typeface="Source Serif 4" pitchFamily="34" charset="-122"/>
                <a:cs typeface="Source Serif 4" pitchFamily="34" charset="-120"/>
              </a:rPr>
              <a:t>Tüketiciler, kar lastiği alırken genellikle güvenlik (kısa fren mesafesi, yüksek yol tutuşu) ve konfor (düşük ses seviyesi, minimal sarsıntı) arasında bir denge kurmak zorunda kalmaktadır. Piyasadaki lider markaların bu iki kritik parametreyi aynı anda ne kadar optimize edebildiği ise belirsizliğini korumaktadır.</a:t>
            </a:r>
            <a:endParaRPr lang="en-US" sz="1600" dirty="0"/>
          </a:p>
        </p:txBody>
      </p:sp>
      <p:pic>
        <p:nvPicPr>
          <p:cNvPr id="5" name="Image 0" descr="preencoded.png">    </p:cNvPr>
          <p:cNvPicPr>
            <a:picLocks noChangeAspect="1"/>
          </p:cNvPicPr>
          <p:nvPr/>
        </p:nvPicPr>
        <p:blipFill>
          <a:blip r:embed="rId1"/>
          <a:stretch>
            <a:fillRect/>
          </a:stretch>
        </p:blipFill>
        <p:spPr>
          <a:xfrm>
            <a:off x="7574280" y="1752481"/>
            <a:ext cx="6342102" cy="634210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183243"/>
            <a:ext cx="6668214" cy="708779"/>
          </a:xfrm>
          <a:prstGeom prst="rect">
            <a:avLst/>
          </a:prstGeom>
          <a:noFill/>
          <a:ln/>
        </p:spPr>
        <p:txBody>
          <a:bodyPr wrap="none" lIns="0" tIns="0" rIns="0" bIns="0" rtlCol="0" anchor="t"/>
          <a:lstStyle/>
          <a:p>
            <a:pPr algn="l" indent="0" marL="0">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ARAŞTIRMANIN AMACI</a:t>
            </a:r>
            <a:endParaRPr lang="en-US" sz="4450" dirty="0"/>
          </a:p>
        </p:txBody>
      </p:sp>
      <p:pic>
        <p:nvPicPr>
          <p:cNvPr id="3" name="Image 0" descr="preencoded.png">    </p:cNvPr>
          <p:cNvPicPr>
            <a:picLocks noChangeAspect="1"/>
          </p:cNvPicPr>
          <p:nvPr/>
        </p:nvPicPr>
        <p:blipFill>
          <a:blip r:embed="rId1"/>
          <a:stretch>
            <a:fillRect/>
          </a:stretch>
        </p:blipFill>
        <p:spPr>
          <a:xfrm>
            <a:off x="793790" y="2345650"/>
            <a:ext cx="1134070" cy="1669852"/>
          </a:xfrm>
          <a:prstGeom prst="rect">
            <a:avLst/>
          </a:prstGeom>
        </p:spPr>
      </p:pic>
      <p:sp>
        <p:nvSpPr>
          <p:cNvPr id="4" name="Text 1"/>
          <p:cNvSpPr/>
          <p:nvPr/>
        </p:nvSpPr>
        <p:spPr>
          <a:xfrm>
            <a:off x="2154674" y="2572464"/>
            <a:ext cx="3641884" cy="354330"/>
          </a:xfrm>
          <a:prstGeom prst="rect">
            <a:avLst/>
          </a:prstGeom>
          <a:noFill/>
          <a:ln/>
        </p:spPr>
        <p:txBody>
          <a:bodyPr wrap="none" lIns="0" tIns="0" rIns="0" bIns="0" rtlCol="0" anchor="t"/>
          <a:lstStyle/>
          <a:p>
            <a:pPr algn="l" indent="0" marL="0">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Marka Performans Analizi</a:t>
            </a:r>
            <a:endParaRPr lang="en-US" sz="2200" dirty="0"/>
          </a:p>
        </p:txBody>
      </p:sp>
      <p:sp>
        <p:nvSpPr>
          <p:cNvPr id="5" name="Text 2"/>
          <p:cNvSpPr/>
          <p:nvPr/>
        </p:nvSpPr>
        <p:spPr>
          <a:xfrm>
            <a:off x="2154674" y="3062883"/>
            <a:ext cx="11681936" cy="725805"/>
          </a:xfrm>
          <a:prstGeom prst="rect">
            <a:avLst/>
          </a:prstGeom>
          <a:noFill/>
          <a:ln/>
        </p:spPr>
        <p:txBody>
          <a:bodyPr wrap="square" lIns="0" tIns="0" rIns="0" bIns="0" rtlCol="0" anchor="t"/>
          <a:lstStyle/>
          <a:p>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Önde gelen kar lastiği markalarının (Michelin, Bridgestone, Continental vb.) güvenlik ve konfor odaklı performans verilerini detaylıca analiz etmek.</a:t>
            </a:r>
            <a:endParaRPr lang="en-US" sz="1750" dirty="0"/>
          </a:p>
        </p:txBody>
      </p:sp>
      <p:pic>
        <p:nvPicPr>
          <p:cNvPr id="6" name="Image 1" descr="preencoded.png">    </p:cNvPr>
          <p:cNvPicPr>
            <a:picLocks noChangeAspect="1"/>
          </p:cNvPicPr>
          <p:nvPr/>
        </p:nvPicPr>
        <p:blipFill>
          <a:blip r:embed="rId2"/>
          <a:stretch>
            <a:fillRect/>
          </a:stretch>
        </p:blipFill>
        <p:spPr>
          <a:xfrm>
            <a:off x="793790" y="4015502"/>
            <a:ext cx="1134070" cy="1669852"/>
          </a:xfrm>
          <a:prstGeom prst="rect">
            <a:avLst/>
          </a:prstGeom>
        </p:spPr>
      </p:pic>
      <p:sp>
        <p:nvSpPr>
          <p:cNvPr id="7" name="Text 3"/>
          <p:cNvSpPr/>
          <p:nvPr/>
        </p:nvSpPr>
        <p:spPr>
          <a:xfrm>
            <a:off x="2154674" y="4242316"/>
            <a:ext cx="5069800" cy="354330"/>
          </a:xfrm>
          <a:prstGeom prst="rect">
            <a:avLst/>
          </a:prstGeom>
          <a:noFill/>
          <a:ln/>
        </p:spPr>
        <p:txBody>
          <a:bodyPr wrap="none" lIns="0" tIns="0" rIns="0" bIns="0" rtlCol="0" anchor="t"/>
          <a:lstStyle/>
          <a:p>
            <a:pPr algn="l" indent="0" marL="0">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Optimize Performansın Belirlenmesi</a:t>
            </a:r>
            <a:endParaRPr lang="en-US" sz="2200" dirty="0"/>
          </a:p>
        </p:txBody>
      </p:sp>
      <p:sp>
        <p:nvSpPr>
          <p:cNvPr id="8" name="Text 4"/>
          <p:cNvSpPr/>
          <p:nvPr/>
        </p:nvSpPr>
        <p:spPr>
          <a:xfrm>
            <a:off x="2154674" y="4732734"/>
            <a:ext cx="11681936" cy="725805"/>
          </a:xfrm>
          <a:prstGeom prst="rect">
            <a:avLst/>
          </a:prstGeom>
          <a:noFill/>
          <a:ln/>
        </p:spPr>
        <p:txBody>
          <a:bodyPr wrap="square" lIns="0" tIns="0" rIns="0" bIns="0" rtlCol="0" anchor="t"/>
          <a:lstStyle/>
          <a:p>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Güvenlikten ödün vermeden en yüksek sürüş konforunu sunan markayı veya lastik teknolojisini tespit etmek.</a:t>
            </a:r>
            <a:endParaRPr lang="en-US" sz="1750" dirty="0"/>
          </a:p>
        </p:txBody>
      </p:sp>
      <p:pic>
        <p:nvPicPr>
          <p:cNvPr id="9" name="Image 2" descr="preencoded.png">    </p:cNvPr>
          <p:cNvPicPr>
            <a:picLocks noChangeAspect="1"/>
          </p:cNvPicPr>
          <p:nvPr/>
        </p:nvPicPr>
        <p:blipFill>
          <a:blip r:embed="rId3"/>
          <a:stretch>
            <a:fillRect/>
          </a:stretch>
        </p:blipFill>
        <p:spPr>
          <a:xfrm>
            <a:off x="793790" y="5685353"/>
            <a:ext cx="1134070" cy="1360884"/>
          </a:xfrm>
          <a:prstGeom prst="rect">
            <a:avLst/>
          </a:prstGeom>
        </p:spPr>
      </p:pic>
      <p:sp>
        <p:nvSpPr>
          <p:cNvPr id="10" name="Text 5"/>
          <p:cNvSpPr/>
          <p:nvPr/>
        </p:nvSpPr>
        <p:spPr>
          <a:xfrm>
            <a:off x="2154674" y="5912168"/>
            <a:ext cx="2845951" cy="354330"/>
          </a:xfrm>
          <a:prstGeom prst="rect">
            <a:avLst/>
          </a:prstGeom>
          <a:noFill/>
          <a:ln/>
        </p:spPr>
        <p:txBody>
          <a:bodyPr wrap="none" lIns="0" tIns="0" rIns="0" bIns="0" rtlCol="0" anchor="t"/>
          <a:lstStyle/>
          <a:p>
            <a:pPr algn="l" indent="0" marL="0">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Tüketiciye Rehberlik</a:t>
            </a:r>
            <a:endParaRPr lang="en-US" sz="2200" dirty="0"/>
          </a:p>
        </p:txBody>
      </p:sp>
      <p:sp>
        <p:nvSpPr>
          <p:cNvPr id="11" name="Text 6"/>
          <p:cNvSpPr/>
          <p:nvPr/>
        </p:nvSpPr>
        <p:spPr>
          <a:xfrm>
            <a:off x="2154674" y="6402586"/>
            <a:ext cx="11681936" cy="362903"/>
          </a:xfrm>
          <a:prstGeom prst="rect">
            <a:avLst/>
          </a:prstGeom>
          <a:noFill/>
          <a:ln/>
        </p:spPr>
        <p:txBody>
          <a:bodyPr wrap="none" lIns="0" tIns="0" rIns="0" bIns="0" rtlCol="0" anchor="t"/>
          <a:lstStyle/>
          <a:p>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Elde edilen bulgularla tüketicilere ve sektör profesyonellerine değerli bilgiler sağlamak.</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265753"/>
            <a:ext cx="6017419" cy="708779"/>
          </a:xfrm>
          <a:prstGeom prst="rect">
            <a:avLst/>
          </a:prstGeom>
          <a:noFill/>
          <a:ln/>
        </p:spPr>
        <p:txBody>
          <a:bodyPr wrap="none" lIns="0" tIns="0" rIns="0" bIns="0" rtlCol="0" anchor="t"/>
          <a:lstStyle/>
          <a:p>
            <a:pPr algn="l" indent="0" marL="0">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ARAŞTIRMA SORUSU</a:t>
            </a:r>
            <a:endParaRPr lang="en-US" sz="4450" dirty="0"/>
          </a:p>
        </p:txBody>
      </p:sp>
      <p:sp>
        <p:nvSpPr>
          <p:cNvPr id="4" name="Text 1"/>
          <p:cNvSpPr/>
          <p:nvPr/>
        </p:nvSpPr>
        <p:spPr>
          <a:xfrm>
            <a:off x="1133951" y="2654856"/>
            <a:ext cx="7216259" cy="3968829"/>
          </a:xfrm>
          <a:prstGeom prst="rect">
            <a:avLst/>
          </a:prstGeom>
          <a:noFill/>
          <a:ln/>
        </p:spPr>
        <p:txBody>
          <a:bodyPr wrap="square" lIns="0" tIns="0" rIns="0" bIns="0" rtlCol="0" anchor="t"/>
          <a:lstStyle/>
          <a:p>
            <a:pPr algn="l" indent="0" marL="0">
              <a:lnSpc>
                <a:spcPts val="4450"/>
              </a:lnSpc>
              <a:buNone/>
            </a:pPr>
            <a:r>
              <a:rPr lang="en-US" sz="3550" dirty="0">
                <a:solidFill>
                  <a:srgbClr val="201B18"/>
                </a:solidFill>
                <a:latin typeface="Platypi Medium" pitchFamily="34" charset="0"/>
                <a:ea typeface="Platypi Medium" pitchFamily="34" charset="-122"/>
                <a:cs typeface="Platypi Medium" pitchFamily="34" charset="-120"/>
              </a:rPr>
              <a:t>"Farklı kar lastiği markalarının desen ve hamur yapısı, kış koşullarında </a:t>
            </a:r>
            <a:pPr algn="l" indent="0" marL="0">
              <a:lnSpc>
                <a:spcPts val="4450"/>
              </a:lnSpc>
              <a:buNone/>
            </a:pPr>
            <a:r>
              <a:rPr lang="en-US" sz="3550" dirty="0">
                <a:solidFill>
                  <a:srgbClr val="3E2513"/>
                </a:solidFill>
                <a:latin typeface="Platypi Medium" pitchFamily="34" charset="0"/>
                <a:ea typeface="Platypi Medium" pitchFamily="34" charset="-122"/>
                <a:cs typeface="Platypi Medium" pitchFamily="34" charset="-120"/>
              </a:rPr>
              <a:t>fren mesafesi (güvenlik)</a:t>
            </a:r>
            <a:pPr algn="l" indent="0" marL="0">
              <a:lnSpc>
                <a:spcPts val="4450"/>
              </a:lnSpc>
              <a:buNone/>
            </a:pPr>
            <a:r>
              <a:rPr lang="en-US" sz="3550" dirty="0">
                <a:solidFill>
                  <a:srgbClr val="201B18"/>
                </a:solidFill>
                <a:latin typeface="Platypi Medium" pitchFamily="34" charset="0"/>
                <a:ea typeface="Platypi Medium" pitchFamily="34" charset="-122"/>
                <a:cs typeface="Platypi Medium" pitchFamily="34" charset="-120"/>
              </a:rPr>
              <a:t> ve </a:t>
            </a:r>
            <a:pPr algn="l" indent="0" marL="0">
              <a:lnSpc>
                <a:spcPts val="4450"/>
              </a:lnSpc>
              <a:buNone/>
            </a:pPr>
            <a:r>
              <a:rPr lang="en-US" sz="3550" dirty="0">
                <a:solidFill>
                  <a:srgbClr val="3E2513"/>
                </a:solidFill>
                <a:latin typeface="Platypi Medium" pitchFamily="34" charset="0"/>
                <a:ea typeface="Platypi Medium" pitchFamily="34" charset="-122"/>
                <a:cs typeface="Platypi Medium" pitchFamily="34" charset="-120"/>
              </a:rPr>
              <a:t>kabin içi gürültü seviyesi (konfor)</a:t>
            </a:r>
            <a:pPr algn="l" indent="0" marL="0">
              <a:lnSpc>
                <a:spcPts val="4450"/>
              </a:lnSpc>
              <a:buNone/>
            </a:pPr>
            <a:r>
              <a:rPr lang="en-US" sz="3550" dirty="0">
                <a:solidFill>
                  <a:srgbClr val="201B18"/>
                </a:solidFill>
                <a:latin typeface="Platypi Medium" pitchFamily="34" charset="0"/>
                <a:ea typeface="Platypi Medium" pitchFamily="34" charset="-122"/>
                <a:cs typeface="Platypi Medium" pitchFamily="34" charset="-120"/>
              </a:rPr>
              <a:t> üzerinde istatistiksel olarak anlamlı bir fark yaratmakta mıdır?"</a:t>
            </a:r>
            <a:endParaRPr lang="en-US" sz="3550" dirty="0"/>
          </a:p>
        </p:txBody>
      </p:sp>
      <p:sp>
        <p:nvSpPr>
          <p:cNvPr id="5" name="Shape 2"/>
          <p:cNvSpPr/>
          <p:nvPr/>
        </p:nvSpPr>
        <p:spPr>
          <a:xfrm>
            <a:off x="793790" y="2314694"/>
            <a:ext cx="30480" cy="4649153"/>
          </a:xfrm>
          <a:prstGeom prst="rect">
            <a:avLst/>
          </a:prstGeom>
          <a:solidFill>
            <a:srgbClr val="3E2513"/>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88037" y="383381"/>
            <a:ext cx="3486150" cy="435769"/>
          </a:xfrm>
          <a:prstGeom prst="rect">
            <a:avLst/>
          </a:prstGeom>
          <a:noFill/>
          <a:ln/>
        </p:spPr>
        <p:txBody>
          <a:bodyPr wrap="none" lIns="0" tIns="0" rIns="0" bIns="0" rtlCol="0" anchor="t"/>
          <a:lstStyle/>
          <a:p>
            <a:pPr algn="l" indent="0" marL="0">
              <a:lnSpc>
                <a:spcPts val="3400"/>
              </a:lnSpc>
              <a:buNone/>
            </a:pPr>
            <a:r>
              <a:rPr lang="en-US" sz="2700" dirty="0">
                <a:solidFill>
                  <a:srgbClr val="201B18"/>
                </a:solidFill>
                <a:latin typeface="Platypi Medium" pitchFamily="34" charset="0"/>
                <a:ea typeface="Platypi Medium" pitchFamily="34" charset="-122"/>
                <a:cs typeface="Platypi Medium" pitchFamily="34" charset="-120"/>
              </a:rPr>
              <a:t>DEĞİŞKENLER</a:t>
            </a:r>
            <a:endParaRPr lang="en-US" sz="2700" dirty="0"/>
          </a:p>
        </p:txBody>
      </p:sp>
      <p:sp>
        <p:nvSpPr>
          <p:cNvPr id="3" name="Text 1"/>
          <p:cNvSpPr/>
          <p:nvPr/>
        </p:nvSpPr>
        <p:spPr>
          <a:xfrm>
            <a:off x="488037" y="1167646"/>
            <a:ext cx="2211586" cy="261461"/>
          </a:xfrm>
          <a:prstGeom prst="rect">
            <a:avLst/>
          </a:prstGeom>
          <a:noFill/>
          <a:ln/>
        </p:spPr>
        <p:txBody>
          <a:bodyPr wrap="none" lIns="0" tIns="0" rIns="0" bIns="0" rtlCol="0" anchor="t"/>
          <a:lstStyle/>
          <a:p>
            <a:pPr algn="l" indent="0" marL="0">
              <a:lnSpc>
                <a:spcPts val="2050"/>
              </a:lnSpc>
              <a:buNone/>
            </a:pPr>
            <a:r>
              <a:rPr lang="en-US" sz="1600" dirty="0">
                <a:solidFill>
                  <a:srgbClr val="201B18"/>
                </a:solidFill>
                <a:latin typeface="Platypi Medium" pitchFamily="34" charset="0"/>
                <a:ea typeface="Platypi Medium" pitchFamily="34" charset="-122"/>
                <a:cs typeface="Platypi Medium" pitchFamily="34" charset="-120"/>
              </a:rPr>
              <a:t>Bağımsız Değişkenler</a:t>
            </a:r>
            <a:endParaRPr lang="en-US" sz="1600" dirty="0"/>
          </a:p>
        </p:txBody>
      </p:sp>
      <p:sp>
        <p:nvSpPr>
          <p:cNvPr id="4" name="Text 2"/>
          <p:cNvSpPr/>
          <p:nvPr/>
        </p:nvSpPr>
        <p:spPr>
          <a:xfrm>
            <a:off x="488037" y="1568529"/>
            <a:ext cx="6657142" cy="223004"/>
          </a:xfrm>
          <a:prstGeom prst="rect">
            <a:avLst/>
          </a:prstGeom>
          <a:noFill/>
          <a:ln/>
        </p:spPr>
        <p:txBody>
          <a:bodyPr wrap="none" lIns="0" tIns="0" rIns="0" bIns="0" rtlCol="0" anchor="t"/>
          <a:lstStyle/>
          <a:p>
            <a:pPr algn="l" marL="342900" indent="-342900">
              <a:lnSpc>
                <a:spcPts val="1750"/>
              </a:lnSpc>
              <a:buSzPct val="100000"/>
              <a:buChar char="•"/>
            </a:pPr>
            <a:r>
              <a:rPr lang="en-US" sz="1050" dirty="0">
                <a:solidFill>
                  <a:srgbClr val="504C49"/>
                </a:solidFill>
                <a:latin typeface="Source Serif 4" pitchFamily="34" charset="0"/>
                <a:ea typeface="Source Serif 4" pitchFamily="34" charset="-122"/>
                <a:cs typeface="Source Serif 4" pitchFamily="34" charset="-120"/>
              </a:rPr>
              <a:t>Kar lastiği markaları ve modelleri</a:t>
            </a:r>
            <a:endParaRPr lang="en-US" sz="1050" dirty="0"/>
          </a:p>
        </p:txBody>
      </p:sp>
      <p:sp>
        <p:nvSpPr>
          <p:cNvPr id="5" name="Text 3"/>
          <p:cNvSpPr/>
          <p:nvPr/>
        </p:nvSpPr>
        <p:spPr>
          <a:xfrm>
            <a:off x="488037" y="1840230"/>
            <a:ext cx="6657142" cy="223004"/>
          </a:xfrm>
          <a:prstGeom prst="rect">
            <a:avLst/>
          </a:prstGeom>
          <a:noFill/>
          <a:ln/>
        </p:spPr>
        <p:txBody>
          <a:bodyPr wrap="none" lIns="0" tIns="0" rIns="0" bIns="0" rtlCol="0" anchor="t"/>
          <a:lstStyle/>
          <a:p>
            <a:pPr algn="l" marL="342900" indent="-342900">
              <a:lnSpc>
                <a:spcPts val="1750"/>
              </a:lnSpc>
              <a:buSzPct val="100000"/>
              <a:buChar char="•"/>
            </a:pPr>
            <a:r>
              <a:rPr lang="en-US" sz="1050" dirty="0">
                <a:solidFill>
                  <a:srgbClr val="504C49"/>
                </a:solidFill>
                <a:latin typeface="Source Serif 4" pitchFamily="34" charset="0"/>
                <a:ea typeface="Source Serif 4" pitchFamily="34" charset="-122"/>
                <a:cs typeface="Source Serif 4" pitchFamily="34" charset="-120"/>
              </a:rPr>
              <a:t>Lastik hamuru bileşimi</a:t>
            </a:r>
            <a:endParaRPr lang="en-US" sz="1050" dirty="0"/>
          </a:p>
        </p:txBody>
      </p:sp>
      <p:sp>
        <p:nvSpPr>
          <p:cNvPr id="6" name="Text 4"/>
          <p:cNvSpPr/>
          <p:nvPr/>
        </p:nvSpPr>
        <p:spPr>
          <a:xfrm>
            <a:off x="488037" y="2111931"/>
            <a:ext cx="6657142" cy="223004"/>
          </a:xfrm>
          <a:prstGeom prst="rect">
            <a:avLst/>
          </a:prstGeom>
          <a:noFill/>
          <a:ln/>
        </p:spPr>
        <p:txBody>
          <a:bodyPr wrap="none" lIns="0" tIns="0" rIns="0" bIns="0" rtlCol="0" anchor="t"/>
          <a:lstStyle/>
          <a:p>
            <a:pPr algn="l" marL="342900" indent="-342900">
              <a:lnSpc>
                <a:spcPts val="1750"/>
              </a:lnSpc>
              <a:buSzPct val="100000"/>
              <a:buChar char="•"/>
            </a:pPr>
            <a:r>
              <a:rPr lang="en-US" sz="1050" dirty="0">
                <a:solidFill>
                  <a:srgbClr val="504C49"/>
                </a:solidFill>
                <a:latin typeface="Source Serif 4" pitchFamily="34" charset="0"/>
                <a:ea typeface="Source Serif 4" pitchFamily="34" charset="-122"/>
                <a:cs typeface="Source Serif 4" pitchFamily="34" charset="-120"/>
              </a:rPr>
              <a:t>Diş derinliği</a:t>
            </a:r>
            <a:endParaRPr lang="en-US" sz="1050" dirty="0"/>
          </a:p>
        </p:txBody>
      </p:sp>
      <p:sp>
        <p:nvSpPr>
          <p:cNvPr id="7" name="Text 5"/>
          <p:cNvSpPr/>
          <p:nvPr/>
        </p:nvSpPr>
        <p:spPr>
          <a:xfrm>
            <a:off x="488037" y="2383631"/>
            <a:ext cx="6657142" cy="223004"/>
          </a:xfrm>
          <a:prstGeom prst="rect">
            <a:avLst/>
          </a:prstGeom>
          <a:noFill/>
          <a:ln/>
        </p:spPr>
        <p:txBody>
          <a:bodyPr wrap="none" lIns="0" tIns="0" rIns="0" bIns="0" rtlCol="0" anchor="t"/>
          <a:lstStyle/>
          <a:p>
            <a:pPr algn="l" marL="342900" indent="-342900">
              <a:lnSpc>
                <a:spcPts val="1750"/>
              </a:lnSpc>
              <a:buSzPct val="100000"/>
              <a:buChar char="•"/>
            </a:pPr>
            <a:r>
              <a:rPr lang="en-US" sz="1050" dirty="0">
                <a:solidFill>
                  <a:srgbClr val="504C49"/>
                </a:solidFill>
                <a:latin typeface="Source Serif 4" pitchFamily="34" charset="0"/>
                <a:ea typeface="Source Serif 4" pitchFamily="34" charset="-122"/>
                <a:cs typeface="Source Serif 4" pitchFamily="34" charset="-120"/>
              </a:rPr>
              <a:t>Desen tasarımı</a:t>
            </a:r>
            <a:endParaRPr lang="en-US" sz="1050" dirty="0"/>
          </a:p>
        </p:txBody>
      </p:sp>
      <p:pic>
        <p:nvPicPr>
          <p:cNvPr id="8" name="Image 0" descr="preencoded.png">    </p:cNvPr>
          <p:cNvPicPr>
            <a:picLocks noChangeAspect="1"/>
          </p:cNvPicPr>
          <p:nvPr/>
        </p:nvPicPr>
        <p:blipFill>
          <a:blip r:embed="rId1"/>
          <a:stretch>
            <a:fillRect/>
          </a:stretch>
        </p:blipFill>
        <p:spPr>
          <a:xfrm>
            <a:off x="488037" y="2763441"/>
            <a:ext cx="6657142" cy="6657142"/>
          </a:xfrm>
          <a:prstGeom prst="rect">
            <a:avLst/>
          </a:prstGeom>
        </p:spPr>
      </p:pic>
      <p:sp>
        <p:nvSpPr>
          <p:cNvPr id="9" name="Text 6"/>
          <p:cNvSpPr/>
          <p:nvPr/>
        </p:nvSpPr>
        <p:spPr>
          <a:xfrm>
            <a:off x="7492841" y="1167646"/>
            <a:ext cx="2091690" cy="261461"/>
          </a:xfrm>
          <a:prstGeom prst="rect">
            <a:avLst/>
          </a:prstGeom>
          <a:noFill/>
          <a:ln/>
        </p:spPr>
        <p:txBody>
          <a:bodyPr wrap="none" lIns="0" tIns="0" rIns="0" bIns="0" rtlCol="0" anchor="t"/>
          <a:lstStyle/>
          <a:p>
            <a:pPr algn="l" indent="0" marL="0">
              <a:lnSpc>
                <a:spcPts val="2050"/>
              </a:lnSpc>
              <a:buNone/>
            </a:pPr>
            <a:r>
              <a:rPr lang="en-US" sz="1600" dirty="0">
                <a:solidFill>
                  <a:srgbClr val="201B18"/>
                </a:solidFill>
                <a:latin typeface="Platypi Medium" pitchFamily="34" charset="0"/>
                <a:ea typeface="Platypi Medium" pitchFamily="34" charset="-122"/>
                <a:cs typeface="Platypi Medium" pitchFamily="34" charset="-120"/>
              </a:rPr>
              <a:t>Bağımlı Değişkenler</a:t>
            </a:r>
            <a:endParaRPr lang="en-US" sz="1600" dirty="0"/>
          </a:p>
        </p:txBody>
      </p:sp>
      <p:sp>
        <p:nvSpPr>
          <p:cNvPr id="10" name="Text 7"/>
          <p:cNvSpPr/>
          <p:nvPr/>
        </p:nvSpPr>
        <p:spPr>
          <a:xfrm>
            <a:off x="7492841" y="1568529"/>
            <a:ext cx="6657142" cy="223004"/>
          </a:xfrm>
          <a:prstGeom prst="rect">
            <a:avLst/>
          </a:prstGeom>
          <a:noFill/>
          <a:ln/>
        </p:spPr>
        <p:txBody>
          <a:bodyPr wrap="none" lIns="0" tIns="0" rIns="0" bIns="0" rtlCol="0" anchor="t"/>
          <a:lstStyle/>
          <a:p>
            <a:pPr algn="l" marL="342900" indent="-342900">
              <a:lnSpc>
                <a:spcPts val="1750"/>
              </a:lnSpc>
              <a:buSzPct val="100000"/>
              <a:buChar char="•"/>
            </a:pPr>
            <a:r>
              <a:rPr lang="en-US" sz="1050" dirty="0">
                <a:solidFill>
                  <a:srgbClr val="504C49"/>
                </a:solidFill>
                <a:latin typeface="Source Serif 4" pitchFamily="34" charset="0"/>
                <a:ea typeface="Source Serif 4" pitchFamily="34" charset="-122"/>
                <a:cs typeface="Source Serif 4" pitchFamily="34" charset="-120"/>
              </a:rPr>
              <a:t>Fren mesafesi (metre)</a:t>
            </a:r>
            <a:endParaRPr lang="en-US" sz="1050" dirty="0"/>
          </a:p>
        </p:txBody>
      </p:sp>
      <p:sp>
        <p:nvSpPr>
          <p:cNvPr id="11" name="Text 8"/>
          <p:cNvSpPr/>
          <p:nvPr/>
        </p:nvSpPr>
        <p:spPr>
          <a:xfrm>
            <a:off x="7492841" y="1840230"/>
            <a:ext cx="6657142" cy="223004"/>
          </a:xfrm>
          <a:prstGeom prst="rect">
            <a:avLst/>
          </a:prstGeom>
          <a:noFill/>
          <a:ln/>
        </p:spPr>
        <p:txBody>
          <a:bodyPr wrap="none" lIns="0" tIns="0" rIns="0" bIns="0" rtlCol="0" anchor="t"/>
          <a:lstStyle/>
          <a:p>
            <a:pPr algn="l" marL="342900" indent="-342900">
              <a:lnSpc>
                <a:spcPts val="1750"/>
              </a:lnSpc>
              <a:buSzPct val="100000"/>
              <a:buChar char="•"/>
            </a:pPr>
            <a:r>
              <a:rPr lang="en-US" sz="1050" dirty="0">
                <a:solidFill>
                  <a:srgbClr val="504C49"/>
                </a:solidFill>
                <a:latin typeface="Source Serif 4" pitchFamily="34" charset="0"/>
                <a:ea typeface="Source Serif 4" pitchFamily="34" charset="-122"/>
                <a:cs typeface="Source Serif 4" pitchFamily="34" charset="-120"/>
              </a:rPr>
              <a:t>Yanal yol tutuş katsayısı</a:t>
            </a:r>
            <a:endParaRPr lang="en-US" sz="1050" dirty="0"/>
          </a:p>
        </p:txBody>
      </p:sp>
      <p:sp>
        <p:nvSpPr>
          <p:cNvPr id="12" name="Text 9"/>
          <p:cNvSpPr/>
          <p:nvPr/>
        </p:nvSpPr>
        <p:spPr>
          <a:xfrm>
            <a:off x="7492841" y="2111931"/>
            <a:ext cx="6657142" cy="223004"/>
          </a:xfrm>
          <a:prstGeom prst="rect">
            <a:avLst/>
          </a:prstGeom>
          <a:noFill/>
          <a:ln/>
        </p:spPr>
        <p:txBody>
          <a:bodyPr wrap="none" lIns="0" tIns="0" rIns="0" bIns="0" rtlCol="0" anchor="t"/>
          <a:lstStyle/>
          <a:p>
            <a:pPr algn="l" marL="342900" indent="-342900">
              <a:lnSpc>
                <a:spcPts val="1750"/>
              </a:lnSpc>
              <a:buSzPct val="100000"/>
              <a:buChar char="•"/>
            </a:pPr>
            <a:r>
              <a:rPr lang="en-US" sz="1050" dirty="0">
                <a:solidFill>
                  <a:srgbClr val="504C49"/>
                </a:solidFill>
                <a:latin typeface="Source Serif 4" pitchFamily="34" charset="0"/>
                <a:ea typeface="Source Serif 4" pitchFamily="34" charset="-122"/>
                <a:cs typeface="Source Serif 4" pitchFamily="34" charset="-120"/>
              </a:rPr>
              <a:t>Kabin içi ses düzeyi (desibel)</a:t>
            </a:r>
            <a:endParaRPr lang="en-US" sz="1050" dirty="0"/>
          </a:p>
        </p:txBody>
      </p:sp>
      <p:sp>
        <p:nvSpPr>
          <p:cNvPr id="13" name="Text 10"/>
          <p:cNvSpPr/>
          <p:nvPr/>
        </p:nvSpPr>
        <p:spPr>
          <a:xfrm>
            <a:off x="7492841" y="2383631"/>
            <a:ext cx="6657142" cy="223004"/>
          </a:xfrm>
          <a:prstGeom prst="rect">
            <a:avLst/>
          </a:prstGeom>
          <a:noFill/>
          <a:ln/>
        </p:spPr>
        <p:txBody>
          <a:bodyPr wrap="none" lIns="0" tIns="0" rIns="0" bIns="0" rtlCol="0" anchor="t"/>
          <a:lstStyle/>
          <a:p>
            <a:pPr algn="l" marL="342900" indent="-342900">
              <a:lnSpc>
                <a:spcPts val="1750"/>
              </a:lnSpc>
              <a:buSzPct val="100000"/>
              <a:buChar char="•"/>
            </a:pPr>
            <a:r>
              <a:rPr lang="en-US" sz="1050" dirty="0">
                <a:solidFill>
                  <a:srgbClr val="504C49"/>
                </a:solidFill>
                <a:latin typeface="Source Serif 4" pitchFamily="34" charset="0"/>
                <a:ea typeface="Source Serif 4" pitchFamily="34" charset="-122"/>
                <a:cs typeface="Source Serif 4" pitchFamily="34" charset="-120"/>
              </a:rPr>
              <a:t>Sürüş yumuşaklığı</a:t>
            </a:r>
            <a:endParaRPr lang="en-US" sz="1050" dirty="0"/>
          </a:p>
        </p:txBody>
      </p:sp>
      <p:pic>
        <p:nvPicPr>
          <p:cNvPr id="14" name="Image 1" descr="preencoded.png">    </p:cNvPr>
          <p:cNvPicPr>
            <a:picLocks noChangeAspect="1"/>
          </p:cNvPicPr>
          <p:nvPr/>
        </p:nvPicPr>
        <p:blipFill>
          <a:blip r:embed="rId2"/>
          <a:stretch>
            <a:fillRect/>
          </a:stretch>
        </p:blipFill>
        <p:spPr>
          <a:xfrm>
            <a:off x="7492841" y="2763441"/>
            <a:ext cx="6657142" cy="665714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537573"/>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HİPOTEZLER</a:t>
            </a:r>
            <a:endParaRPr lang="en-US" sz="4450" dirty="0"/>
          </a:p>
        </p:txBody>
      </p:sp>
      <p:sp>
        <p:nvSpPr>
          <p:cNvPr id="3" name="Shape 1"/>
          <p:cNvSpPr/>
          <p:nvPr/>
        </p:nvSpPr>
        <p:spPr>
          <a:xfrm>
            <a:off x="793790" y="2824758"/>
            <a:ext cx="113348" cy="113348"/>
          </a:xfrm>
          <a:prstGeom prst="roundRect">
            <a:avLst>
              <a:gd name="adj" fmla="val 403360"/>
            </a:avLst>
          </a:prstGeom>
          <a:solidFill>
            <a:srgbClr val="3E2513"/>
          </a:solidFill>
          <a:ln/>
        </p:spPr>
      </p:sp>
      <p:sp>
        <p:nvSpPr>
          <p:cNvPr id="4" name="Text 2"/>
          <p:cNvSpPr/>
          <p:nvPr/>
        </p:nvSpPr>
        <p:spPr>
          <a:xfrm>
            <a:off x="1133951" y="2699980"/>
            <a:ext cx="12702659" cy="362903"/>
          </a:xfrm>
          <a:prstGeom prst="rect">
            <a:avLst/>
          </a:prstGeom>
          <a:noFill/>
          <a:ln/>
        </p:spPr>
        <p:txBody>
          <a:bodyPr wrap="none" lIns="0" tIns="0" rIns="0" bIns="0" rtlCol="0" anchor="t"/>
          <a:lstStyle/>
          <a:p>
            <a:pPr algn="l" indent="0" marL="0">
              <a:lnSpc>
                <a:spcPts val="2850"/>
              </a:lnSpc>
              <a:buNone/>
            </a:pPr>
            <a:r>
              <a:rPr lang="en-US" sz="1750" b="1" dirty="0">
                <a:solidFill>
                  <a:srgbClr val="504C49"/>
                </a:solidFill>
                <a:latin typeface="Source Serif 4" pitchFamily="34" charset="0"/>
                <a:ea typeface="Source Serif 4" pitchFamily="34" charset="-122"/>
                <a:cs typeface="Source Serif 4" pitchFamily="34" charset="-120"/>
              </a:rPr>
              <a:t>H1:</a:t>
            </a:r>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 Premium markaların kar lastikleri, ekonomik markalara göre </a:t>
            </a:r>
            <a:pPr algn="l" indent="0" marL="0">
              <a:lnSpc>
                <a:spcPts val="2850"/>
              </a:lnSpc>
              <a:buNone/>
            </a:pPr>
            <a:r>
              <a:rPr lang="en-US" sz="1750" dirty="0">
                <a:solidFill>
                  <a:srgbClr val="3E2513"/>
                </a:solidFill>
                <a:latin typeface="Source Serif 4" pitchFamily="34" charset="0"/>
                <a:ea typeface="Source Serif 4" pitchFamily="34" charset="-122"/>
                <a:cs typeface="Source Serif 4" pitchFamily="34" charset="-120"/>
              </a:rPr>
              <a:t>%15 daha kısa fren mesafesi</a:t>
            </a:r>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 sunar.</a:t>
            </a:r>
            <a:endParaRPr lang="en-US" sz="1750" dirty="0"/>
          </a:p>
        </p:txBody>
      </p:sp>
      <p:sp>
        <p:nvSpPr>
          <p:cNvPr id="5" name="Shape 3"/>
          <p:cNvSpPr/>
          <p:nvPr/>
        </p:nvSpPr>
        <p:spPr>
          <a:xfrm>
            <a:off x="793790" y="3641288"/>
            <a:ext cx="113348" cy="113348"/>
          </a:xfrm>
          <a:prstGeom prst="roundRect">
            <a:avLst>
              <a:gd name="adj" fmla="val 403360"/>
            </a:avLst>
          </a:prstGeom>
          <a:solidFill>
            <a:srgbClr val="3E2513"/>
          </a:solidFill>
          <a:ln/>
        </p:spPr>
      </p:sp>
      <p:sp>
        <p:nvSpPr>
          <p:cNvPr id="6" name="Text 4"/>
          <p:cNvSpPr/>
          <p:nvPr/>
        </p:nvSpPr>
        <p:spPr>
          <a:xfrm>
            <a:off x="1133951" y="3516511"/>
            <a:ext cx="12702659" cy="362903"/>
          </a:xfrm>
          <a:prstGeom prst="rect">
            <a:avLst/>
          </a:prstGeom>
          <a:noFill/>
          <a:ln/>
        </p:spPr>
        <p:txBody>
          <a:bodyPr wrap="none" lIns="0" tIns="0" rIns="0" bIns="0" rtlCol="0" anchor="t"/>
          <a:lstStyle/>
          <a:p>
            <a:pPr algn="l" indent="0" marL="0">
              <a:lnSpc>
                <a:spcPts val="2850"/>
              </a:lnSpc>
              <a:buNone/>
            </a:pPr>
            <a:r>
              <a:rPr lang="en-US" sz="1750" b="1" dirty="0">
                <a:solidFill>
                  <a:srgbClr val="504C49"/>
                </a:solidFill>
                <a:latin typeface="Source Serif 4" pitchFamily="34" charset="0"/>
                <a:ea typeface="Source Serif 4" pitchFamily="34" charset="-122"/>
                <a:cs typeface="Source Serif 4" pitchFamily="34" charset="-120"/>
              </a:rPr>
              <a:t>H2:</a:t>
            </a:r>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 Lastik diş derinliği arttıkça, </a:t>
            </a:r>
            <a:pPr algn="l" indent="0" marL="0">
              <a:lnSpc>
                <a:spcPts val="2850"/>
              </a:lnSpc>
              <a:buNone/>
            </a:pPr>
            <a:r>
              <a:rPr lang="en-US" sz="1750" dirty="0">
                <a:solidFill>
                  <a:srgbClr val="3E2513"/>
                </a:solidFill>
                <a:latin typeface="Source Serif 4" pitchFamily="34" charset="0"/>
                <a:ea typeface="Source Serif 4" pitchFamily="34" charset="-122"/>
                <a:cs typeface="Source Serif 4" pitchFamily="34" charset="-120"/>
              </a:rPr>
              <a:t>ıslak zemindeki konfor (ses seviyesi) olumsuz etkilenir.</a:t>
            </a:r>
            <a:endParaRPr lang="en-US" sz="1750" dirty="0"/>
          </a:p>
        </p:txBody>
      </p:sp>
      <p:sp>
        <p:nvSpPr>
          <p:cNvPr id="7" name="Shape 5"/>
          <p:cNvSpPr/>
          <p:nvPr/>
        </p:nvSpPr>
        <p:spPr>
          <a:xfrm>
            <a:off x="793790" y="4457819"/>
            <a:ext cx="113348" cy="113348"/>
          </a:xfrm>
          <a:prstGeom prst="roundRect">
            <a:avLst>
              <a:gd name="adj" fmla="val 403360"/>
            </a:avLst>
          </a:prstGeom>
          <a:solidFill>
            <a:srgbClr val="3E2513"/>
          </a:solidFill>
          <a:ln/>
        </p:spPr>
      </p:sp>
      <p:sp>
        <p:nvSpPr>
          <p:cNvPr id="8" name="Text 6"/>
          <p:cNvSpPr/>
          <p:nvPr/>
        </p:nvSpPr>
        <p:spPr>
          <a:xfrm>
            <a:off x="1133951" y="4333042"/>
            <a:ext cx="12702659" cy="362903"/>
          </a:xfrm>
          <a:prstGeom prst="rect">
            <a:avLst/>
          </a:prstGeom>
          <a:noFill/>
          <a:ln/>
        </p:spPr>
        <p:txBody>
          <a:bodyPr wrap="none" lIns="0" tIns="0" rIns="0" bIns="0" rtlCol="0" anchor="t"/>
          <a:lstStyle/>
          <a:p>
            <a:pPr algn="l" indent="0" marL="0">
              <a:lnSpc>
                <a:spcPts val="2850"/>
              </a:lnSpc>
              <a:buNone/>
            </a:pPr>
            <a:r>
              <a:rPr lang="en-US" sz="1750" b="1" dirty="0">
                <a:solidFill>
                  <a:srgbClr val="504C49"/>
                </a:solidFill>
                <a:latin typeface="Source Serif 4" pitchFamily="34" charset="0"/>
                <a:ea typeface="Source Serif 4" pitchFamily="34" charset="-122"/>
                <a:cs typeface="Source Serif 4" pitchFamily="34" charset="-120"/>
              </a:rPr>
              <a:t>H3:</a:t>
            </a:r>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 Yumuşak hamurlu kar lastikleri, buzlu zeminde daha iyi yol tutuş sağlarken </a:t>
            </a:r>
            <a:pPr algn="l" indent="0" marL="0">
              <a:lnSpc>
                <a:spcPts val="2850"/>
              </a:lnSpc>
              <a:buNone/>
            </a:pPr>
            <a:r>
              <a:rPr lang="en-US" sz="1750" dirty="0">
                <a:solidFill>
                  <a:srgbClr val="3E2513"/>
                </a:solidFill>
                <a:latin typeface="Source Serif 4" pitchFamily="34" charset="0"/>
                <a:ea typeface="Source Serif 4" pitchFamily="34" charset="-122"/>
                <a:cs typeface="Source Serif 4" pitchFamily="34" charset="-120"/>
              </a:rPr>
              <a:t>sürüş konforunu artırır.</a:t>
            </a:r>
            <a:endParaRPr lang="en-US" sz="1750" dirty="0"/>
          </a:p>
        </p:txBody>
      </p:sp>
      <p:sp>
        <p:nvSpPr>
          <p:cNvPr id="9" name="Shape 7"/>
          <p:cNvSpPr/>
          <p:nvPr/>
        </p:nvSpPr>
        <p:spPr>
          <a:xfrm>
            <a:off x="793790" y="5274350"/>
            <a:ext cx="113348" cy="113348"/>
          </a:xfrm>
          <a:prstGeom prst="roundRect">
            <a:avLst>
              <a:gd name="adj" fmla="val 403360"/>
            </a:avLst>
          </a:prstGeom>
          <a:solidFill>
            <a:srgbClr val="3E2513"/>
          </a:solidFill>
          <a:ln/>
        </p:spPr>
      </p:sp>
      <p:sp>
        <p:nvSpPr>
          <p:cNvPr id="10" name="Text 8"/>
          <p:cNvSpPr/>
          <p:nvPr/>
        </p:nvSpPr>
        <p:spPr>
          <a:xfrm>
            <a:off x="1133951" y="5149572"/>
            <a:ext cx="12702659" cy="725805"/>
          </a:xfrm>
          <a:prstGeom prst="rect">
            <a:avLst/>
          </a:prstGeom>
          <a:noFill/>
          <a:ln/>
        </p:spPr>
        <p:txBody>
          <a:bodyPr wrap="square" lIns="0" tIns="0" rIns="0" bIns="0" rtlCol="0" anchor="t"/>
          <a:lstStyle/>
          <a:p>
            <a:pPr algn="l" indent="0" marL="0">
              <a:lnSpc>
                <a:spcPts val="2850"/>
              </a:lnSpc>
              <a:buNone/>
            </a:pPr>
            <a:r>
              <a:rPr lang="en-US" sz="1750" b="1" dirty="0">
                <a:solidFill>
                  <a:srgbClr val="504C49"/>
                </a:solidFill>
                <a:latin typeface="Source Serif 4" pitchFamily="34" charset="0"/>
                <a:ea typeface="Source Serif 4" pitchFamily="34" charset="-122"/>
                <a:cs typeface="Source Serif 4" pitchFamily="34" charset="-120"/>
              </a:rPr>
              <a:t>H4:</a:t>
            </a:r>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 Silika oranı yüksek olan lastik markaları, düşük sıcaklıklarda hem güvenlik hem konfor açısından </a:t>
            </a:r>
            <a:pPr algn="l" indent="0" marL="0">
              <a:lnSpc>
                <a:spcPts val="2850"/>
              </a:lnSpc>
              <a:buNone/>
            </a:pPr>
            <a:r>
              <a:rPr lang="en-US" sz="1750" dirty="0">
                <a:solidFill>
                  <a:srgbClr val="3E2513"/>
                </a:solidFill>
                <a:latin typeface="Source Serif 4" pitchFamily="34" charset="0"/>
                <a:ea typeface="Source Serif 4" pitchFamily="34" charset="-122"/>
                <a:cs typeface="Source Serif 4" pitchFamily="34" charset="-120"/>
              </a:rPr>
              <a:t>daha yüksek performans</a:t>
            </a:r>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 sergiler.</a:t>
            </a:r>
            <a:endParaRPr lang="en-US" sz="1750" dirty="0"/>
          </a:p>
        </p:txBody>
      </p:sp>
      <p:sp>
        <p:nvSpPr>
          <p:cNvPr id="11" name="Shape 9"/>
          <p:cNvSpPr/>
          <p:nvPr/>
        </p:nvSpPr>
        <p:spPr>
          <a:xfrm>
            <a:off x="793790" y="6453783"/>
            <a:ext cx="113348" cy="113348"/>
          </a:xfrm>
          <a:prstGeom prst="roundRect">
            <a:avLst>
              <a:gd name="adj" fmla="val 403360"/>
            </a:avLst>
          </a:prstGeom>
          <a:solidFill>
            <a:srgbClr val="3E2513"/>
          </a:solidFill>
          <a:ln/>
        </p:spPr>
      </p:sp>
      <p:sp>
        <p:nvSpPr>
          <p:cNvPr id="12" name="Text 10"/>
          <p:cNvSpPr/>
          <p:nvPr/>
        </p:nvSpPr>
        <p:spPr>
          <a:xfrm>
            <a:off x="1133951" y="6329005"/>
            <a:ext cx="12702659" cy="362903"/>
          </a:xfrm>
          <a:prstGeom prst="rect">
            <a:avLst/>
          </a:prstGeom>
          <a:noFill/>
          <a:ln/>
        </p:spPr>
        <p:txBody>
          <a:bodyPr wrap="none" lIns="0" tIns="0" rIns="0" bIns="0" rtlCol="0" anchor="t"/>
          <a:lstStyle/>
          <a:p>
            <a:pPr algn="l" indent="0" marL="0">
              <a:lnSpc>
                <a:spcPts val="2850"/>
              </a:lnSpc>
              <a:buNone/>
            </a:pPr>
            <a:r>
              <a:rPr lang="en-US" sz="1750" b="1" dirty="0">
                <a:solidFill>
                  <a:srgbClr val="504C49"/>
                </a:solidFill>
                <a:latin typeface="Source Serif 4" pitchFamily="34" charset="0"/>
                <a:ea typeface="Source Serif 4" pitchFamily="34" charset="-122"/>
                <a:cs typeface="Source Serif 4" pitchFamily="34" charset="-120"/>
              </a:rPr>
              <a:t>H5:</a:t>
            </a:r>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 Markaların gürültü azaltma teknolojileri, güvenlik performansından bağımsız olarak </a:t>
            </a:r>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konfor puanını %20 artırır.</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21638" y="566976"/>
            <a:ext cx="9012674" cy="644366"/>
          </a:xfrm>
          <a:prstGeom prst="rect">
            <a:avLst/>
          </a:prstGeom>
          <a:noFill/>
          <a:ln/>
        </p:spPr>
        <p:txBody>
          <a:bodyPr wrap="none" lIns="0" tIns="0" rIns="0" bIns="0" rtlCol="0" anchor="t"/>
          <a:lstStyle/>
          <a:p>
            <a:pPr algn="l" indent="0" marL="0">
              <a:lnSpc>
                <a:spcPts val="5050"/>
              </a:lnSpc>
              <a:buNone/>
            </a:pPr>
            <a:r>
              <a:rPr lang="en-US" sz="4050" dirty="0">
                <a:solidFill>
                  <a:srgbClr val="201B18"/>
                </a:solidFill>
                <a:latin typeface="Platypi Medium" pitchFamily="34" charset="0"/>
                <a:ea typeface="Platypi Medium" pitchFamily="34" charset="-122"/>
                <a:cs typeface="Platypi Medium" pitchFamily="34" charset="-120"/>
              </a:rPr>
              <a:t>BEKLENEN SONUÇLAR VE ETKİLER</a:t>
            </a:r>
            <a:endParaRPr lang="en-US" sz="4050" dirty="0"/>
          </a:p>
        </p:txBody>
      </p:sp>
      <p:pic>
        <p:nvPicPr>
          <p:cNvPr id="3" name="Image 0" descr="preencoded.png">    </p:cNvPr>
          <p:cNvPicPr>
            <a:picLocks noChangeAspect="1"/>
          </p:cNvPicPr>
          <p:nvPr/>
        </p:nvPicPr>
        <p:blipFill>
          <a:blip r:embed="rId1"/>
          <a:stretch>
            <a:fillRect/>
          </a:stretch>
        </p:blipFill>
        <p:spPr>
          <a:xfrm>
            <a:off x="721638" y="1752481"/>
            <a:ext cx="6342102" cy="6342102"/>
          </a:xfrm>
          <a:prstGeom prst="rect">
            <a:avLst/>
          </a:prstGeom>
        </p:spPr>
      </p:pic>
      <p:sp>
        <p:nvSpPr>
          <p:cNvPr id="4" name="Text 1"/>
          <p:cNvSpPr/>
          <p:nvPr/>
        </p:nvSpPr>
        <p:spPr>
          <a:xfrm>
            <a:off x="7574280" y="1706047"/>
            <a:ext cx="6342102" cy="659844"/>
          </a:xfrm>
          <a:prstGeom prst="rect">
            <a:avLst/>
          </a:prstGeom>
          <a:noFill/>
          <a:ln/>
        </p:spPr>
        <p:txBody>
          <a:bodyPr wrap="square" lIns="0" tIns="0" rIns="0" bIns="0" rtlCol="0" anchor="t"/>
          <a:lstStyle/>
          <a:p>
            <a:pPr algn="l" marL="342900" indent="-342900">
              <a:lnSpc>
                <a:spcPts val="2550"/>
              </a:lnSpc>
              <a:buSzPct val="100000"/>
              <a:buChar char="•"/>
            </a:pPr>
            <a:r>
              <a:rPr lang="en-US" sz="1600" dirty="0">
                <a:solidFill>
                  <a:srgbClr val="504C49"/>
                </a:solidFill>
                <a:latin typeface="Source Serif 4" pitchFamily="34" charset="0"/>
                <a:ea typeface="Source Serif 4" pitchFamily="34" charset="-122"/>
                <a:cs typeface="Source Serif 4" pitchFamily="34" charset="-120"/>
              </a:rPr>
              <a:t>Tüketicilerin kış lastiği seçiminde daha </a:t>
            </a:r>
            <a:pPr algn="l" indent="0" marL="0">
              <a:lnSpc>
                <a:spcPts val="2550"/>
              </a:lnSpc>
              <a:buNone/>
            </a:pPr>
            <a:r>
              <a:rPr lang="en-US" sz="1600" dirty="0">
                <a:solidFill>
                  <a:srgbClr val="3E2513"/>
                </a:solidFill>
                <a:latin typeface="Source Serif 4" pitchFamily="34" charset="0"/>
                <a:ea typeface="Source Serif 4" pitchFamily="34" charset="-122"/>
                <a:cs typeface="Source Serif 4" pitchFamily="34" charset="-120"/>
              </a:rPr>
              <a:t>bilinçli kararlar</a:t>
            </a:r>
            <a:pPr algn="l" indent="0" marL="0">
              <a:lnSpc>
                <a:spcPts val="2550"/>
              </a:lnSpc>
              <a:buNone/>
            </a:pPr>
            <a:r>
              <a:rPr lang="en-US" sz="1600" dirty="0">
                <a:solidFill>
                  <a:srgbClr val="504C49"/>
                </a:solidFill>
                <a:latin typeface="Source Serif 4" pitchFamily="34" charset="0"/>
                <a:ea typeface="Source Serif 4" pitchFamily="34" charset="-122"/>
                <a:cs typeface="Source Serif 4" pitchFamily="34" charset="-120"/>
              </a:rPr>
              <a:t> almasına yardımcı olmak.</a:t>
            </a:r>
            <a:endParaRPr lang="en-US" sz="1600" dirty="0"/>
          </a:p>
        </p:txBody>
      </p:sp>
      <p:sp>
        <p:nvSpPr>
          <p:cNvPr id="5" name="Text 2"/>
          <p:cNvSpPr/>
          <p:nvPr/>
        </p:nvSpPr>
        <p:spPr>
          <a:xfrm>
            <a:off x="7574280" y="2438043"/>
            <a:ext cx="6342102" cy="659844"/>
          </a:xfrm>
          <a:prstGeom prst="rect">
            <a:avLst/>
          </a:prstGeom>
          <a:noFill/>
          <a:ln/>
        </p:spPr>
        <p:txBody>
          <a:bodyPr wrap="square" lIns="0" tIns="0" rIns="0" bIns="0" rtlCol="0" anchor="t"/>
          <a:lstStyle/>
          <a:p>
            <a:pPr algn="l" marL="342900" indent="-342900">
              <a:lnSpc>
                <a:spcPts val="2550"/>
              </a:lnSpc>
              <a:buSzPct val="100000"/>
              <a:buChar char="•"/>
            </a:pPr>
            <a:r>
              <a:rPr lang="en-US" sz="1600" dirty="0">
                <a:solidFill>
                  <a:srgbClr val="504C49"/>
                </a:solidFill>
                <a:latin typeface="Source Serif 4" pitchFamily="34" charset="0"/>
                <a:ea typeface="Source Serif 4" pitchFamily="34" charset="-122"/>
                <a:cs typeface="Source Serif 4" pitchFamily="34" charset="-120"/>
              </a:rPr>
              <a:t>Lastik üreticilerine, güvenlik ve konforu dengeleyen </a:t>
            </a:r>
            <a:pPr algn="l" indent="0" marL="0">
              <a:lnSpc>
                <a:spcPts val="2550"/>
              </a:lnSpc>
              <a:buNone/>
            </a:pPr>
            <a:r>
              <a:rPr lang="en-US" sz="1600" dirty="0">
                <a:solidFill>
                  <a:srgbClr val="3E2513"/>
                </a:solidFill>
                <a:latin typeface="Source Serif 4" pitchFamily="34" charset="0"/>
                <a:ea typeface="Source Serif 4" pitchFamily="34" charset="-122"/>
                <a:cs typeface="Source Serif 4" pitchFamily="34" charset="-120"/>
              </a:rPr>
              <a:t>yeni ürün geliştirme süreçleri</a:t>
            </a:r>
            <a:pPr algn="l" indent="0" marL="0">
              <a:lnSpc>
                <a:spcPts val="2550"/>
              </a:lnSpc>
              <a:buNone/>
            </a:pPr>
            <a:r>
              <a:rPr lang="en-US" sz="1600" dirty="0">
                <a:solidFill>
                  <a:srgbClr val="504C49"/>
                </a:solidFill>
                <a:latin typeface="Source Serif 4" pitchFamily="34" charset="0"/>
                <a:ea typeface="Source Serif 4" pitchFamily="34" charset="-122"/>
                <a:cs typeface="Source Serif 4" pitchFamily="34" charset="-120"/>
              </a:rPr>
              <a:t> için geri bildirim sağlamak.</a:t>
            </a:r>
            <a:endParaRPr lang="en-US" sz="1600" dirty="0"/>
          </a:p>
        </p:txBody>
      </p:sp>
      <p:sp>
        <p:nvSpPr>
          <p:cNvPr id="6" name="Text 3"/>
          <p:cNvSpPr/>
          <p:nvPr/>
        </p:nvSpPr>
        <p:spPr>
          <a:xfrm>
            <a:off x="7574280" y="3170039"/>
            <a:ext cx="6342102" cy="659844"/>
          </a:xfrm>
          <a:prstGeom prst="rect">
            <a:avLst/>
          </a:prstGeom>
          <a:noFill/>
          <a:ln/>
        </p:spPr>
        <p:txBody>
          <a:bodyPr wrap="square" lIns="0" tIns="0" rIns="0" bIns="0" rtlCol="0" anchor="t"/>
          <a:lstStyle/>
          <a:p>
            <a:pPr algn="l" marL="342900" indent="-342900">
              <a:lnSpc>
                <a:spcPts val="2550"/>
              </a:lnSpc>
              <a:buSzPct val="100000"/>
              <a:buChar char="•"/>
            </a:pPr>
            <a:r>
              <a:rPr lang="en-US" sz="1600" dirty="0">
                <a:solidFill>
                  <a:srgbClr val="504C49"/>
                </a:solidFill>
                <a:latin typeface="Source Serif 4" pitchFamily="34" charset="0"/>
                <a:ea typeface="Source Serif 4" pitchFamily="34" charset="-122"/>
                <a:cs typeface="Source Serif 4" pitchFamily="34" charset="-120"/>
              </a:rPr>
              <a:t>Kış sürüş güvenliği konusunda </a:t>
            </a:r>
            <a:pPr algn="l" indent="0" marL="0">
              <a:lnSpc>
                <a:spcPts val="2550"/>
              </a:lnSpc>
              <a:buNone/>
            </a:pPr>
            <a:r>
              <a:rPr lang="en-US" sz="1600" dirty="0">
                <a:solidFill>
                  <a:srgbClr val="3E2513"/>
                </a:solidFill>
                <a:latin typeface="Source Serif 4" pitchFamily="34" charset="0"/>
                <a:ea typeface="Source Serif 4" pitchFamily="34" charset="-122"/>
                <a:cs typeface="Source Serif 4" pitchFamily="34" charset="-120"/>
              </a:rPr>
              <a:t>farkındalığı artırmak</a:t>
            </a:r>
            <a:pPr algn="l" indent="0" marL="0">
              <a:lnSpc>
                <a:spcPts val="2550"/>
              </a:lnSpc>
              <a:buNone/>
            </a:pPr>
            <a:r>
              <a:rPr lang="en-US" sz="1600" dirty="0">
                <a:solidFill>
                  <a:srgbClr val="504C49"/>
                </a:solidFill>
                <a:latin typeface="Source Serif 4" pitchFamily="34" charset="0"/>
                <a:ea typeface="Source Serif 4" pitchFamily="34" charset="-122"/>
                <a:cs typeface="Source Serif 4" pitchFamily="34" charset="-120"/>
              </a:rPr>
              <a:t> ve kaza oranlarının düşürülmesine katkıda bulunmak.</a:t>
            </a:r>
            <a:endParaRPr lang="en-US" sz="1600" dirty="0"/>
          </a:p>
        </p:txBody>
      </p:sp>
      <p:sp>
        <p:nvSpPr>
          <p:cNvPr id="7" name="Text 4"/>
          <p:cNvSpPr/>
          <p:nvPr/>
        </p:nvSpPr>
        <p:spPr>
          <a:xfrm>
            <a:off x="7574280" y="3902035"/>
            <a:ext cx="6342102" cy="659844"/>
          </a:xfrm>
          <a:prstGeom prst="rect">
            <a:avLst/>
          </a:prstGeom>
          <a:noFill/>
          <a:ln/>
        </p:spPr>
        <p:txBody>
          <a:bodyPr wrap="square" lIns="0" tIns="0" rIns="0" bIns="0" rtlCol="0" anchor="t"/>
          <a:lstStyle/>
          <a:p>
            <a:pPr algn="l" marL="342900" indent="-342900">
              <a:lnSpc>
                <a:spcPts val="2550"/>
              </a:lnSpc>
              <a:buSzPct val="100000"/>
              <a:buChar char="•"/>
            </a:pPr>
            <a:r>
              <a:rPr lang="en-US" sz="1600" dirty="0">
                <a:solidFill>
                  <a:srgbClr val="504C49"/>
                </a:solidFill>
                <a:latin typeface="Source Serif 4" pitchFamily="34" charset="0"/>
                <a:ea typeface="Source Serif 4" pitchFamily="34" charset="-122"/>
                <a:cs typeface="Source Serif 4" pitchFamily="34" charset="-120"/>
              </a:rPr>
              <a:t>Akademik alanda kış lastiği performansı üzerine yapılacak </a:t>
            </a:r>
            <a:pPr algn="l" indent="0" marL="0">
              <a:lnSpc>
                <a:spcPts val="2550"/>
              </a:lnSpc>
              <a:buNone/>
            </a:pPr>
            <a:r>
              <a:rPr lang="en-US" sz="1600" dirty="0">
                <a:solidFill>
                  <a:srgbClr val="3E2513"/>
                </a:solidFill>
                <a:latin typeface="Source Serif 4" pitchFamily="34" charset="0"/>
                <a:ea typeface="Source Serif 4" pitchFamily="34" charset="-122"/>
                <a:cs typeface="Source Serif 4" pitchFamily="34" charset="-120"/>
              </a:rPr>
              <a:t>gelecek araştırmalar</a:t>
            </a:r>
            <a:pPr algn="l" indent="0" marL="0">
              <a:lnSpc>
                <a:spcPts val="2550"/>
              </a:lnSpc>
              <a:buNone/>
            </a:pPr>
            <a:r>
              <a:rPr lang="en-US" sz="1600" dirty="0">
                <a:solidFill>
                  <a:srgbClr val="504C49"/>
                </a:solidFill>
                <a:latin typeface="Source Serif 4" pitchFamily="34" charset="0"/>
                <a:ea typeface="Source Serif 4" pitchFamily="34" charset="-122"/>
                <a:cs typeface="Source Serif 4" pitchFamily="34" charset="-120"/>
              </a:rPr>
              <a:t> için temel oluşturmak.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617226"/>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KAYNAKÇA</a:t>
            </a:r>
            <a:endParaRPr lang="en-US" sz="4450" dirty="0"/>
          </a:p>
        </p:txBody>
      </p:sp>
      <p:sp>
        <p:nvSpPr>
          <p:cNvPr id="4" name="Text 1"/>
          <p:cNvSpPr/>
          <p:nvPr/>
        </p:nvSpPr>
        <p:spPr>
          <a:xfrm>
            <a:off x="6280190" y="2666167"/>
            <a:ext cx="75564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504C49"/>
                </a:solidFill>
                <a:latin typeface="Source Serif 4" pitchFamily="34" charset="0"/>
                <a:ea typeface="Source Serif 4" pitchFamily="34" charset="-122"/>
                <a:cs typeface="Source Serif 4" pitchFamily="34" charset="-120"/>
              </a:rPr>
              <a:t>ADAC Motorwelt Winter Tyre Tests (2023-2024):</a:t>
            </a:r>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 Güncel lastik test verileri ve karşılaştırmaları.</a:t>
            </a:r>
            <a:endParaRPr lang="en-US" sz="1750" dirty="0"/>
          </a:p>
        </p:txBody>
      </p:sp>
      <p:sp>
        <p:nvSpPr>
          <p:cNvPr id="5" name="Text 2"/>
          <p:cNvSpPr/>
          <p:nvPr/>
        </p:nvSpPr>
        <p:spPr>
          <a:xfrm>
            <a:off x="6280190" y="3471267"/>
            <a:ext cx="75564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504C49"/>
                </a:solidFill>
                <a:latin typeface="Source Serif 4" pitchFamily="34" charset="0"/>
                <a:ea typeface="Source Serif 4" pitchFamily="34" charset="-122"/>
                <a:cs typeface="Source Serif 4" pitchFamily="34" charset="-120"/>
              </a:rPr>
              <a:t>Tyre Reviews - Independent Testing Data:</a:t>
            </a:r>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 Bağımsız lastik değerlendirme ve performans analizleri.</a:t>
            </a:r>
            <a:endParaRPr lang="en-US" sz="1750" dirty="0"/>
          </a:p>
        </p:txBody>
      </p:sp>
      <p:sp>
        <p:nvSpPr>
          <p:cNvPr id="6" name="Text 3"/>
          <p:cNvSpPr/>
          <p:nvPr/>
        </p:nvSpPr>
        <p:spPr>
          <a:xfrm>
            <a:off x="6280190" y="4276368"/>
            <a:ext cx="7556421" cy="1088708"/>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504C49"/>
                </a:solidFill>
                <a:latin typeface="Source Serif 4" pitchFamily="34" charset="0"/>
                <a:ea typeface="Source Serif 4" pitchFamily="34" charset="-122"/>
                <a:cs typeface="Source Serif 4" pitchFamily="34" charset="-120"/>
              </a:rPr>
              <a:t>Academic Research: "Impact of Tyre Compound on Winter Driving Safety":</a:t>
            </a:r>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 Lastik bileşiminin kış sürüş güvenliğine etkileri üzerine bilimsel makaleler.</a:t>
            </a:r>
            <a:endParaRPr lang="en-US" sz="1750" dirty="0"/>
          </a:p>
        </p:txBody>
      </p:sp>
      <p:sp>
        <p:nvSpPr>
          <p:cNvPr id="7" name="Text 4"/>
          <p:cNvSpPr/>
          <p:nvPr/>
        </p:nvSpPr>
        <p:spPr>
          <a:xfrm>
            <a:off x="6280190" y="5444371"/>
            <a:ext cx="75564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504C49"/>
                </a:solidFill>
                <a:latin typeface="Source Serif 4" pitchFamily="34" charset="0"/>
                <a:ea typeface="Source Serif 4" pitchFamily="34" charset="-122"/>
                <a:cs typeface="Source Serif 4" pitchFamily="34" charset="-120"/>
              </a:rPr>
              <a:t>AI Assistance: OpenAI &amp; Gemini Research Tools:</a:t>
            </a:r>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 Yapay zeka destekli araştırma ve veri analiz araçları.</a:t>
            </a:r>
            <a:endParaRPr lang="en-US" sz="1750" dirty="0"/>
          </a:p>
        </p:txBody>
      </p:sp>
      <p:sp>
        <p:nvSpPr>
          <p:cNvPr id="8" name="Text 5"/>
          <p:cNvSpPr/>
          <p:nvPr/>
        </p:nvSpPr>
        <p:spPr>
          <a:xfrm>
            <a:off x="6280190" y="6249472"/>
            <a:ext cx="7556421"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504C49"/>
                </a:solidFill>
                <a:latin typeface="Source Serif 4" pitchFamily="34" charset="0"/>
                <a:ea typeface="Source Serif 4" pitchFamily="34" charset="-122"/>
                <a:cs typeface="Source Serif 4" pitchFamily="34" charset="-120"/>
              </a:rPr>
              <a:t>Ek Kaynak:</a:t>
            </a:r>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 </a:t>
            </a:r>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https://www.gamma.app</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4074438"/>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YAPANLAR</a:t>
            </a:r>
            <a:endParaRPr lang="en-US" sz="4450" dirty="0"/>
          </a:p>
        </p:txBody>
      </p:sp>
      <p:sp>
        <p:nvSpPr>
          <p:cNvPr id="4" name="Shape 1"/>
          <p:cNvSpPr/>
          <p:nvPr/>
        </p:nvSpPr>
        <p:spPr>
          <a:xfrm>
            <a:off x="793790" y="5123378"/>
            <a:ext cx="6407944" cy="1866900"/>
          </a:xfrm>
          <a:prstGeom prst="roundRect">
            <a:avLst>
              <a:gd name="adj" fmla="val 1822"/>
            </a:avLst>
          </a:prstGeom>
          <a:solidFill>
            <a:srgbClr val="FFFFFF"/>
          </a:solidFill>
          <a:ln w="30480">
            <a:solidFill>
              <a:srgbClr val="D8D4D4"/>
            </a:solidFill>
            <a:prstDash val="solid"/>
          </a:ln>
        </p:spPr>
      </p:sp>
      <p:sp>
        <p:nvSpPr>
          <p:cNvPr id="5" name="Text 2"/>
          <p:cNvSpPr/>
          <p:nvPr/>
        </p:nvSpPr>
        <p:spPr>
          <a:xfrm>
            <a:off x="1051084" y="538067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360125051</a:t>
            </a:r>
            <a:endParaRPr lang="en-US" sz="2200" dirty="0"/>
          </a:p>
        </p:txBody>
      </p:sp>
      <p:sp>
        <p:nvSpPr>
          <p:cNvPr id="6" name="Text 3"/>
          <p:cNvSpPr/>
          <p:nvPr/>
        </p:nvSpPr>
        <p:spPr>
          <a:xfrm>
            <a:off x="1051084" y="5871091"/>
            <a:ext cx="5893356" cy="362903"/>
          </a:xfrm>
          <a:prstGeom prst="rect">
            <a:avLst/>
          </a:prstGeom>
          <a:noFill/>
          <a:ln/>
        </p:spPr>
        <p:txBody>
          <a:bodyPr wrap="none" lIns="0" tIns="0" rIns="0" bIns="0" rtlCol="0" anchor="t"/>
          <a:lstStyle/>
          <a:p>
            <a:pPr algn="l" indent="0" marL="0">
              <a:lnSpc>
                <a:spcPts val="2850"/>
              </a:lnSpc>
              <a:buNone/>
            </a:pPr>
            <a:r>
              <a:rPr lang="en-US" sz="1750" b="1" dirty="0">
                <a:solidFill>
                  <a:srgbClr val="504C49"/>
                </a:solidFill>
                <a:latin typeface="Source Serif 4" pitchFamily="34" charset="0"/>
                <a:ea typeface="Source Serif 4" pitchFamily="34" charset="-122"/>
                <a:cs typeface="Source Serif 4" pitchFamily="34" charset="-120"/>
              </a:rPr>
              <a:t>MUSTAFA ERAYDIN</a:t>
            </a:r>
            <a:endParaRPr lang="en-US" sz="1750" dirty="0"/>
          </a:p>
        </p:txBody>
      </p:sp>
      <p:sp>
        <p:nvSpPr>
          <p:cNvPr id="7" name="Text 4"/>
          <p:cNvSpPr/>
          <p:nvPr/>
        </p:nvSpPr>
        <p:spPr>
          <a:xfrm>
            <a:off x="1051084" y="6370082"/>
            <a:ext cx="5893356" cy="362903"/>
          </a:xfrm>
          <a:prstGeom prst="rect">
            <a:avLst/>
          </a:prstGeom>
          <a:noFill/>
          <a:ln/>
        </p:spPr>
        <p:txBody>
          <a:bodyPr wrap="none" lIns="0" tIns="0" rIns="0" bIns="0" rtlCol="0" anchor="t"/>
          <a:lstStyle/>
          <a:p>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Araştırma ve Veri Analizi</a:t>
            </a:r>
            <a:endParaRPr lang="en-US" sz="1750" dirty="0"/>
          </a:p>
        </p:txBody>
      </p:sp>
      <p:sp>
        <p:nvSpPr>
          <p:cNvPr id="8" name="Shape 5"/>
          <p:cNvSpPr/>
          <p:nvPr/>
        </p:nvSpPr>
        <p:spPr>
          <a:xfrm>
            <a:off x="7428548" y="5123378"/>
            <a:ext cx="6408063" cy="1866900"/>
          </a:xfrm>
          <a:prstGeom prst="roundRect">
            <a:avLst>
              <a:gd name="adj" fmla="val 1822"/>
            </a:avLst>
          </a:prstGeom>
          <a:solidFill>
            <a:srgbClr val="FFFFFF"/>
          </a:solidFill>
          <a:ln w="30480">
            <a:solidFill>
              <a:srgbClr val="D8D4D4"/>
            </a:solidFill>
            <a:prstDash val="solid"/>
          </a:ln>
        </p:spPr>
      </p:sp>
      <p:sp>
        <p:nvSpPr>
          <p:cNvPr id="9" name="Text 6"/>
          <p:cNvSpPr/>
          <p:nvPr/>
        </p:nvSpPr>
        <p:spPr>
          <a:xfrm>
            <a:off x="7685842" y="538067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360125050</a:t>
            </a:r>
            <a:endParaRPr lang="en-US" sz="2200" dirty="0"/>
          </a:p>
        </p:txBody>
      </p:sp>
      <p:sp>
        <p:nvSpPr>
          <p:cNvPr id="10" name="Text 7"/>
          <p:cNvSpPr/>
          <p:nvPr/>
        </p:nvSpPr>
        <p:spPr>
          <a:xfrm>
            <a:off x="7685842" y="5871091"/>
            <a:ext cx="5893475" cy="362903"/>
          </a:xfrm>
          <a:prstGeom prst="rect">
            <a:avLst/>
          </a:prstGeom>
          <a:noFill/>
          <a:ln/>
        </p:spPr>
        <p:txBody>
          <a:bodyPr wrap="none" lIns="0" tIns="0" rIns="0" bIns="0" rtlCol="0" anchor="t"/>
          <a:lstStyle/>
          <a:p>
            <a:pPr algn="l" indent="0" marL="0">
              <a:lnSpc>
                <a:spcPts val="2850"/>
              </a:lnSpc>
              <a:buNone/>
            </a:pPr>
            <a:r>
              <a:rPr lang="en-US" sz="1750" b="1" dirty="0">
                <a:solidFill>
                  <a:srgbClr val="504C49"/>
                </a:solidFill>
                <a:latin typeface="Source Serif 4" pitchFamily="34" charset="0"/>
                <a:ea typeface="Source Serif 4" pitchFamily="34" charset="-122"/>
                <a:cs typeface="Source Serif 4" pitchFamily="34" charset="-120"/>
              </a:rPr>
              <a:t>ŞEVKİ BİLGİÇ</a:t>
            </a:r>
            <a:endParaRPr lang="en-US" sz="1750" dirty="0"/>
          </a:p>
        </p:txBody>
      </p:sp>
      <p:sp>
        <p:nvSpPr>
          <p:cNvPr id="11" name="Text 8"/>
          <p:cNvSpPr/>
          <p:nvPr/>
        </p:nvSpPr>
        <p:spPr>
          <a:xfrm>
            <a:off x="7685842" y="6370082"/>
            <a:ext cx="5893475" cy="362903"/>
          </a:xfrm>
          <a:prstGeom prst="rect">
            <a:avLst/>
          </a:prstGeom>
          <a:noFill/>
          <a:ln/>
        </p:spPr>
        <p:txBody>
          <a:bodyPr wrap="none" lIns="0" tIns="0" rIns="0" bIns="0" rtlCol="0" anchor="t"/>
          <a:lstStyle/>
          <a:p>
            <a:pPr algn="l" indent="0" marL="0">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Konsept Geliştirme ve Sunum Tasarımı</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2025-12-29T11:08:47Z</dcterms:created>
  <dcterms:modified xsi:type="dcterms:W3CDTF">2025-12-29T11:08:47Z</dcterms:modified>
</cp:coreProperties>
</file>