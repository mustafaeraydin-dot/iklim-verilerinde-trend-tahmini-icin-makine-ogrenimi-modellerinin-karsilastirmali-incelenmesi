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4630400" cy="8229600"/>
  <p:notesSz cx="8229600" cy="14630400"/>
  <p:embeddedFontLst>
    <p:embeddedFont>
      <p:font typeface="Platypi Medium"/>
      <p:regular r:id="rId16"/>
    </p:embeddedFont>
    <p:embeddedFont>
      <p:font typeface="Platypi Medium"/>
      <p:regular r:id="rId17"/>
    </p:embeddedFont>
    <p:embeddedFont>
      <p:font typeface="Platypi Medium"/>
      <p:regular r:id="rId18"/>
    </p:embeddedFont>
    <p:embeddedFont>
      <p:font typeface="Platypi Medium"/>
      <p:regular r:id="rId19"/>
    </p:embeddedFont>
    <p:embeddedFont>
      <p:font typeface="Source Serif 4"/>
      <p:regular r:id="rId20"/>
    </p:embeddedFont>
    <p:embeddedFont>
      <p:font typeface="Source Serif 4"/>
      <p:regular r:id="rId21"/>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3-1.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4-1.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5-1.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6-1.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7-1.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8-1.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9-1.pn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0-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image" Target="../media/image-6-4.png"/><Relationship Id="rId5" Type="http://schemas.openxmlformats.org/officeDocument/2006/relationships/image" Target="../media/image-6-5.svg"/><Relationship Id="rId6" Type="http://schemas.openxmlformats.org/officeDocument/2006/relationships/slideLayout" Target="../slideLayouts/slideLayout7.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8.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0.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2345650"/>
            <a:ext cx="7556421" cy="2835116"/>
          </a:xfrm>
          <a:prstGeom prst="rect">
            <a:avLst/>
          </a:prstGeom>
          <a:noFill/>
          <a:ln/>
        </p:spPr>
        <p:txBody>
          <a:bodyPr wrap="squar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KAR LASTİĞİ MARKALARININ KONFOR VE GÜVENLİK AÇISINDAN KIYASLANMASI</a:t>
            </a:r>
            <a:endParaRPr lang="en-US" sz="4450" dirty="0"/>
          </a:p>
        </p:txBody>
      </p:sp>
      <p:sp>
        <p:nvSpPr>
          <p:cNvPr id="4" name="Text 1"/>
          <p:cNvSpPr/>
          <p:nvPr/>
        </p:nvSpPr>
        <p:spPr>
          <a:xfrm>
            <a:off x="6280190" y="5520928"/>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Mini Proje 2 (MP2): Literatür Taraması ve Kavramsal Çerçeve</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835235"/>
          </a:xfrm>
          <a:prstGeom prst="rect">
            <a:avLst/>
          </a:prstGeom>
        </p:spPr>
      </p:pic>
      <p:sp>
        <p:nvSpPr>
          <p:cNvPr id="3" name="Text 0"/>
          <p:cNvSpPr/>
          <p:nvPr/>
        </p:nvSpPr>
        <p:spPr>
          <a:xfrm>
            <a:off x="793790" y="3927753"/>
            <a:ext cx="13042821" cy="1417558"/>
          </a:xfrm>
          <a:prstGeom prst="rect">
            <a:avLst/>
          </a:prstGeom>
          <a:noFill/>
          <a:ln/>
        </p:spPr>
        <p:txBody>
          <a:bodyPr wrap="squar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KONU TANITIMI: Kış Lastiklerinin Kapsamlı Değerlendirmesi</a:t>
            </a:r>
            <a:endParaRPr lang="en-US" sz="4450" dirty="0"/>
          </a:p>
        </p:txBody>
      </p:sp>
      <p:sp>
        <p:nvSpPr>
          <p:cNvPr id="4" name="Text 1"/>
          <p:cNvSpPr/>
          <p:nvPr/>
        </p:nvSpPr>
        <p:spPr>
          <a:xfrm>
            <a:off x="793790" y="5685473"/>
            <a:ext cx="13042821" cy="1451610"/>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Bu çalışma, kış mevsiminde araç kullanım yoğunluğunun arttığı bölgelerde, farklı lastik markalarının sunduğu teknik özelliklerin kullanıcı güvenliği ve sürüş konforu üzerindeki etkilerini derinlemesine incelemektedir. Araştırma, sadece mekanik verileri değil, aynı zamanda sürücü deneyimini doğrudan etkileyen akustik ve vibrasyonel unsurları da kapsayarak bütüncül bir bakış açısı sunmaktadır.</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34839"/>
          </a:xfrm>
          <a:prstGeom prst="rect">
            <a:avLst/>
          </a:prstGeom>
        </p:spPr>
      </p:pic>
      <p:sp>
        <p:nvSpPr>
          <p:cNvPr id="3" name="Text 0"/>
          <p:cNvSpPr/>
          <p:nvPr/>
        </p:nvSpPr>
        <p:spPr>
          <a:xfrm>
            <a:off x="640794" y="503515"/>
            <a:ext cx="7862411" cy="1144429"/>
          </a:xfrm>
          <a:prstGeom prst="rect">
            <a:avLst/>
          </a:prstGeom>
          <a:noFill/>
          <a:ln/>
        </p:spPr>
        <p:txBody>
          <a:bodyPr wrap="square" lIns="0" tIns="0" rIns="0" bIns="0" rtlCol="0" anchor="t"/>
          <a:lstStyle/>
          <a:p>
            <a:pPr algn="l" indent="0" marL="0">
              <a:lnSpc>
                <a:spcPts val="4500"/>
              </a:lnSpc>
              <a:buNone/>
            </a:pPr>
            <a:r>
              <a:rPr lang="en-US" sz="3600" dirty="0">
                <a:solidFill>
                  <a:srgbClr val="201B18"/>
                </a:solidFill>
                <a:latin typeface="Platypi Medium" pitchFamily="34" charset="0"/>
                <a:ea typeface="Platypi Medium" pitchFamily="34" charset="-122"/>
                <a:cs typeface="Platypi Medium" pitchFamily="34" charset="-120"/>
              </a:rPr>
              <a:t>TEMEL KAVRAMLAR VE DEĞİŞKENLER</a:t>
            </a:r>
            <a:endParaRPr lang="en-US" sz="3600" dirty="0"/>
          </a:p>
        </p:txBody>
      </p:sp>
      <p:sp>
        <p:nvSpPr>
          <p:cNvPr id="4" name="Shape 1"/>
          <p:cNvSpPr/>
          <p:nvPr/>
        </p:nvSpPr>
        <p:spPr>
          <a:xfrm>
            <a:off x="640794" y="1922502"/>
            <a:ext cx="7862411" cy="2171224"/>
          </a:xfrm>
          <a:prstGeom prst="roundRect">
            <a:avLst>
              <a:gd name="adj" fmla="val 1265"/>
            </a:avLst>
          </a:prstGeom>
          <a:solidFill>
            <a:srgbClr val="FFFFFF"/>
          </a:solidFill>
          <a:ln w="22860">
            <a:solidFill>
              <a:srgbClr val="D8D4D4"/>
            </a:solidFill>
            <a:prstDash val="solid"/>
          </a:ln>
        </p:spPr>
      </p:sp>
      <p:sp>
        <p:nvSpPr>
          <p:cNvPr id="5" name="Shape 2"/>
          <p:cNvSpPr/>
          <p:nvPr/>
        </p:nvSpPr>
        <p:spPr>
          <a:xfrm>
            <a:off x="663654" y="1945362"/>
            <a:ext cx="732353" cy="2125504"/>
          </a:xfrm>
          <a:prstGeom prst="roundRect">
            <a:avLst>
              <a:gd name="adj" fmla="val 5"/>
            </a:avLst>
          </a:prstGeom>
          <a:solidFill>
            <a:srgbClr val="F9F7F7"/>
          </a:solidFill>
          <a:ln/>
        </p:spPr>
      </p:sp>
      <p:sp>
        <p:nvSpPr>
          <p:cNvPr id="6" name="Text 3"/>
          <p:cNvSpPr/>
          <p:nvPr/>
        </p:nvSpPr>
        <p:spPr>
          <a:xfrm>
            <a:off x="892493" y="2836426"/>
            <a:ext cx="274558" cy="343257"/>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1</a:t>
            </a:r>
            <a:endParaRPr lang="en-US" sz="2150" dirty="0"/>
          </a:p>
        </p:txBody>
      </p:sp>
      <p:sp>
        <p:nvSpPr>
          <p:cNvPr id="7" name="Text 4"/>
          <p:cNvSpPr/>
          <p:nvPr/>
        </p:nvSpPr>
        <p:spPr>
          <a:xfrm>
            <a:off x="1579007" y="2128361"/>
            <a:ext cx="2288738" cy="285988"/>
          </a:xfrm>
          <a:prstGeom prst="rect">
            <a:avLst/>
          </a:prstGeom>
          <a:noFill/>
          <a:ln/>
        </p:spPr>
        <p:txBody>
          <a:bodyPr wrap="none" lIns="0" tIns="0" rIns="0" bIns="0" rtlCol="0" anchor="t"/>
          <a:lstStyle/>
          <a:p>
            <a:pPr algn="l" indent="0" marL="0">
              <a:lnSpc>
                <a:spcPts val="2250"/>
              </a:lnSpc>
              <a:buNone/>
            </a:pPr>
            <a:r>
              <a:rPr lang="en-US" sz="1800" dirty="0">
                <a:solidFill>
                  <a:srgbClr val="504C49"/>
                </a:solidFill>
                <a:latin typeface="Platypi Medium" pitchFamily="34" charset="0"/>
                <a:ea typeface="Platypi Medium" pitchFamily="34" charset="-122"/>
                <a:cs typeface="Platypi Medium" pitchFamily="34" charset="-120"/>
              </a:rPr>
              <a:t>Temel Kavramlar</a:t>
            </a:r>
            <a:endParaRPr lang="en-US" sz="1800" dirty="0"/>
          </a:p>
        </p:txBody>
      </p:sp>
      <p:sp>
        <p:nvSpPr>
          <p:cNvPr id="8" name="Text 5"/>
          <p:cNvSpPr/>
          <p:nvPr/>
        </p:nvSpPr>
        <p:spPr>
          <a:xfrm>
            <a:off x="1579007" y="2524125"/>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Silika Hamuru</a:t>
            </a:r>
            <a:endParaRPr lang="en-US" sz="1400" dirty="0"/>
          </a:p>
        </p:txBody>
      </p:sp>
      <p:sp>
        <p:nvSpPr>
          <p:cNvPr id="9" name="Text 6"/>
          <p:cNvSpPr/>
          <p:nvPr/>
        </p:nvSpPr>
        <p:spPr>
          <a:xfrm>
            <a:off x="1579007" y="2881074"/>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Diş Geometrisi</a:t>
            </a:r>
            <a:endParaRPr lang="en-US" sz="1400" dirty="0"/>
          </a:p>
        </p:txBody>
      </p:sp>
      <p:sp>
        <p:nvSpPr>
          <p:cNvPr id="10" name="Text 7"/>
          <p:cNvSpPr/>
          <p:nvPr/>
        </p:nvSpPr>
        <p:spPr>
          <a:xfrm>
            <a:off x="1579007" y="3238024"/>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Yuvarlanma Direnci</a:t>
            </a:r>
            <a:endParaRPr lang="en-US" sz="1400" dirty="0"/>
          </a:p>
        </p:txBody>
      </p:sp>
      <p:sp>
        <p:nvSpPr>
          <p:cNvPr id="11" name="Text 8"/>
          <p:cNvSpPr/>
          <p:nvPr/>
        </p:nvSpPr>
        <p:spPr>
          <a:xfrm>
            <a:off x="1579007" y="3594973"/>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Akustik Konfor</a:t>
            </a:r>
            <a:endParaRPr lang="en-US" sz="1400" dirty="0"/>
          </a:p>
        </p:txBody>
      </p:sp>
      <p:sp>
        <p:nvSpPr>
          <p:cNvPr id="12" name="Shape 9"/>
          <p:cNvSpPr/>
          <p:nvPr/>
        </p:nvSpPr>
        <p:spPr>
          <a:xfrm>
            <a:off x="640794" y="4276725"/>
            <a:ext cx="7862411" cy="1100376"/>
          </a:xfrm>
          <a:prstGeom prst="roundRect">
            <a:avLst>
              <a:gd name="adj" fmla="val 2496"/>
            </a:avLst>
          </a:prstGeom>
          <a:solidFill>
            <a:srgbClr val="FFFFFF"/>
          </a:solidFill>
          <a:ln w="22860">
            <a:solidFill>
              <a:srgbClr val="D8D4D4"/>
            </a:solidFill>
            <a:prstDash val="solid"/>
          </a:ln>
        </p:spPr>
      </p:sp>
      <p:sp>
        <p:nvSpPr>
          <p:cNvPr id="13" name="Shape 10"/>
          <p:cNvSpPr/>
          <p:nvPr/>
        </p:nvSpPr>
        <p:spPr>
          <a:xfrm>
            <a:off x="663654" y="4299585"/>
            <a:ext cx="732353" cy="1054656"/>
          </a:xfrm>
          <a:prstGeom prst="roundRect">
            <a:avLst>
              <a:gd name="adj" fmla="val 5"/>
            </a:avLst>
          </a:prstGeom>
          <a:solidFill>
            <a:srgbClr val="F9F7F7"/>
          </a:solidFill>
          <a:ln/>
        </p:spPr>
      </p:sp>
      <p:sp>
        <p:nvSpPr>
          <p:cNvPr id="14" name="Text 11"/>
          <p:cNvSpPr/>
          <p:nvPr/>
        </p:nvSpPr>
        <p:spPr>
          <a:xfrm>
            <a:off x="892493" y="4655225"/>
            <a:ext cx="274558" cy="343257"/>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2</a:t>
            </a:r>
            <a:endParaRPr lang="en-US" sz="2150" dirty="0"/>
          </a:p>
        </p:txBody>
      </p:sp>
      <p:sp>
        <p:nvSpPr>
          <p:cNvPr id="15" name="Text 12"/>
          <p:cNvSpPr/>
          <p:nvPr/>
        </p:nvSpPr>
        <p:spPr>
          <a:xfrm>
            <a:off x="1579007" y="4482584"/>
            <a:ext cx="2288738" cy="285988"/>
          </a:xfrm>
          <a:prstGeom prst="rect">
            <a:avLst/>
          </a:prstGeom>
          <a:noFill/>
          <a:ln/>
        </p:spPr>
        <p:txBody>
          <a:bodyPr wrap="none" lIns="0" tIns="0" rIns="0" bIns="0" rtlCol="0" anchor="t"/>
          <a:lstStyle/>
          <a:p>
            <a:pPr algn="l" indent="0" marL="0">
              <a:lnSpc>
                <a:spcPts val="2250"/>
              </a:lnSpc>
              <a:buNone/>
            </a:pPr>
            <a:r>
              <a:rPr lang="en-US" sz="1800" dirty="0">
                <a:solidFill>
                  <a:srgbClr val="504C49"/>
                </a:solidFill>
                <a:latin typeface="Platypi Medium" pitchFamily="34" charset="0"/>
                <a:ea typeface="Platypi Medium" pitchFamily="34" charset="-122"/>
                <a:cs typeface="Platypi Medium" pitchFamily="34" charset="-120"/>
              </a:rPr>
              <a:t>Bağımsız Değişken</a:t>
            </a:r>
            <a:endParaRPr lang="en-US" sz="1800" dirty="0"/>
          </a:p>
        </p:txBody>
      </p:sp>
      <p:sp>
        <p:nvSpPr>
          <p:cNvPr id="16" name="Text 13"/>
          <p:cNvSpPr/>
          <p:nvPr/>
        </p:nvSpPr>
        <p:spPr>
          <a:xfrm>
            <a:off x="1579007" y="4878348"/>
            <a:ext cx="6718340" cy="292894"/>
          </a:xfrm>
          <a:prstGeom prst="rect">
            <a:avLst/>
          </a:prstGeom>
          <a:noFill/>
          <a:ln/>
        </p:spPr>
        <p:txBody>
          <a:bodyPr wrap="none" lIns="0" tIns="0" rIns="0" bIns="0" rtlCol="0" anchor="t"/>
          <a:lstStyle/>
          <a:p>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Lastik Markası/Modeli (</a:t>
            </a:r>
            <a:pPr algn="l" indent="0" marL="0">
              <a:lnSpc>
                <a:spcPts val="2300"/>
              </a:lnSpc>
              <a:buNone/>
            </a:pPr>
            <a:r>
              <a:rPr lang="en-US" sz="1400" b="1" dirty="0">
                <a:solidFill>
                  <a:srgbClr val="504C49"/>
                </a:solidFill>
                <a:latin typeface="Source Serif 4" pitchFamily="34" charset="0"/>
                <a:ea typeface="Source Serif 4" pitchFamily="34" charset="-122"/>
                <a:cs typeface="Source Serif 4" pitchFamily="34" charset="-120"/>
              </a:rPr>
              <a:t>Premium</a:t>
            </a:r>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 vs. </a:t>
            </a:r>
            <a:pPr algn="l" indent="0" marL="0">
              <a:lnSpc>
                <a:spcPts val="2300"/>
              </a:lnSpc>
              <a:buNone/>
            </a:pPr>
            <a:r>
              <a:rPr lang="en-US" sz="1400" b="1" dirty="0">
                <a:solidFill>
                  <a:srgbClr val="504C49"/>
                </a:solidFill>
                <a:latin typeface="Source Serif 4" pitchFamily="34" charset="0"/>
                <a:ea typeface="Source Serif 4" pitchFamily="34" charset="-122"/>
                <a:cs typeface="Source Serif 4" pitchFamily="34" charset="-120"/>
              </a:rPr>
              <a:t>Ekonomik</a:t>
            </a:r>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 segment)</a:t>
            </a:r>
            <a:endParaRPr lang="en-US" sz="1400" dirty="0"/>
          </a:p>
        </p:txBody>
      </p:sp>
      <p:sp>
        <p:nvSpPr>
          <p:cNvPr id="17" name="Shape 14"/>
          <p:cNvSpPr/>
          <p:nvPr/>
        </p:nvSpPr>
        <p:spPr>
          <a:xfrm>
            <a:off x="640794" y="5560100"/>
            <a:ext cx="7862411" cy="2171224"/>
          </a:xfrm>
          <a:prstGeom prst="roundRect">
            <a:avLst>
              <a:gd name="adj" fmla="val 1265"/>
            </a:avLst>
          </a:prstGeom>
          <a:solidFill>
            <a:srgbClr val="FFFFFF"/>
          </a:solidFill>
          <a:ln w="22860">
            <a:solidFill>
              <a:srgbClr val="D8D4D4"/>
            </a:solidFill>
            <a:prstDash val="solid"/>
          </a:ln>
        </p:spPr>
      </p:sp>
      <p:sp>
        <p:nvSpPr>
          <p:cNvPr id="18" name="Shape 15"/>
          <p:cNvSpPr/>
          <p:nvPr/>
        </p:nvSpPr>
        <p:spPr>
          <a:xfrm>
            <a:off x="663654" y="5582960"/>
            <a:ext cx="732353" cy="2125504"/>
          </a:xfrm>
          <a:prstGeom prst="roundRect">
            <a:avLst>
              <a:gd name="adj" fmla="val 5"/>
            </a:avLst>
          </a:prstGeom>
          <a:solidFill>
            <a:srgbClr val="F9F7F7"/>
          </a:solidFill>
          <a:ln/>
        </p:spPr>
      </p:sp>
      <p:sp>
        <p:nvSpPr>
          <p:cNvPr id="19" name="Text 16"/>
          <p:cNvSpPr/>
          <p:nvPr/>
        </p:nvSpPr>
        <p:spPr>
          <a:xfrm>
            <a:off x="892493" y="6474023"/>
            <a:ext cx="274558" cy="343257"/>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3</a:t>
            </a:r>
            <a:endParaRPr lang="en-US" sz="2150" dirty="0"/>
          </a:p>
        </p:txBody>
      </p:sp>
      <p:sp>
        <p:nvSpPr>
          <p:cNvPr id="20" name="Text 17"/>
          <p:cNvSpPr/>
          <p:nvPr/>
        </p:nvSpPr>
        <p:spPr>
          <a:xfrm>
            <a:off x="1579007" y="5765959"/>
            <a:ext cx="2288738" cy="285988"/>
          </a:xfrm>
          <a:prstGeom prst="rect">
            <a:avLst/>
          </a:prstGeom>
          <a:noFill/>
          <a:ln/>
        </p:spPr>
        <p:txBody>
          <a:bodyPr wrap="none" lIns="0" tIns="0" rIns="0" bIns="0" rtlCol="0" anchor="t"/>
          <a:lstStyle/>
          <a:p>
            <a:pPr algn="l" indent="0" marL="0">
              <a:lnSpc>
                <a:spcPts val="2250"/>
              </a:lnSpc>
              <a:buNone/>
            </a:pPr>
            <a:r>
              <a:rPr lang="en-US" sz="1800" dirty="0">
                <a:solidFill>
                  <a:srgbClr val="504C49"/>
                </a:solidFill>
                <a:latin typeface="Platypi Medium" pitchFamily="34" charset="0"/>
                <a:ea typeface="Platypi Medium" pitchFamily="34" charset="-122"/>
                <a:cs typeface="Platypi Medium" pitchFamily="34" charset="-120"/>
              </a:rPr>
              <a:t>Bağımlı Değişkenler</a:t>
            </a:r>
            <a:endParaRPr lang="en-US" sz="1800" dirty="0"/>
          </a:p>
        </p:txBody>
      </p:sp>
      <p:sp>
        <p:nvSpPr>
          <p:cNvPr id="21" name="Text 18"/>
          <p:cNvSpPr/>
          <p:nvPr/>
        </p:nvSpPr>
        <p:spPr>
          <a:xfrm>
            <a:off x="1579007" y="6161723"/>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Frenleme Mesafesi (m)</a:t>
            </a:r>
            <a:endParaRPr lang="en-US" sz="1400" dirty="0"/>
          </a:p>
        </p:txBody>
      </p:sp>
      <p:sp>
        <p:nvSpPr>
          <p:cNvPr id="22" name="Text 19"/>
          <p:cNvSpPr/>
          <p:nvPr/>
        </p:nvSpPr>
        <p:spPr>
          <a:xfrm>
            <a:off x="1579007" y="6518672"/>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Yol Tutuş (Lateral G)</a:t>
            </a:r>
            <a:endParaRPr lang="en-US" sz="1400" dirty="0"/>
          </a:p>
        </p:txBody>
      </p:sp>
      <p:sp>
        <p:nvSpPr>
          <p:cNvPr id="23" name="Text 20"/>
          <p:cNvSpPr/>
          <p:nvPr/>
        </p:nvSpPr>
        <p:spPr>
          <a:xfrm>
            <a:off x="1579007" y="6875621"/>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Gürültü Seviyesi (dB)</a:t>
            </a:r>
            <a:endParaRPr lang="en-US" sz="1400" dirty="0"/>
          </a:p>
        </p:txBody>
      </p:sp>
      <p:sp>
        <p:nvSpPr>
          <p:cNvPr id="24" name="Text 21"/>
          <p:cNvSpPr/>
          <p:nvPr/>
        </p:nvSpPr>
        <p:spPr>
          <a:xfrm>
            <a:off x="1579007" y="7232571"/>
            <a:ext cx="6718340" cy="292894"/>
          </a:xfrm>
          <a:prstGeom prst="rect">
            <a:avLst/>
          </a:prstGeom>
          <a:noFill/>
          <a:ln/>
        </p:spPr>
        <p:txBody>
          <a:bodyPr wrap="none" lIns="0" tIns="0" rIns="0" bIns="0" rtlCol="0" anchor="t"/>
          <a:lstStyle/>
          <a:p>
            <a:pPr algn="l" marL="342900" indent="-342900">
              <a:lnSpc>
                <a:spcPts val="2300"/>
              </a:lnSpc>
              <a:buSzPct val="100000"/>
              <a:buChar char="•"/>
            </a:pPr>
            <a:r>
              <a:rPr lang="en-US" sz="1400" dirty="0">
                <a:solidFill>
                  <a:srgbClr val="504C49"/>
                </a:solidFill>
                <a:latin typeface="Source Serif 4" pitchFamily="34" charset="0"/>
                <a:ea typeface="Source Serif 4" pitchFamily="34" charset="-122"/>
                <a:cs typeface="Source Serif 4" pitchFamily="34" charset="-120"/>
              </a:rPr>
              <a:t>Sönümleme Performansı</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77954" y="611267"/>
            <a:ext cx="13074491" cy="1389459"/>
          </a:xfrm>
          <a:prstGeom prst="rect">
            <a:avLst/>
          </a:prstGeom>
          <a:noFill/>
          <a:ln/>
        </p:spPr>
        <p:txBody>
          <a:bodyPr wrap="square" lIns="0" tIns="0" rIns="0" bIns="0" rtlCol="0" anchor="t"/>
          <a:lstStyle/>
          <a:p>
            <a:pPr algn="l" indent="0" marL="0">
              <a:lnSpc>
                <a:spcPts val="5450"/>
              </a:lnSpc>
              <a:buNone/>
            </a:pPr>
            <a:r>
              <a:rPr lang="en-US" sz="4350" dirty="0">
                <a:solidFill>
                  <a:srgbClr val="201B18"/>
                </a:solidFill>
                <a:latin typeface="Platypi Medium" pitchFamily="34" charset="0"/>
                <a:ea typeface="Platypi Medium" pitchFamily="34" charset="-122"/>
                <a:cs typeface="Platypi Medium" pitchFamily="34" charset="-120"/>
              </a:rPr>
              <a:t>LİTERATÜR TARAMASI - I: Güvenlik Odaklı Çalışmalar</a:t>
            </a:r>
            <a:endParaRPr lang="en-US" sz="4350" dirty="0"/>
          </a:p>
        </p:txBody>
      </p:sp>
      <p:sp>
        <p:nvSpPr>
          <p:cNvPr id="3" name="Text 1"/>
          <p:cNvSpPr/>
          <p:nvPr/>
        </p:nvSpPr>
        <p:spPr>
          <a:xfrm>
            <a:off x="777954" y="2534126"/>
            <a:ext cx="7627739" cy="1778198"/>
          </a:xfrm>
          <a:prstGeom prst="rect">
            <a:avLst/>
          </a:prstGeom>
          <a:noFill/>
          <a:ln/>
        </p:spPr>
        <p:txBody>
          <a:bodyPr wrap="square" lIns="0" tIns="0" rIns="0" bIns="0" rtlCol="0" anchor="t"/>
          <a:lstStyle/>
          <a:p>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Literatürde yapılan çalışmalar, kış lastiklerinde kullanılan özel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kauçuk bileşenlerinin</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+7 derecenin altındaki sıcaklıklarda esnekliğini korumasının, fren mesafesini %20 ile %30 arasında kısalttığını açıkça göstermektedir. Bu kritik özellik, zorlu kış koşullarında sürüş güvenliği için hayati öneme sahiptir.</a:t>
            </a:r>
            <a:endParaRPr lang="en-US" sz="1750" dirty="0"/>
          </a:p>
        </p:txBody>
      </p:sp>
      <p:sp>
        <p:nvSpPr>
          <p:cNvPr id="4" name="Text 2"/>
          <p:cNvSpPr/>
          <p:nvPr/>
        </p:nvSpPr>
        <p:spPr>
          <a:xfrm>
            <a:off x="777954" y="4512350"/>
            <a:ext cx="7627739" cy="1778198"/>
          </a:xfrm>
          <a:prstGeom prst="rect">
            <a:avLst/>
          </a:prstGeom>
          <a:noFill/>
          <a:ln/>
        </p:spPr>
        <p:txBody>
          <a:bodyPr wrap="square" lIns="0" tIns="0" rIns="0" bIns="0" rtlCol="0" anchor="t"/>
          <a:lstStyle/>
          <a:p>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Önceki araştırmalar, özellikle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Michelin</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ve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Continental</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gibi premium markaların buzlu zeminde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çekiş gücü</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ve stabilitesi üzerine yoğunlaştığını ve bu alanda önemli inovasyonlar sunduğunu kanıtlamaktadır. Bu çalışmalar, lastik teknolojisinin güvenlik performansına doğrudan etkisini ortaya koymaktadır.</a:t>
            </a:r>
            <a:endParaRPr lang="en-US" sz="1750" dirty="0"/>
          </a:p>
        </p:txBody>
      </p:sp>
      <p:pic>
        <p:nvPicPr>
          <p:cNvPr id="5" name="Image 0" descr="preencoded.png">    </p:cNvPr>
          <p:cNvPicPr>
            <a:picLocks noChangeAspect="1"/>
          </p:cNvPicPr>
          <p:nvPr/>
        </p:nvPicPr>
        <p:blipFill>
          <a:blip r:embed="rId1"/>
          <a:stretch>
            <a:fillRect/>
          </a:stretch>
        </p:blipFill>
        <p:spPr>
          <a:xfrm>
            <a:off x="8955524" y="2584133"/>
            <a:ext cx="4904423" cy="490442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77954" y="611267"/>
            <a:ext cx="13074491" cy="1389459"/>
          </a:xfrm>
          <a:prstGeom prst="rect">
            <a:avLst/>
          </a:prstGeom>
          <a:noFill/>
          <a:ln/>
        </p:spPr>
        <p:txBody>
          <a:bodyPr wrap="square" lIns="0" tIns="0" rIns="0" bIns="0" rtlCol="0" anchor="t"/>
          <a:lstStyle/>
          <a:p>
            <a:pPr algn="l" indent="0" marL="0">
              <a:lnSpc>
                <a:spcPts val="5450"/>
              </a:lnSpc>
              <a:buNone/>
            </a:pPr>
            <a:r>
              <a:rPr lang="en-US" sz="4350" dirty="0">
                <a:solidFill>
                  <a:srgbClr val="201B18"/>
                </a:solidFill>
                <a:latin typeface="Platypi Medium" pitchFamily="34" charset="0"/>
                <a:ea typeface="Platypi Medium" pitchFamily="34" charset="-122"/>
                <a:cs typeface="Platypi Medium" pitchFamily="34" charset="-120"/>
              </a:rPr>
              <a:t>LİTERATÜR TARAMASI - II: Konfor ve Akustik Analizler</a:t>
            </a:r>
            <a:endParaRPr lang="en-US" sz="4350" dirty="0"/>
          </a:p>
        </p:txBody>
      </p:sp>
      <p:pic>
        <p:nvPicPr>
          <p:cNvPr id="3" name="Image 0" descr="preencoded.png">    </p:cNvPr>
          <p:cNvPicPr>
            <a:picLocks noChangeAspect="1"/>
          </p:cNvPicPr>
          <p:nvPr/>
        </p:nvPicPr>
        <p:blipFill>
          <a:blip r:embed="rId1"/>
          <a:stretch>
            <a:fillRect/>
          </a:stretch>
        </p:blipFill>
        <p:spPr>
          <a:xfrm>
            <a:off x="777954" y="2584133"/>
            <a:ext cx="4904423" cy="4904423"/>
          </a:xfrm>
          <a:prstGeom prst="rect">
            <a:avLst/>
          </a:prstGeom>
        </p:spPr>
      </p:pic>
      <p:sp>
        <p:nvSpPr>
          <p:cNvPr id="4" name="Text 1"/>
          <p:cNvSpPr/>
          <p:nvPr/>
        </p:nvSpPr>
        <p:spPr>
          <a:xfrm>
            <a:off x="6232208" y="2534126"/>
            <a:ext cx="7627739" cy="1778198"/>
          </a:xfrm>
          <a:prstGeom prst="rect">
            <a:avLst/>
          </a:prstGeom>
          <a:noFill/>
          <a:ln/>
        </p:spPr>
        <p:txBody>
          <a:bodyPr wrap="square" lIns="0" tIns="0" rIns="0" bIns="0" rtlCol="0" anchor="t"/>
          <a:lstStyle/>
          <a:p>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2020-2023 yılları arasındaki teknik raporlar, lastik sırt desenindeki kanal yapısının kabin içi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gürültü seviyesini</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doğrudan etkilediğini ve sürüş konforunda belirleyici bir faktör olduğunu vurgular. Bu durum, lastik tasarımının sadece performans değil, aynı zamanda kullanıcı deneyimi açısından da ne kadar önemli olduğunu göstermektedir.</a:t>
            </a:r>
            <a:endParaRPr lang="en-US" sz="1750" dirty="0"/>
          </a:p>
        </p:txBody>
      </p:sp>
      <p:sp>
        <p:nvSpPr>
          <p:cNvPr id="5" name="Text 2"/>
          <p:cNvSpPr/>
          <p:nvPr/>
        </p:nvSpPr>
        <p:spPr>
          <a:xfrm>
            <a:off x="6232208" y="4512350"/>
            <a:ext cx="7627739" cy="1778198"/>
          </a:xfrm>
          <a:prstGeom prst="rect">
            <a:avLst/>
          </a:prstGeom>
          <a:noFill/>
          <a:ln/>
        </p:spPr>
        <p:txBody>
          <a:bodyPr wrap="square" lIns="0" tIns="0" rIns="0" bIns="0" rtlCol="0" anchor="t"/>
          <a:lstStyle/>
          <a:p>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V-tipi desenlerin</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su tahliye kapasitesi yüksek olsa da, </a:t>
            </a:r>
            <a:pPr algn="l" indent="0" marL="0">
              <a:lnSpc>
                <a:spcPts val="2800"/>
              </a:lnSpc>
              <a:buNone/>
            </a:pPr>
            <a:r>
              <a:rPr lang="en-US" sz="1750" b="1" dirty="0">
                <a:solidFill>
                  <a:srgbClr val="504C49"/>
                </a:solidFill>
                <a:latin typeface="Source Serif 4" pitchFamily="34" charset="0"/>
                <a:ea typeface="Source Serif 4" pitchFamily="34" charset="-122"/>
                <a:cs typeface="Source Serif 4" pitchFamily="34" charset="-120"/>
              </a:rPr>
              <a:t>düz kanallı desenlere</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göre daha fazla yol sesi ürettiği, yapılan akademik testlerle ve ölçümlerle belgelenmiştir. Bu bulgu, lastik mühendislerinin farklı tasarım yaklaşımları arasında denge kurma çabasını ortaya koymaktadır.</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24945" y="919758"/>
            <a:ext cx="7666911" cy="1318736"/>
          </a:xfrm>
          <a:prstGeom prst="rect">
            <a:avLst/>
          </a:prstGeom>
          <a:noFill/>
          <a:ln/>
        </p:spPr>
        <p:txBody>
          <a:bodyPr wrap="square" lIns="0" tIns="0" rIns="0" bIns="0" rtlCol="0" anchor="t"/>
          <a:lstStyle/>
          <a:p>
            <a:pPr algn="l" indent="0" marL="0">
              <a:lnSpc>
                <a:spcPts val="5150"/>
              </a:lnSpc>
              <a:buNone/>
            </a:pPr>
            <a:r>
              <a:rPr lang="en-US" sz="4150" dirty="0">
                <a:solidFill>
                  <a:srgbClr val="201B18"/>
                </a:solidFill>
                <a:latin typeface="Platypi Medium" pitchFamily="34" charset="0"/>
                <a:ea typeface="Platypi Medium" pitchFamily="34" charset="-122"/>
                <a:cs typeface="Platypi Medium" pitchFamily="34" charset="-120"/>
              </a:rPr>
              <a:t>LİTERATÜR TARAMASI - III: Marka Karşılaştırmalı Testler</a:t>
            </a:r>
            <a:endParaRPr lang="en-US" sz="4150" dirty="0"/>
          </a:p>
        </p:txBody>
      </p:sp>
      <p:sp>
        <p:nvSpPr>
          <p:cNvPr id="4" name="Text 1"/>
          <p:cNvSpPr/>
          <p:nvPr/>
        </p:nvSpPr>
        <p:spPr>
          <a:xfrm>
            <a:off x="6224945" y="2554962"/>
            <a:ext cx="7666911" cy="1012627"/>
          </a:xfrm>
          <a:prstGeom prst="rect">
            <a:avLst/>
          </a:prstGeom>
          <a:noFill/>
          <a:ln/>
        </p:spPr>
        <p:txBody>
          <a:bodyPr wrap="square" lIns="0" tIns="0" rIns="0" bIns="0" rtlCol="0" anchor="t"/>
          <a:lstStyle/>
          <a:p>
            <a:pPr algn="l" indent="0" marL="0">
              <a:lnSpc>
                <a:spcPts val="2650"/>
              </a:lnSpc>
              <a:buNone/>
            </a:pPr>
            <a:r>
              <a:rPr lang="en-US" sz="1650" dirty="0">
                <a:solidFill>
                  <a:srgbClr val="504C49"/>
                </a:solidFill>
                <a:latin typeface="Source Serif 4" pitchFamily="34" charset="0"/>
                <a:ea typeface="Source Serif 4" pitchFamily="34" charset="-122"/>
                <a:cs typeface="Source Serif 4" pitchFamily="34" charset="-120"/>
              </a:rPr>
              <a:t>Uluslararası otomobil dergilerinin (ADAC, Auto Bild) yaptığı yıllık testler, lastik sektöründeki farklı segmentlerin stratejilerini gözler önüne sermektedir:</a:t>
            </a:r>
            <a:endParaRPr lang="en-US" sz="1650" dirty="0"/>
          </a:p>
        </p:txBody>
      </p:sp>
      <p:sp>
        <p:nvSpPr>
          <p:cNvPr id="5" name="Shape 2"/>
          <p:cNvSpPr/>
          <p:nvPr/>
        </p:nvSpPr>
        <p:spPr>
          <a:xfrm>
            <a:off x="6224945" y="3804880"/>
            <a:ext cx="474702" cy="474702"/>
          </a:xfrm>
          <a:prstGeom prst="roundRect">
            <a:avLst>
              <a:gd name="adj" fmla="val 6668"/>
            </a:avLst>
          </a:prstGeom>
          <a:solidFill>
            <a:srgbClr val="F9F7F7"/>
          </a:solidFill>
          <a:ln/>
        </p:spPr>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4002" y="3883878"/>
            <a:ext cx="316468" cy="316468"/>
          </a:xfrm>
          <a:prstGeom prst="rect">
            <a:avLst/>
          </a:prstGeom>
        </p:spPr>
      </p:pic>
      <p:sp>
        <p:nvSpPr>
          <p:cNvPr id="7" name="Text 3"/>
          <p:cNvSpPr/>
          <p:nvPr/>
        </p:nvSpPr>
        <p:spPr>
          <a:xfrm>
            <a:off x="6910626" y="3877389"/>
            <a:ext cx="2637830" cy="329803"/>
          </a:xfrm>
          <a:prstGeom prst="rect">
            <a:avLst/>
          </a:prstGeom>
          <a:noFill/>
          <a:ln/>
        </p:spPr>
        <p:txBody>
          <a:bodyPr wrap="none" lIns="0" tIns="0" rIns="0" bIns="0" rtlCol="0" anchor="t"/>
          <a:lstStyle/>
          <a:p>
            <a:pPr algn="l" indent="0" marL="0">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Premium Markalar</a:t>
            </a:r>
            <a:endParaRPr lang="en-US" sz="2050" dirty="0"/>
          </a:p>
        </p:txBody>
      </p:sp>
      <p:sp>
        <p:nvSpPr>
          <p:cNvPr id="8" name="Text 4"/>
          <p:cNvSpPr/>
          <p:nvPr/>
        </p:nvSpPr>
        <p:spPr>
          <a:xfrm>
            <a:off x="6910626" y="4333756"/>
            <a:ext cx="6981230" cy="1012627"/>
          </a:xfrm>
          <a:prstGeom prst="rect">
            <a:avLst/>
          </a:prstGeom>
          <a:noFill/>
          <a:ln/>
        </p:spPr>
        <p:txBody>
          <a:bodyPr wrap="square" lIns="0" tIns="0" rIns="0" bIns="0" rtlCol="0" anchor="t"/>
          <a:lstStyle/>
          <a:p>
            <a:pPr algn="l" indent="0" marL="0">
              <a:lnSpc>
                <a:spcPts val="2650"/>
              </a:lnSpc>
              <a:buNone/>
            </a:pPr>
            <a:r>
              <a:rPr lang="en-US" sz="1650" dirty="0">
                <a:solidFill>
                  <a:srgbClr val="504C49"/>
                </a:solidFill>
                <a:latin typeface="Source Serif 4" pitchFamily="34" charset="0"/>
                <a:ea typeface="Source Serif 4" pitchFamily="34" charset="-122"/>
                <a:cs typeface="Source Serif 4" pitchFamily="34" charset="-120"/>
              </a:rPr>
              <a:t>Konfor ve güvenlik dengesini optimize etmek için "sessiz taban" teknolojilerine ve ileri mühendislik çözümlerine yatırım yapmaktadır. Amaç, her iki alanı da en üst düzeyde sunmaktır.</a:t>
            </a:r>
            <a:endParaRPr lang="en-US" sz="1650" dirty="0"/>
          </a:p>
        </p:txBody>
      </p:sp>
      <p:sp>
        <p:nvSpPr>
          <p:cNvPr id="9" name="Shape 5"/>
          <p:cNvSpPr/>
          <p:nvPr/>
        </p:nvSpPr>
        <p:spPr>
          <a:xfrm>
            <a:off x="6224945" y="5768340"/>
            <a:ext cx="474702" cy="474702"/>
          </a:xfrm>
          <a:prstGeom prst="roundRect">
            <a:avLst>
              <a:gd name="adj" fmla="val 6668"/>
            </a:avLst>
          </a:prstGeom>
          <a:solidFill>
            <a:srgbClr val="F9F7F7"/>
          </a:solidFill>
          <a:ln/>
        </p:spPr>
      </p:sp>
      <p:pic>
        <p:nvPicPr>
          <p:cNvPr id="10"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4002" y="5847338"/>
            <a:ext cx="316468" cy="316468"/>
          </a:xfrm>
          <a:prstGeom prst="rect">
            <a:avLst/>
          </a:prstGeom>
        </p:spPr>
      </p:pic>
      <p:sp>
        <p:nvSpPr>
          <p:cNvPr id="11" name="Text 6"/>
          <p:cNvSpPr/>
          <p:nvPr/>
        </p:nvSpPr>
        <p:spPr>
          <a:xfrm>
            <a:off x="6910626" y="5840849"/>
            <a:ext cx="2637830" cy="329803"/>
          </a:xfrm>
          <a:prstGeom prst="rect">
            <a:avLst/>
          </a:prstGeom>
          <a:noFill/>
          <a:ln/>
        </p:spPr>
        <p:txBody>
          <a:bodyPr wrap="none" lIns="0" tIns="0" rIns="0" bIns="0" rtlCol="0" anchor="t"/>
          <a:lstStyle/>
          <a:p>
            <a:pPr algn="l" indent="0" marL="0">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Ekonomik Segment</a:t>
            </a:r>
            <a:endParaRPr lang="en-US" sz="2050" dirty="0"/>
          </a:p>
        </p:txBody>
      </p:sp>
      <p:sp>
        <p:nvSpPr>
          <p:cNvPr id="12" name="Text 7"/>
          <p:cNvSpPr/>
          <p:nvPr/>
        </p:nvSpPr>
        <p:spPr>
          <a:xfrm>
            <a:off x="6910626" y="6297216"/>
            <a:ext cx="6981230" cy="1012627"/>
          </a:xfrm>
          <a:prstGeom prst="rect">
            <a:avLst/>
          </a:prstGeom>
          <a:noFill/>
          <a:ln/>
        </p:spPr>
        <p:txBody>
          <a:bodyPr wrap="square" lIns="0" tIns="0" rIns="0" bIns="0" rtlCol="0" anchor="t"/>
          <a:lstStyle/>
          <a:p>
            <a:pPr algn="l" indent="0" marL="0">
              <a:lnSpc>
                <a:spcPts val="2650"/>
              </a:lnSpc>
              <a:buNone/>
            </a:pPr>
            <a:r>
              <a:rPr lang="en-US" sz="1650" dirty="0">
                <a:solidFill>
                  <a:srgbClr val="504C49"/>
                </a:solidFill>
                <a:latin typeface="Source Serif 4" pitchFamily="34" charset="0"/>
                <a:ea typeface="Source Serif 4" pitchFamily="34" charset="-122"/>
                <a:cs typeface="Source Serif 4" pitchFamily="34" charset="-120"/>
              </a:rPr>
              <a:t>Genellikle güvenlik parametrelerini ön planda tutmakta, konfor unsurları ikinci planda kalabilmektedir. Maliyet etkinliği ve temel güvenlik özelliklerine odaklanılır.</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639127" y="521256"/>
            <a:ext cx="7865745" cy="1141333"/>
          </a:xfrm>
          <a:prstGeom prst="rect">
            <a:avLst/>
          </a:prstGeom>
          <a:noFill/>
          <a:ln/>
        </p:spPr>
        <p:txBody>
          <a:bodyPr wrap="square" lIns="0" tIns="0" rIns="0" bIns="0" rtlCol="0" anchor="t"/>
          <a:lstStyle/>
          <a:p>
            <a:pPr algn="l" indent="0" marL="0">
              <a:lnSpc>
                <a:spcPts val="4450"/>
              </a:lnSpc>
              <a:buNone/>
            </a:pPr>
            <a:r>
              <a:rPr lang="en-US" sz="3550" dirty="0">
                <a:solidFill>
                  <a:srgbClr val="201B18"/>
                </a:solidFill>
                <a:latin typeface="Platypi Medium" pitchFamily="34" charset="0"/>
                <a:ea typeface="Platypi Medium" pitchFamily="34" charset="-122"/>
                <a:cs typeface="Platypi Medium" pitchFamily="34" charset="-120"/>
              </a:rPr>
              <a:t>ARAŞTIRMA BOŞLUĞU (Research Gap)</a:t>
            </a:r>
            <a:endParaRPr lang="en-US" sz="3550" dirty="0"/>
          </a:p>
        </p:txBody>
      </p:sp>
      <p:sp>
        <p:nvSpPr>
          <p:cNvPr id="4" name="Text 1"/>
          <p:cNvSpPr/>
          <p:nvPr/>
        </p:nvSpPr>
        <p:spPr>
          <a:xfrm>
            <a:off x="639127" y="1936433"/>
            <a:ext cx="7865745" cy="584359"/>
          </a:xfrm>
          <a:prstGeom prst="rect">
            <a:avLst/>
          </a:prstGeom>
          <a:noFill/>
          <a:ln/>
        </p:spPr>
        <p:txBody>
          <a:bodyPr wrap="square" lIns="0" tIns="0" rIns="0" bIns="0" rtlCol="0" anchor="t"/>
          <a:lstStyle/>
          <a:p>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Mevcut literatürde güvenlik ve konfor parametreleri genellikle ayrı ayrı ele alınmış, bu iki önemli faktörün birbiriyle olan ilişkisi ve karşılıklı etkileşimleri sınırlı kalmıştır. Özellikle:</a:t>
            </a:r>
            <a:endParaRPr lang="en-US" sz="1400" dirty="0"/>
          </a:p>
        </p:txBody>
      </p:sp>
      <p:sp>
        <p:nvSpPr>
          <p:cNvPr id="5" name="Shape 2"/>
          <p:cNvSpPr/>
          <p:nvPr/>
        </p:nvSpPr>
        <p:spPr>
          <a:xfrm>
            <a:off x="639127" y="2726174"/>
            <a:ext cx="730448" cy="1928574"/>
          </a:xfrm>
          <a:prstGeom prst="roundRect">
            <a:avLst>
              <a:gd name="adj" fmla="val 360039"/>
            </a:avLst>
          </a:prstGeom>
          <a:solidFill>
            <a:srgbClr val="F9F7F7"/>
          </a:solidFill>
          <a:ln/>
        </p:spPr>
      </p:sp>
      <p:sp>
        <p:nvSpPr>
          <p:cNvPr id="6" name="Text 3"/>
          <p:cNvSpPr/>
          <p:nvPr/>
        </p:nvSpPr>
        <p:spPr>
          <a:xfrm>
            <a:off x="867370" y="3519249"/>
            <a:ext cx="273844" cy="342424"/>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1</a:t>
            </a:r>
            <a:endParaRPr lang="en-US" sz="2150" dirty="0"/>
          </a:p>
        </p:txBody>
      </p:sp>
      <p:sp>
        <p:nvSpPr>
          <p:cNvPr id="7" name="Text 4"/>
          <p:cNvSpPr/>
          <p:nvPr/>
        </p:nvSpPr>
        <p:spPr>
          <a:xfrm>
            <a:off x="1552099" y="2908697"/>
            <a:ext cx="3677126" cy="285274"/>
          </a:xfrm>
          <a:prstGeom prst="rect">
            <a:avLst/>
          </a:prstGeom>
          <a:noFill/>
          <a:ln/>
        </p:spPr>
        <p:txBody>
          <a:bodyPr wrap="none" lIns="0" tIns="0" rIns="0" bIns="0" rtlCol="0" anchor="t"/>
          <a:lstStyle/>
          <a:p>
            <a:pPr algn="l" indent="0" marL="0">
              <a:lnSpc>
                <a:spcPts val="2200"/>
              </a:lnSpc>
              <a:buNone/>
            </a:pPr>
            <a:r>
              <a:rPr lang="en-US" sz="1750" dirty="0">
                <a:solidFill>
                  <a:srgbClr val="504C49"/>
                </a:solidFill>
                <a:latin typeface="Platypi Medium" pitchFamily="34" charset="0"/>
                <a:ea typeface="Platypi Medium" pitchFamily="34" charset="-122"/>
                <a:cs typeface="Platypi Medium" pitchFamily="34" charset="-120"/>
              </a:rPr>
              <a:t>Kapsamlı Karşılaştırma Eksikliği</a:t>
            </a:r>
            <a:endParaRPr lang="en-US" sz="1750" dirty="0"/>
          </a:p>
        </p:txBody>
      </p:sp>
      <p:sp>
        <p:nvSpPr>
          <p:cNvPr id="8" name="Text 5"/>
          <p:cNvSpPr/>
          <p:nvPr/>
        </p:nvSpPr>
        <p:spPr>
          <a:xfrm>
            <a:off x="1552099" y="3303508"/>
            <a:ext cx="6952774" cy="1168718"/>
          </a:xfrm>
          <a:prstGeom prst="rect">
            <a:avLst/>
          </a:prstGeom>
          <a:noFill/>
          <a:ln/>
        </p:spPr>
        <p:txBody>
          <a:bodyPr wrap="square" lIns="0" tIns="0" rIns="0" bIns="0" rtlCol="0" anchor="t"/>
          <a:lstStyle/>
          <a:p>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Hem güvenliğin (fren mesafesi, yol tutuş) hem de konforun (akustik konfor, sönümleme performansı) aynı anda, güncel 2024 model lastik segmentleri üzerinden bütüncül bir yaklaşımla kıyaslandığı </a:t>
            </a:r>
            <a:pPr algn="l" indent="0" marL="0">
              <a:lnSpc>
                <a:spcPts val="2300"/>
              </a:lnSpc>
              <a:buNone/>
            </a:pPr>
            <a:r>
              <a:rPr lang="en-US" sz="1400" b="1" dirty="0">
                <a:solidFill>
                  <a:srgbClr val="504C49"/>
                </a:solidFill>
                <a:latin typeface="Source Serif 4" pitchFamily="34" charset="0"/>
                <a:ea typeface="Source Serif 4" pitchFamily="34" charset="-122"/>
                <a:cs typeface="Source Serif 4" pitchFamily="34" charset="-120"/>
              </a:rPr>
              <a:t>yerel bir çalışma eksikliği</a:t>
            </a:r>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 tespit edilmiştir.</a:t>
            </a:r>
            <a:endParaRPr lang="en-US" sz="1400" dirty="0"/>
          </a:p>
        </p:txBody>
      </p:sp>
      <p:sp>
        <p:nvSpPr>
          <p:cNvPr id="9" name="Shape 6"/>
          <p:cNvSpPr/>
          <p:nvPr/>
        </p:nvSpPr>
        <p:spPr>
          <a:xfrm>
            <a:off x="639127" y="4837271"/>
            <a:ext cx="730448" cy="1344216"/>
          </a:xfrm>
          <a:prstGeom prst="roundRect">
            <a:avLst>
              <a:gd name="adj" fmla="val 360039"/>
            </a:avLst>
          </a:prstGeom>
          <a:solidFill>
            <a:srgbClr val="F9F7F7"/>
          </a:solidFill>
          <a:ln/>
        </p:spPr>
      </p:sp>
      <p:sp>
        <p:nvSpPr>
          <p:cNvPr id="10" name="Text 7"/>
          <p:cNvSpPr/>
          <p:nvPr/>
        </p:nvSpPr>
        <p:spPr>
          <a:xfrm>
            <a:off x="867370" y="5338167"/>
            <a:ext cx="273844" cy="342424"/>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2</a:t>
            </a:r>
            <a:endParaRPr lang="en-US" sz="2150" dirty="0"/>
          </a:p>
        </p:txBody>
      </p:sp>
      <p:sp>
        <p:nvSpPr>
          <p:cNvPr id="11" name="Text 8"/>
          <p:cNvSpPr/>
          <p:nvPr/>
        </p:nvSpPr>
        <p:spPr>
          <a:xfrm>
            <a:off x="1552099" y="5019794"/>
            <a:ext cx="3123724" cy="285274"/>
          </a:xfrm>
          <a:prstGeom prst="rect">
            <a:avLst/>
          </a:prstGeom>
          <a:noFill/>
          <a:ln/>
        </p:spPr>
        <p:txBody>
          <a:bodyPr wrap="none" lIns="0" tIns="0" rIns="0" bIns="0" rtlCol="0" anchor="t"/>
          <a:lstStyle/>
          <a:p>
            <a:pPr algn="l" indent="0" marL="0">
              <a:lnSpc>
                <a:spcPts val="2200"/>
              </a:lnSpc>
              <a:buNone/>
            </a:pPr>
            <a:r>
              <a:rPr lang="en-US" sz="1750" dirty="0">
                <a:solidFill>
                  <a:srgbClr val="504C49"/>
                </a:solidFill>
                <a:latin typeface="Platypi Medium" pitchFamily="34" charset="0"/>
                <a:ea typeface="Platypi Medium" pitchFamily="34" charset="-122"/>
                <a:cs typeface="Platypi Medium" pitchFamily="34" charset="-120"/>
              </a:rPr>
              <a:t>Güncel Model Entegrasyonu</a:t>
            </a:r>
            <a:endParaRPr lang="en-US" sz="1750" dirty="0"/>
          </a:p>
        </p:txBody>
      </p:sp>
      <p:sp>
        <p:nvSpPr>
          <p:cNvPr id="12" name="Text 9"/>
          <p:cNvSpPr/>
          <p:nvPr/>
        </p:nvSpPr>
        <p:spPr>
          <a:xfrm>
            <a:off x="1552099" y="5414605"/>
            <a:ext cx="6952774" cy="584359"/>
          </a:xfrm>
          <a:prstGeom prst="rect">
            <a:avLst/>
          </a:prstGeom>
          <a:noFill/>
          <a:ln/>
        </p:spPr>
        <p:txBody>
          <a:bodyPr wrap="square" lIns="0" tIns="0" rIns="0" bIns="0" rtlCol="0" anchor="t"/>
          <a:lstStyle/>
          <a:p>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Sürekli gelişen lastik teknolojileri göz önüne alındığında, en yeni modellerin bu kapsamlı değerlendirmeye dahil edilmesi gerekmektedir.</a:t>
            </a:r>
            <a:endParaRPr lang="en-US" sz="1400" dirty="0"/>
          </a:p>
        </p:txBody>
      </p:sp>
      <p:sp>
        <p:nvSpPr>
          <p:cNvPr id="13" name="Shape 10"/>
          <p:cNvSpPr/>
          <p:nvPr/>
        </p:nvSpPr>
        <p:spPr>
          <a:xfrm>
            <a:off x="639127" y="6364010"/>
            <a:ext cx="730448" cy="1344216"/>
          </a:xfrm>
          <a:prstGeom prst="roundRect">
            <a:avLst>
              <a:gd name="adj" fmla="val 360039"/>
            </a:avLst>
          </a:prstGeom>
          <a:solidFill>
            <a:srgbClr val="F9F7F7"/>
          </a:solidFill>
          <a:ln/>
        </p:spPr>
      </p:sp>
      <p:sp>
        <p:nvSpPr>
          <p:cNvPr id="14" name="Text 11"/>
          <p:cNvSpPr/>
          <p:nvPr/>
        </p:nvSpPr>
        <p:spPr>
          <a:xfrm>
            <a:off x="867370" y="6864906"/>
            <a:ext cx="273844" cy="342424"/>
          </a:xfrm>
          <a:prstGeom prst="rect">
            <a:avLst/>
          </a:prstGeom>
          <a:noFill/>
          <a:ln/>
        </p:spPr>
        <p:txBody>
          <a:bodyPr wrap="none" lIns="0" tIns="0" rIns="0" bIns="0" rtlCol="0" anchor="t"/>
          <a:lstStyle/>
          <a:p>
            <a:pPr algn="l" indent="0" marL="0">
              <a:lnSpc>
                <a:spcPts val="2150"/>
              </a:lnSpc>
              <a:buNone/>
            </a:pPr>
            <a:r>
              <a:rPr lang="en-US" sz="2150" dirty="0">
                <a:solidFill>
                  <a:srgbClr val="504C49"/>
                </a:solidFill>
                <a:latin typeface="Platypi Medium" pitchFamily="34" charset="0"/>
                <a:ea typeface="Platypi Medium" pitchFamily="34" charset="-122"/>
                <a:cs typeface="Platypi Medium" pitchFamily="34" charset="-120"/>
              </a:rPr>
              <a:t>3</a:t>
            </a:r>
            <a:endParaRPr lang="en-US" sz="2150" dirty="0"/>
          </a:p>
        </p:txBody>
      </p:sp>
      <p:sp>
        <p:nvSpPr>
          <p:cNvPr id="15" name="Text 12"/>
          <p:cNvSpPr/>
          <p:nvPr/>
        </p:nvSpPr>
        <p:spPr>
          <a:xfrm>
            <a:off x="1552099" y="6546533"/>
            <a:ext cx="2282785" cy="285274"/>
          </a:xfrm>
          <a:prstGeom prst="rect">
            <a:avLst/>
          </a:prstGeom>
          <a:noFill/>
          <a:ln/>
        </p:spPr>
        <p:txBody>
          <a:bodyPr wrap="none" lIns="0" tIns="0" rIns="0" bIns="0" rtlCol="0" anchor="t"/>
          <a:lstStyle/>
          <a:p>
            <a:pPr algn="l" indent="0" marL="0">
              <a:lnSpc>
                <a:spcPts val="2200"/>
              </a:lnSpc>
              <a:buNone/>
            </a:pPr>
            <a:r>
              <a:rPr lang="en-US" sz="1750" dirty="0">
                <a:solidFill>
                  <a:srgbClr val="504C49"/>
                </a:solidFill>
                <a:latin typeface="Platypi Medium" pitchFamily="34" charset="0"/>
                <a:ea typeface="Platypi Medium" pitchFamily="34" charset="-122"/>
                <a:cs typeface="Platypi Medium" pitchFamily="34" charset="-120"/>
              </a:rPr>
              <a:t>Bütüncül Yaklaşım</a:t>
            </a:r>
            <a:endParaRPr lang="en-US" sz="1750" dirty="0"/>
          </a:p>
        </p:txBody>
      </p:sp>
      <p:sp>
        <p:nvSpPr>
          <p:cNvPr id="16" name="Text 13"/>
          <p:cNvSpPr/>
          <p:nvPr/>
        </p:nvSpPr>
        <p:spPr>
          <a:xfrm>
            <a:off x="1552099" y="6941344"/>
            <a:ext cx="6952774" cy="584359"/>
          </a:xfrm>
          <a:prstGeom prst="rect">
            <a:avLst/>
          </a:prstGeom>
          <a:noFill/>
          <a:ln/>
        </p:spPr>
        <p:txBody>
          <a:bodyPr wrap="square" lIns="0" tIns="0" rIns="0" bIns="0" rtlCol="0" anchor="t"/>
          <a:lstStyle/>
          <a:p>
            <a:pPr algn="l" indent="0" marL="0">
              <a:lnSpc>
                <a:spcPts val="2300"/>
              </a:lnSpc>
              <a:buNone/>
            </a:pPr>
            <a:r>
              <a:rPr lang="en-US" sz="1400" dirty="0">
                <a:solidFill>
                  <a:srgbClr val="504C49"/>
                </a:solidFill>
                <a:latin typeface="Source Serif 4" pitchFamily="34" charset="0"/>
                <a:ea typeface="Source Serif 4" pitchFamily="34" charset="-122"/>
                <a:cs typeface="Source Serif 4" pitchFamily="34" charset="-120"/>
              </a:rPr>
              <a:t>Bu çalışma, lastik performansının çok boyutlu bir analizini sunarak bu boşluğu doldurmayı ve literatüre önemli bir katkı sağlamayı hedeflemektedir.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819638"/>
          </a:xfrm>
          <a:prstGeom prst="rect">
            <a:avLst/>
          </a:prstGeom>
        </p:spPr>
      </p:pic>
      <p:sp>
        <p:nvSpPr>
          <p:cNvPr id="3" name="Text 0"/>
          <p:cNvSpPr/>
          <p:nvPr/>
        </p:nvSpPr>
        <p:spPr>
          <a:xfrm>
            <a:off x="789503" y="3440668"/>
            <a:ext cx="5639276" cy="704850"/>
          </a:xfrm>
          <a:prstGeom prst="rect">
            <a:avLst/>
          </a:prstGeom>
          <a:noFill/>
          <a:ln/>
        </p:spPr>
        <p:txBody>
          <a:bodyPr wrap="none" lIns="0" tIns="0" rIns="0" bIns="0" rtlCol="0" anchor="t"/>
          <a:lstStyle/>
          <a:p>
            <a:pPr algn="l" indent="0" marL="0">
              <a:lnSpc>
                <a:spcPts val="5550"/>
              </a:lnSpc>
              <a:buNone/>
            </a:pPr>
            <a:r>
              <a:rPr lang="en-US" sz="4400" dirty="0">
                <a:solidFill>
                  <a:srgbClr val="201B18"/>
                </a:solidFill>
                <a:latin typeface="Platypi Medium" pitchFamily="34" charset="0"/>
                <a:ea typeface="Platypi Medium" pitchFamily="34" charset="-122"/>
                <a:cs typeface="Platypi Medium" pitchFamily="34" charset="-120"/>
              </a:rPr>
              <a:t>KAYNAKÇA</a:t>
            </a:r>
            <a:endParaRPr lang="en-US" sz="4400" dirty="0"/>
          </a:p>
        </p:txBody>
      </p:sp>
      <p:sp>
        <p:nvSpPr>
          <p:cNvPr id="4" name="Text 1"/>
          <p:cNvSpPr/>
          <p:nvPr/>
        </p:nvSpPr>
        <p:spPr>
          <a:xfrm>
            <a:off x="789503" y="4483775"/>
            <a:ext cx="13051393" cy="721995"/>
          </a:xfrm>
          <a:prstGeom prst="rect">
            <a:avLst/>
          </a:prstGeom>
          <a:noFill/>
          <a:ln/>
        </p:spPr>
        <p:txBody>
          <a:bodyPr wrap="square" lIns="0" tIns="0" rIns="0" bIns="0" rtlCol="0" anchor="t"/>
          <a:lstStyle/>
          <a:p>
            <a:pPr algn="l" marL="342900" indent="-342900">
              <a:lnSpc>
                <a:spcPts val="2800"/>
              </a:lnSpc>
              <a:buSzPct val="100000"/>
              <a:buChar char="•"/>
            </a:pPr>
            <a:r>
              <a:rPr lang="en-US" sz="1750" b="1" dirty="0">
                <a:solidFill>
                  <a:srgbClr val="504C49"/>
                </a:solidFill>
                <a:latin typeface="Source Serif 4" pitchFamily="34" charset="0"/>
                <a:ea typeface="Source Serif 4" pitchFamily="34" charset="-122"/>
                <a:cs typeface="Source Serif 4" pitchFamily="34" charset="-120"/>
              </a:rPr>
              <a:t>European Tyre and Rim Technical Organisation (ETRTO) Standartları.</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Lastik tasarımı ve performans testleri için uluslararası kabul görmüş yönergeler.</a:t>
            </a:r>
            <a:endParaRPr lang="en-US" sz="1750" dirty="0"/>
          </a:p>
        </p:txBody>
      </p:sp>
      <p:sp>
        <p:nvSpPr>
          <p:cNvPr id="5" name="Text 2"/>
          <p:cNvSpPr/>
          <p:nvPr/>
        </p:nvSpPr>
        <p:spPr>
          <a:xfrm>
            <a:off x="789503" y="5284708"/>
            <a:ext cx="13051393" cy="721995"/>
          </a:xfrm>
          <a:prstGeom prst="rect">
            <a:avLst/>
          </a:prstGeom>
          <a:noFill/>
          <a:ln/>
        </p:spPr>
        <p:txBody>
          <a:bodyPr wrap="square" lIns="0" tIns="0" rIns="0" bIns="0" rtlCol="0" anchor="t"/>
          <a:lstStyle/>
          <a:p>
            <a:pPr algn="l" marL="342900" indent="-342900">
              <a:lnSpc>
                <a:spcPts val="2800"/>
              </a:lnSpc>
              <a:buSzPct val="100000"/>
              <a:buChar char="•"/>
            </a:pPr>
            <a:r>
              <a:rPr lang="en-US" sz="1750" b="1" dirty="0">
                <a:solidFill>
                  <a:srgbClr val="504C49"/>
                </a:solidFill>
                <a:latin typeface="Source Serif 4" pitchFamily="34" charset="0"/>
                <a:ea typeface="Source Serif 4" pitchFamily="34" charset="-122"/>
                <a:cs typeface="Source Serif 4" pitchFamily="34" charset="-120"/>
              </a:rPr>
              <a:t>Smith, J. et al. (2022), "Acoustic Comfort in Winter Tyres", Journal of Automotive Engineering.</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Kış lastiklerinin akustik performansı üzerine detaylı deneysel ve teorik bir çalışma.</a:t>
            </a:r>
            <a:endParaRPr lang="en-US" sz="1750" dirty="0"/>
          </a:p>
        </p:txBody>
      </p:sp>
      <p:sp>
        <p:nvSpPr>
          <p:cNvPr id="6" name="Text 3"/>
          <p:cNvSpPr/>
          <p:nvPr/>
        </p:nvSpPr>
        <p:spPr>
          <a:xfrm>
            <a:off x="789503" y="6085642"/>
            <a:ext cx="13051393" cy="721995"/>
          </a:xfrm>
          <a:prstGeom prst="rect">
            <a:avLst/>
          </a:prstGeom>
          <a:noFill/>
          <a:ln/>
        </p:spPr>
        <p:txBody>
          <a:bodyPr wrap="square" lIns="0" tIns="0" rIns="0" bIns="0" rtlCol="0" anchor="t"/>
          <a:lstStyle/>
          <a:p>
            <a:pPr algn="l" marL="342900" indent="-342900">
              <a:lnSpc>
                <a:spcPts val="2800"/>
              </a:lnSpc>
              <a:buSzPct val="100000"/>
              <a:buChar char="•"/>
            </a:pPr>
            <a:r>
              <a:rPr lang="en-US" sz="1750" b="1" dirty="0">
                <a:solidFill>
                  <a:srgbClr val="504C49"/>
                </a:solidFill>
                <a:latin typeface="Source Serif 4" pitchFamily="34" charset="0"/>
                <a:ea typeface="Source Serif 4" pitchFamily="34" charset="-122"/>
                <a:cs typeface="Source Serif 4" pitchFamily="34" charset="-120"/>
              </a:rPr>
              <a:t>ADAC Winter Tyre Performance Reports (2024).</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Alman Otomobil Kulübü'nün yıllık kış lastiği testlerinin en güncel sonuçları ve analizleri.</a:t>
            </a:r>
            <a:endParaRPr lang="en-US" sz="1750" dirty="0"/>
          </a:p>
        </p:txBody>
      </p:sp>
      <p:sp>
        <p:nvSpPr>
          <p:cNvPr id="7" name="Text 4"/>
          <p:cNvSpPr/>
          <p:nvPr/>
        </p:nvSpPr>
        <p:spPr>
          <a:xfrm>
            <a:off x="789503" y="6886575"/>
            <a:ext cx="13051393" cy="721995"/>
          </a:xfrm>
          <a:prstGeom prst="rect">
            <a:avLst/>
          </a:prstGeom>
          <a:noFill/>
          <a:ln/>
        </p:spPr>
        <p:txBody>
          <a:bodyPr wrap="square" lIns="0" tIns="0" rIns="0" bIns="0" rtlCol="0" anchor="t"/>
          <a:lstStyle/>
          <a:p>
            <a:pPr algn="l" marL="342900" indent="-342900">
              <a:lnSpc>
                <a:spcPts val="2800"/>
              </a:lnSpc>
              <a:buSzPct val="100000"/>
              <a:buChar char="•"/>
            </a:pPr>
            <a:r>
              <a:rPr lang="en-US" sz="1750" b="1" dirty="0">
                <a:solidFill>
                  <a:srgbClr val="504C49"/>
                </a:solidFill>
                <a:latin typeface="Source Serif 4" pitchFamily="34" charset="0"/>
                <a:ea typeface="Source Serif 4" pitchFamily="34" charset="-122"/>
                <a:cs typeface="Source Serif 4" pitchFamily="34" charset="-120"/>
              </a:rPr>
              <a:t>Google Scholar ve ScienceDirect Veri Tabanları.</a:t>
            </a:r>
            <a:pPr algn="l" indent="0" marL="0">
              <a:lnSpc>
                <a:spcPts val="2800"/>
              </a:lnSpc>
              <a:buNone/>
            </a:pPr>
            <a:r>
              <a:rPr lang="en-US" sz="1750" dirty="0">
                <a:solidFill>
                  <a:srgbClr val="504C49"/>
                </a:solidFill>
                <a:latin typeface="Source Serif 4" pitchFamily="34" charset="0"/>
                <a:ea typeface="Source Serif 4" pitchFamily="34" charset="-122"/>
                <a:cs typeface="Source Serif 4" pitchFamily="34" charset="-120"/>
              </a:rPr>
              <a:t> Kış lastiği teknolojileri, malzemeleri ve performans karakteristikleri üzerine geniş bir akademik literatür taraması için kullanılan bilimsel veritabanları.</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2098953"/>
            <a:ext cx="5670590"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ÇALIŞMA EKİBİ</a:t>
            </a:r>
            <a:endParaRPr lang="en-US" sz="4450" dirty="0"/>
          </a:p>
        </p:txBody>
      </p:sp>
      <p:sp>
        <p:nvSpPr>
          <p:cNvPr id="4" name="Shape 1"/>
          <p:cNvSpPr/>
          <p:nvPr/>
        </p:nvSpPr>
        <p:spPr>
          <a:xfrm>
            <a:off x="6280190" y="3147893"/>
            <a:ext cx="7556421" cy="1377910"/>
          </a:xfrm>
          <a:prstGeom prst="roundRect">
            <a:avLst>
              <a:gd name="adj" fmla="val 39508"/>
            </a:avLst>
          </a:prstGeom>
          <a:solidFill>
            <a:srgbClr val="F9F7F7"/>
          </a:solidFill>
          <a:ln/>
        </p:spPr>
      </p:sp>
      <p:sp>
        <p:nvSpPr>
          <p:cNvPr id="5" name="Text 2"/>
          <p:cNvSpPr/>
          <p:nvPr/>
        </p:nvSpPr>
        <p:spPr>
          <a:xfrm>
            <a:off x="6507004" y="3374708"/>
            <a:ext cx="3402330" cy="425291"/>
          </a:xfrm>
          <a:prstGeom prst="rect">
            <a:avLst/>
          </a:prstGeom>
          <a:noFill/>
          <a:ln/>
        </p:spPr>
        <p:txBody>
          <a:bodyPr wrap="none" lIns="0" tIns="0" rIns="0" bIns="0" rtlCol="0" anchor="t"/>
          <a:lstStyle/>
          <a:p>
            <a:pPr algn="l" indent="0" marL="0">
              <a:lnSpc>
                <a:spcPts val="3300"/>
              </a:lnSpc>
              <a:buNone/>
            </a:pPr>
            <a:r>
              <a:rPr lang="en-US" sz="2650" dirty="0">
                <a:solidFill>
                  <a:srgbClr val="504C49"/>
                </a:solidFill>
                <a:latin typeface="Platypi Medium" pitchFamily="34" charset="0"/>
                <a:ea typeface="Platypi Medium" pitchFamily="34" charset="-122"/>
                <a:cs typeface="Platypi Medium" pitchFamily="34" charset="-120"/>
              </a:rPr>
              <a:t>MUSTAFA ERAYDIN</a:t>
            </a:r>
            <a:endParaRPr lang="en-US" sz="2650" dirty="0"/>
          </a:p>
        </p:txBody>
      </p:sp>
      <p:sp>
        <p:nvSpPr>
          <p:cNvPr id="6" name="Text 3"/>
          <p:cNvSpPr/>
          <p:nvPr/>
        </p:nvSpPr>
        <p:spPr>
          <a:xfrm>
            <a:off x="6507004" y="3936087"/>
            <a:ext cx="7102793" cy="362903"/>
          </a:xfrm>
          <a:prstGeom prst="rect">
            <a:avLst/>
          </a:prstGeom>
          <a:noFill/>
          <a:ln/>
        </p:spPr>
        <p:txBody>
          <a:bodyPr wrap="none" lIns="0" tIns="0" rIns="0" bIns="0" rtlCol="0" anchor="t"/>
          <a:lstStyle/>
          <a:p>
            <a:pPr algn="l" indent="0" marL="0">
              <a:lnSpc>
                <a:spcPts val="2850"/>
              </a:lnSpc>
              <a:buNone/>
            </a:pPr>
            <a:r>
              <a:rPr lang="en-US" sz="1750" b="1" dirty="0">
                <a:solidFill>
                  <a:srgbClr val="504C49"/>
                </a:solidFill>
                <a:latin typeface="Source Serif 4" pitchFamily="34" charset="0"/>
                <a:ea typeface="Source Serif 4" pitchFamily="34" charset="-122"/>
                <a:cs typeface="Source Serif 4" pitchFamily="34" charset="-120"/>
              </a:rPr>
              <a:t>Öğrenci Numarası:</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360125051</a:t>
            </a:r>
            <a:endParaRPr lang="en-US" sz="1750" dirty="0"/>
          </a:p>
        </p:txBody>
      </p:sp>
      <p:sp>
        <p:nvSpPr>
          <p:cNvPr id="7" name="Shape 4"/>
          <p:cNvSpPr/>
          <p:nvPr/>
        </p:nvSpPr>
        <p:spPr>
          <a:xfrm>
            <a:off x="6280190" y="4752618"/>
            <a:ext cx="7556421" cy="1377910"/>
          </a:xfrm>
          <a:prstGeom prst="roundRect">
            <a:avLst>
              <a:gd name="adj" fmla="val 39508"/>
            </a:avLst>
          </a:prstGeom>
          <a:solidFill>
            <a:srgbClr val="F9F7F7"/>
          </a:solidFill>
          <a:ln/>
        </p:spPr>
      </p:sp>
      <p:sp>
        <p:nvSpPr>
          <p:cNvPr id="8" name="Text 5"/>
          <p:cNvSpPr/>
          <p:nvPr/>
        </p:nvSpPr>
        <p:spPr>
          <a:xfrm>
            <a:off x="6507004" y="4979432"/>
            <a:ext cx="3402330" cy="425291"/>
          </a:xfrm>
          <a:prstGeom prst="rect">
            <a:avLst/>
          </a:prstGeom>
          <a:noFill/>
          <a:ln/>
        </p:spPr>
        <p:txBody>
          <a:bodyPr wrap="none" lIns="0" tIns="0" rIns="0" bIns="0" rtlCol="0" anchor="t"/>
          <a:lstStyle/>
          <a:p>
            <a:pPr algn="l" indent="0" marL="0">
              <a:lnSpc>
                <a:spcPts val="3300"/>
              </a:lnSpc>
              <a:buNone/>
            </a:pPr>
            <a:r>
              <a:rPr lang="en-US" sz="2650" dirty="0">
                <a:solidFill>
                  <a:srgbClr val="504C49"/>
                </a:solidFill>
                <a:latin typeface="Platypi Medium" pitchFamily="34" charset="0"/>
                <a:ea typeface="Platypi Medium" pitchFamily="34" charset="-122"/>
                <a:cs typeface="Platypi Medium" pitchFamily="34" charset="-120"/>
              </a:rPr>
              <a:t>ŞEVKİ BİLGİÇ</a:t>
            </a:r>
            <a:endParaRPr lang="en-US" sz="2650" dirty="0"/>
          </a:p>
        </p:txBody>
      </p:sp>
      <p:sp>
        <p:nvSpPr>
          <p:cNvPr id="9" name="Text 6"/>
          <p:cNvSpPr/>
          <p:nvPr/>
        </p:nvSpPr>
        <p:spPr>
          <a:xfrm>
            <a:off x="6507004" y="5540812"/>
            <a:ext cx="7102793" cy="362903"/>
          </a:xfrm>
          <a:prstGeom prst="rect">
            <a:avLst/>
          </a:prstGeom>
          <a:noFill/>
          <a:ln/>
        </p:spPr>
        <p:txBody>
          <a:bodyPr wrap="none" lIns="0" tIns="0" rIns="0" bIns="0" rtlCol="0" anchor="t"/>
          <a:lstStyle/>
          <a:p>
            <a:pPr algn="l" indent="0" marL="0">
              <a:lnSpc>
                <a:spcPts val="2850"/>
              </a:lnSpc>
              <a:buNone/>
            </a:pPr>
            <a:r>
              <a:rPr lang="en-US" sz="1750" b="1" dirty="0">
                <a:solidFill>
                  <a:srgbClr val="504C49"/>
                </a:solidFill>
                <a:latin typeface="Source Serif 4" pitchFamily="34" charset="0"/>
                <a:ea typeface="Source Serif 4" pitchFamily="34" charset="-122"/>
                <a:cs typeface="Source Serif 4" pitchFamily="34" charset="-120"/>
              </a:rPr>
              <a:t>Öğrenci Numarası:</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360125050</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2025-12-29T11:24:11Z</dcterms:created>
  <dcterms:modified xsi:type="dcterms:W3CDTF">2025-12-29T11:24:11Z</dcterms:modified>
</cp:coreProperties>
</file>