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8.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9" r:id="rId6"/>
    <p:sldId id="258" r:id="rId7"/>
    <p:sldId id="260" r:id="rId8"/>
    <p:sldId id="261" r:id="rId9"/>
    <p:sldId id="262" r:id="rId10"/>
    <p:sldId id="263" r:id="rId11"/>
    <p:sldId id="264" r:id="rId12"/>
    <p:sldId id="265" r:id="rId13"/>
    <p:sldId id="266" r:id="rId14"/>
    <p:sldId id="267" r:id="rId15"/>
    <p:sldId id="268" r:id="rId16"/>
    <p:sldId id="270" r:id="rId17"/>
    <p:sldId id="269" r:id="rId18"/>
  </p:sldIdLst>
  <p:sldSz cx="14630400" cy="8229600"/>
  <p:notesSz cx="8229600" cy="14630400"/>
  <p:embeddedFontLst>
    <p:embeddedFont>
      <p:font typeface="Inter" panose="02000503000000020004" pitchFamily="34" charset="0"/>
      <p:bold r:id="rId22"/>
    </p:embeddedFont>
    <p:embeddedFont>
      <p:font typeface="Inter" panose="02000503000000020004" pitchFamily="34" charset="-122"/>
      <p:bold r:id="rId23"/>
    </p:embeddedFont>
    <p:embeddedFont>
      <p:font typeface="Inter" panose="02000503000000020004" pitchFamily="34" charset="-120"/>
      <p:bold r:id="rId24"/>
    </p:embeddedFont>
    <p:embeddedFont>
      <p:font typeface="Calibri" panose="020F0502020204030204"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8.xml"/><Relationship Id="rId2" Type="http://schemas.openxmlformats.org/officeDocument/2006/relationships/image" Target="../media/image5.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9.xml"/><Relationship Id="rId2" Type="http://schemas.openxmlformats.org/officeDocument/2006/relationships/image" Target="../media/image5.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5.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4.xml"/><Relationship Id="rId3" Type="http://schemas.openxmlformats.org/officeDocument/2006/relationships/image" Target="../media/image18.svg"/><Relationship Id="rId2" Type="http://schemas.openxmlformats.org/officeDocument/2006/relationships/image" Target="../media/image6.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hyperlink" Target="mailto:sevkibilgic@marun.edu.tr" TargetMode="External"/><Relationship Id="rId3" Type="http://schemas.openxmlformats.org/officeDocument/2006/relationships/hyperlink" Target="mailto:su.ulusal@marun.edu.tr" TargetMode="External"/><Relationship Id="rId2" Type="http://schemas.openxmlformats.org/officeDocument/2006/relationships/hyperlink" Target="mailto:eren.tastan@marun.edu.tr" TargetMode="External"/><Relationship Id="rId1" Type="http://schemas.openxmlformats.org/officeDocument/2006/relationships/hyperlink" Target="mailto:mustafaeraydin@marun.edu.tr"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42793"/>
            <a:ext cx="7556421" cy="3543895"/>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Son 50 Yılın Sıcaklık Değişimi: Lineer Regresyon, Karar Ağacı ve Random Forest Karşılaştırması</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1873" y="752237"/>
            <a:ext cx="7740253" cy="1253252"/>
          </a:xfrm>
          <a:prstGeom prst="rect">
            <a:avLst/>
          </a:prstGeom>
          <a:noFill/>
        </p:spPr>
        <p:txBody>
          <a:bodyPr wrap="square" lIns="0" tIns="0" rIns="0" bIns="0" rtlCol="0" anchor="t"/>
          <a:lstStyle/>
          <a:p>
            <a:pPr marL="0" indent="0" algn="l">
              <a:lnSpc>
                <a:spcPts val="4900"/>
              </a:lnSpc>
              <a:buNone/>
            </a:pPr>
            <a:r>
              <a:rPr lang="en-US" sz="3900" b="1" dirty="0">
                <a:solidFill>
                  <a:srgbClr val="000000"/>
                </a:solidFill>
                <a:latin typeface="Inter Bold" pitchFamily="34" charset="0"/>
                <a:ea typeface="Inter Bold" pitchFamily="34" charset="-122"/>
                <a:cs typeface="Inter Bold" pitchFamily="34" charset="-120"/>
              </a:rPr>
              <a:t>İklim Değişikliği ve Sıcaklık Tahmininin Önemi</a:t>
            </a:r>
            <a:endParaRPr lang="en-US" sz="3900" dirty="0"/>
          </a:p>
        </p:txBody>
      </p:sp>
      <p:sp>
        <p:nvSpPr>
          <p:cNvPr id="4" name="Shape 1"/>
          <p:cNvSpPr/>
          <p:nvPr/>
        </p:nvSpPr>
        <p:spPr>
          <a:xfrm>
            <a:off x="701873" y="2306241"/>
            <a:ext cx="3769876" cy="2485311"/>
          </a:xfrm>
          <a:prstGeom prst="roundRect">
            <a:avLst>
              <a:gd name="adj" fmla="val 4415"/>
            </a:avLst>
          </a:prstGeom>
          <a:solidFill>
            <a:srgbClr val="FFFFFF"/>
          </a:solidFill>
          <a:ln w="22860">
            <a:solidFill>
              <a:srgbClr val="D0B2E5"/>
            </a:solidFill>
            <a:prstDash val="solid"/>
          </a:ln>
        </p:spPr>
      </p:sp>
      <p:sp>
        <p:nvSpPr>
          <p:cNvPr id="5" name="Shape 2"/>
          <p:cNvSpPr/>
          <p:nvPr/>
        </p:nvSpPr>
        <p:spPr>
          <a:xfrm>
            <a:off x="679013" y="2306241"/>
            <a:ext cx="91440" cy="2485311"/>
          </a:xfrm>
          <a:prstGeom prst="roundRect">
            <a:avLst>
              <a:gd name="adj" fmla="val 92123"/>
            </a:avLst>
          </a:prstGeom>
          <a:solidFill>
            <a:srgbClr val="9A0DFF"/>
          </a:solidFill>
        </p:spPr>
      </p:sp>
      <p:sp>
        <p:nvSpPr>
          <p:cNvPr id="6" name="Text 3"/>
          <p:cNvSpPr/>
          <p:nvPr/>
        </p:nvSpPr>
        <p:spPr>
          <a:xfrm>
            <a:off x="993815" y="2529602"/>
            <a:ext cx="2506980" cy="313373"/>
          </a:xfrm>
          <a:prstGeom prst="rect">
            <a:avLst/>
          </a:prstGeom>
          <a:noFill/>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Küresel Etkiler</a:t>
            </a:r>
            <a:endParaRPr lang="en-US" sz="1950" dirty="0"/>
          </a:p>
        </p:txBody>
      </p:sp>
      <p:sp>
        <p:nvSpPr>
          <p:cNvPr id="7" name="Text 4"/>
          <p:cNvSpPr/>
          <p:nvPr/>
        </p:nvSpPr>
        <p:spPr>
          <a:xfrm>
            <a:off x="993815" y="2963228"/>
            <a:ext cx="3254573" cy="1604963"/>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Küresel sıcaklık artışının çevresel ve sosyal etkileri gezegenimizi derinden etkilemektedir. Doğru tahminler, bu etkilerle mücadelede kritik rol oynar.</a:t>
            </a:r>
            <a:endParaRPr lang="en-US" sz="1550" dirty="0"/>
          </a:p>
        </p:txBody>
      </p:sp>
      <p:sp>
        <p:nvSpPr>
          <p:cNvPr id="8" name="Shape 5"/>
          <p:cNvSpPr/>
          <p:nvPr/>
        </p:nvSpPr>
        <p:spPr>
          <a:xfrm>
            <a:off x="4672251" y="2306241"/>
            <a:ext cx="3769876" cy="2485311"/>
          </a:xfrm>
          <a:prstGeom prst="roundRect">
            <a:avLst>
              <a:gd name="adj" fmla="val 4415"/>
            </a:avLst>
          </a:prstGeom>
          <a:solidFill>
            <a:srgbClr val="FFFFFF"/>
          </a:solidFill>
          <a:ln w="22860">
            <a:solidFill>
              <a:srgbClr val="D0B2E5"/>
            </a:solidFill>
            <a:prstDash val="solid"/>
          </a:ln>
        </p:spPr>
      </p:sp>
      <p:sp>
        <p:nvSpPr>
          <p:cNvPr id="9" name="Shape 6"/>
          <p:cNvSpPr/>
          <p:nvPr/>
        </p:nvSpPr>
        <p:spPr>
          <a:xfrm>
            <a:off x="4649391" y="2306241"/>
            <a:ext cx="91440" cy="2485311"/>
          </a:xfrm>
          <a:prstGeom prst="roundRect">
            <a:avLst>
              <a:gd name="adj" fmla="val 92123"/>
            </a:avLst>
          </a:prstGeom>
          <a:solidFill>
            <a:srgbClr val="9A0DFF"/>
          </a:solidFill>
        </p:spPr>
      </p:sp>
      <p:sp>
        <p:nvSpPr>
          <p:cNvPr id="10" name="Text 7"/>
          <p:cNvSpPr/>
          <p:nvPr/>
        </p:nvSpPr>
        <p:spPr>
          <a:xfrm>
            <a:off x="4964192" y="2529602"/>
            <a:ext cx="2506980" cy="313373"/>
          </a:xfrm>
          <a:prstGeom prst="rect">
            <a:avLst/>
          </a:prstGeom>
          <a:noFill/>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Politika Belirleme</a:t>
            </a:r>
            <a:endParaRPr lang="en-US" sz="1950" dirty="0"/>
          </a:p>
        </p:txBody>
      </p:sp>
      <p:sp>
        <p:nvSpPr>
          <p:cNvPr id="11" name="Text 8"/>
          <p:cNvSpPr/>
          <p:nvPr/>
        </p:nvSpPr>
        <p:spPr>
          <a:xfrm>
            <a:off x="4964192" y="2963228"/>
            <a:ext cx="3254573" cy="1604963"/>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Doğru tahmin modelleri, iklim politikalarının geliştirilmesi ve uygulanması için kritik bir temel oluşturur. Geleceğe yönelik stratejiler bu verilere dayanır.</a:t>
            </a:r>
            <a:endParaRPr lang="en-US" sz="1550" dirty="0"/>
          </a:p>
        </p:txBody>
      </p:sp>
      <p:sp>
        <p:nvSpPr>
          <p:cNvPr id="12" name="Shape 9"/>
          <p:cNvSpPr/>
          <p:nvPr/>
        </p:nvSpPr>
        <p:spPr>
          <a:xfrm>
            <a:off x="701873" y="4992053"/>
            <a:ext cx="3769876" cy="2485311"/>
          </a:xfrm>
          <a:prstGeom prst="roundRect">
            <a:avLst>
              <a:gd name="adj" fmla="val 4415"/>
            </a:avLst>
          </a:prstGeom>
          <a:solidFill>
            <a:srgbClr val="FFFFFF"/>
          </a:solidFill>
          <a:ln w="22860">
            <a:solidFill>
              <a:srgbClr val="D0B2E5"/>
            </a:solidFill>
            <a:prstDash val="solid"/>
          </a:ln>
        </p:spPr>
      </p:sp>
      <p:sp>
        <p:nvSpPr>
          <p:cNvPr id="13" name="Shape 10"/>
          <p:cNvSpPr/>
          <p:nvPr/>
        </p:nvSpPr>
        <p:spPr>
          <a:xfrm>
            <a:off x="679013" y="4992053"/>
            <a:ext cx="91440" cy="2485311"/>
          </a:xfrm>
          <a:prstGeom prst="roundRect">
            <a:avLst>
              <a:gd name="adj" fmla="val 92123"/>
            </a:avLst>
          </a:prstGeom>
          <a:solidFill>
            <a:srgbClr val="9A0DFF"/>
          </a:solidFill>
        </p:spPr>
      </p:sp>
      <p:sp>
        <p:nvSpPr>
          <p:cNvPr id="14" name="Text 11"/>
          <p:cNvSpPr/>
          <p:nvPr/>
        </p:nvSpPr>
        <p:spPr>
          <a:xfrm>
            <a:off x="993815" y="5215414"/>
            <a:ext cx="2506980" cy="313373"/>
          </a:xfrm>
          <a:prstGeom prst="rect">
            <a:avLst/>
          </a:prstGeom>
          <a:noFill/>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ML'in Yükselişi</a:t>
            </a:r>
            <a:endParaRPr lang="en-US" sz="1950" dirty="0"/>
          </a:p>
        </p:txBody>
      </p:sp>
      <p:sp>
        <p:nvSpPr>
          <p:cNvPr id="15" name="Text 12"/>
          <p:cNvSpPr/>
          <p:nvPr/>
        </p:nvSpPr>
        <p:spPr>
          <a:xfrm>
            <a:off x="993815" y="5649039"/>
            <a:ext cx="3254573" cy="1604963"/>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Makine öğrenmesi yöntemleri, karmaşık iklim verilerini analiz etme ve daha doğru tahminler yapma konusunda giderek artan bir rol oynamaktadır.</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58376" y="577215"/>
            <a:ext cx="8000048" cy="1021556"/>
          </a:xfrm>
          <a:prstGeom prst="rect">
            <a:avLst/>
          </a:prstGeom>
          <a:noFill/>
        </p:spPr>
        <p:txBody>
          <a:bodyPr wrap="square" lIns="0" tIns="0" rIns="0" bIns="0" rtlCol="0" anchor="t"/>
          <a:lstStyle/>
          <a:p>
            <a:pPr marL="0" indent="0" algn="l">
              <a:lnSpc>
                <a:spcPts val="4000"/>
              </a:lnSpc>
              <a:buNone/>
            </a:pPr>
            <a:r>
              <a:rPr lang="en-US" sz="3200" b="1" dirty="0">
                <a:solidFill>
                  <a:srgbClr val="000000"/>
                </a:solidFill>
                <a:latin typeface="Inter Bold" pitchFamily="34" charset="0"/>
                <a:ea typeface="Inter Bold" pitchFamily="34" charset="-122"/>
                <a:cs typeface="Inter Bold" pitchFamily="34" charset="-120"/>
              </a:rPr>
              <a:t>İklim Değişikliğinin Hayatımıza Etkileri: Anket Sonuçları</a:t>
            </a:r>
            <a:endParaRPr lang="en-US" sz="3200" dirty="0"/>
          </a:p>
        </p:txBody>
      </p:sp>
      <p:sp>
        <p:nvSpPr>
          <p:cNvPr id="4" name="Text 1"/>
          <p:cNvSpPr/>
          <p:nvPr/>
        </p:nvSpPr>
        <p:spPr>
          <a:xfrm>
            <a:off x="6058376" y="1843921"/>
            <a:ext cx="8000048" cy="522922"/>
          </a:xfrm>
          <a:prstGeom prst="rect">
            <a:avLst/>
          </a:prstGeom>
          <a:noFill/>
        </p:spPr>
        <p:txBody>
          <a:bodyPr wrap="squar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Yakın zamanda yapılan bir anket, iklim değişikliğinin günlük yaşamımız üzerindeki etkilerine dair çarpıcı sonuçlar ortaya koydu:</a:t>
            </a:r>
            <a:endParaRPr lang="en-US" sz="1250" dirty="0"/>
          </a:p>
        </p:txBody>
      </p:sp>
      <p:sp>
        <p:nvSpPr>
          <p:cNvPr id="5" name="Shape 2"/>
          <p:cNvSpPr/>
          <p:nvPr/>
        </p:nvSpPr>
        <p:spPr>
          <a:xfrm>
            <a:off x="6058376" y="2550676"/>
            <a:ext cx="8000048" cy="1218248"/>
          </a:xfrm>
          <a:prstGeom prst="roundRect">
            <a:avLst>
              <a:gd name="adj" fmla="val 32201"/>
            </a:avLst>
          </a:prstGeom>
          <a:solidFill>
            <a:srgbClr val="EACCFF"/>
          </a:solidFill>
          <a:ln w="7620">
            <a:solidFill>
              <a:srgbClr val="D0B2E5"/>
            </a:solidFill>
            <a:prstDash val="solid"/>
          </a:ln>
        </p:spPr>
      </p:sp>
      <p:sp>
        <p:nvSpPr>
          <p:cNvPr id="6" name="Text 3"/>
          <p:cNvSpPr/>
          <p:nvPr/>
        </p:nvSpPr>
        <p:spPr>
          <a:xfrm>
            <a:off x="6229350" y="2721650"/>
            <a:ext cx="2331482" cy="255389"/>
          </a:xfrm>
          <a:prstGeom prst="rect">
            <a:avLst/>
          </a:prstGeom>
          <a:noFill/>
        </p:spPr>
        <p:txBody>
          <a:bodyPr wrap="none" lIns="0" tIns="0" rIns="0" bIns="0" rtlCol="0" anchor="t"/>
          <a:lstStyle/>
          <a:p>
            <a:pPr marL="0" indent="0" algn="l">
              <a:lnSpc>
                <a:spcPts val="2000"/>
              </a:lnSpc>
              <a:buNone/>
            </a:pPr>
            <a:r>
              <a:rPr lang="en-US" sz="1600" b="1" dirty="0">
                <a:solidFill>
                  <a:srgbClr val="272525"/>
                </a:solidFill>
                <a:latin typeface="Inter Bold" pitchFamily="34" charset="0"/>
                <a:ea typeface="Inter Bold" pitchFamily="34" charset="-122"/>
                <a:cs typeface="Inter Bold" pitchFamily="34" charset="-120"/>
              </a:rPr>
              <a:t>%78 Aşırı Hava Olayları</a:t>
            </a:r>
            <a:endParaRPr lang="en-US" sz="1600" dirty="0"/>
          </a:p>
        </p:txBody>
      </p:sp>
      <p:sp>
        <p:nvSpPr>
          <p:cNvPr id="7" name="Text 4"/>
          <p:cNvSpPr/>
          <p:nvPr/>
        </p:nvSpPr>
        <p:spPr>
          <a:xfrm>
            <a:off x="6229350" y="3075027"/>
            <a:ext cx="7658100" cy="522922"/>
          </a:xfrm>
          <a:prstGeom prst="rect">
            <a:avLst/>
          </a:prstGeom>
          <a:noFill/>
        </p:spPr>
        <p:txBody>
          <a:bodyPr wrap="squar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Katılımcıların büyük çoğunluğu, son 5 yılda aşırı hava olaylarının (şiddetli fırtınalar, sıcak hava dalgaları, aşırı yağışlar) arttığını gözlemledi.</a:t>
            </a:r>
            <a:endParaRPr lang="en-US" sz="1250" dirty="0"/>
          </a:p>
        </p:txBody>
      </p:sp>
      <p:sp>
        <p:nvSpPr>
          <p:cNvPr id="8" name="Shape 5"/>
          <p:cNvSpPr/>
          <p:nvPr/>
        </p:nvSpPr>
        <p:spPr>
          <a:xfrm>
            <a:off x="6058376" y="3932277"/>
            <a:ext cx="8000048" cy="956786"/>
          </a:xfrm>
          <a:prstGeom prst="roundRect">
            <a:avLst>
              <a:gd name="adj" fmla="val 41000"/>
            </a:avLst>
          </a:prstGeom>
          <a:solidFill>
            <a:srgbClr val="EACCFF"/>
          </a:solidFill>
          <a:ln w="7620">
            <a:solidFill>
              <a:srgbClr val="D0B2E5"/>
            </a:solidFill>
            <a:prstDash val="solid"/>
          </a:ln>
        </p:spPr>
      </p:sp>
      <p:sp>
        <p:nvSpPr>
          <p:cNvPr id="9" name="Text 6"/>
          <p:cNvSpPr/>
          <p:nvPr/>
        </p:nvSpPr>
        <p:spPr>
          <a:xfrm>
            <a:off x="6229350" y="4103251"/>
            <a:ext cx="2191583" cy="255389"/>
          </a:xfrm>
          <a:prstGeom prst="rect">
            <a:avLst/>
          </a:prstGeom>
          <a:noFill/>
        </p:spPr>
        <p:txBody>
          <a:bodyPr wrap="none" lIns="0" tIns="0" rIns="0" bIns="0" rtlCol="0" anchor="t"/>
          <a:lstStyle/>
          <a:p>
            <a:pPr marL="0" indent="0" algn="l">
              <a:lnSpc>
                <a:spcPts val="2000"/>
              </a:lnSpc>
              <a:buNone/>
            </a:pPr>
            <a:r>
              <a:rPr lang="en-US" sz="1600" b="1" dirty="0">
                <a:solidFill>
                  <a:srgbClr val="272525"/>
                </a:solidFill>
                <a:latin typeface="Inter Bold" pitchFamily="34" charset="0"/>
                <a:ea typeface="Inter Bold" pitchFamily="34" charset="-122"/>
                <a:cs typeface="Inter Bold" pitchFamily="34" charset="-120"/>
              </a:rPr>
              <a:t>%65 Su ve Gıda Kıtlığı</a:t>
            </a:r>
            <a:endParaRPr lang="en-US" sz="1600" dirty="0"/>
          </a:p>
        </p:txBody>
      </p:sp>
      <p:sp>
        <p:nvSpPr>
          <p:cNvPr id="10" name="Text 7"/>
          <p:cNvSpPr/>
          <p:nvPr/>
        </p:nvSpPr>
        <p:spPr>
          <a:xfrm>
            <a:off x="6229350" y="4456628"/>
            <a:ext cx="7658100" cy="261461"/>
          </a:xfrm>
          <a:prstGeom prst="rect">
            <a:avLst/>
          </a:prstGeom>
          <a:noFill/>
        </p:spPr>
        <p:txBody>
          <a:bodyPr wrap="non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Çoğunluk, iklim değişikliğinin yol açabileceği su ve gıda kıtlığı konusunda ciddi endişeler taşıyor.</a:t>
            </a:r>
            <a:endParaRPr lang="en-US" sz="1250" dirty="0"/>
          </a:p>
        </p:txBody>
      </p:sp>
      <p:sp>
        <p:nvSpPr>
          <p:cNvPr id="11" name="Shape 8"/>
          <p:cNvSpPr/>
          <p:nvPr/>
        </p:nvSpPr>
        <p:spPr>
          <a:xfrm>
            <a:off x="6058376" y="5052417"/>
            <a:ext cx="8000048" cy="1218248"/>
          </a:xfrm>
          <a:prstGeom prst="roundRect">
            <a:avLst>
              <a:gd name="adj" fmla="val 32201"/>
            </a:avLst>
          </a:prstGeom>
          <a:solidFill>
            <a:srgbClr val="EACCFF"/>
          </a:solidFill>
          <a:ln w="7620">
            <a:solidFill>
              <a:srgbClr val="D0B2E5"/>
            </a:solidFill>
            <a:prstDash val="solid"/>
          </a:ln>
        </p:spPr>
      </p:sp>
      <p:sp>
        <p:nvSpPr>
          <p:cNvPr id="12" name="Text 9"/>
          <p:cNvSpPr/>
          <p:nvPr/>
        </p:nvSpPr>
        <p:spPr>
          <a:xfrm>
            <a:off x="6229350" y="5223391"/>
            <a:ext cx="2677001" cy="255389"/>
          </a:xfrm>
          <a:prstGeom prst="rect">
            <a:avLst/>
          </a:prstGeom>
          <a:noFill/>
        </p:spPr>
        <p:txBody>
          <a:bodyPr wrap="none" lIns="0" tIns="0" rIns="0" bIns="0" rtlCol="0" anchor="t"/>
          <a:lstStyle/>
          <a:p>
            <a:pPr marL="0" indent="0" algn="l">
              <a:lnSpc>
                <a:spcPts val="2000"/>
              </a:lnSpc>
              <a:buNone/>
            </a:pPr>
            <a:r>
              <a:rPr lang="en-US" sz="1600" b="1" dirty="0">
                <a:solidFill>
                  <a:srgbClr val="272525"/>
                </a:solidFill>
                <a:latin typeface="Inter Bold" pitchFamily="34" charset="0"/>
                <a:ea typeface="Inter Bold" pitchFamily="34" charset="-122"/>
                <a:cs typeface="Inter Bold" pitchFamily="34" charset="-120"/>
              </a:rPr>
              <a:t>%54 Sağlık Sorunları Artışı</a:t>
            </a:r>
            <a:endParaRPr lang="en-US" sz="1600" dirty="0"/>
          </a:p>
        </p:txBody>
      </p:sp>
      <p:sp>
        <p:nvSpPr>
          <p:cNvPr id="13" name="Text 10"/>
          <p:cNvSpPr/>
          <p:nvPr/>
        </p:nvSpPr>
        <p:spPr>
          <a:xfrm>
            <a:off x="6229350" y="5576768"/>
            <a:ext cx="7658100" cy="522922"/>
          </a:xfrm>
          <a:prstGeom prst="rect">
            <a:avLst/>
          </a:prstGeom>
          <a:noFill/>
        </p:spPr>
        <p:txBody>
          <a:bodyPr wrap="squar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Yarıdan fazlası, iklim değişikliğinin alerjiler, solunum yolu hastalıkları gibi sağlık sorunlarını artırdığını düşünüyor.</a:t>
            </a:r>
            <a:endParaRPr lang="en-US" sz="1250" dirty="0"/>
          </a:p>
        </p:txBody>
      </p:sp>
      <p:sp>
        <p:nvSpPr>
          <p:cNvPr id="14" name="Shape 11"/>
          <p:cNvSpPr/>
          <p:nvPr/>
        </p:nvSpPr>
        <p:spPr>
          <a:xfrm>
            <a:off x="6058376" y="6434018"/>
            <a:ext cx="8000048" cy="1218248"/>
          </a:xfrm>
          <a:prstGeom prst="roundRect">
            <a:avLst>
              <a:gd name="adj" fmla="val 32201"/>
            </a:avLst>
          </a:prstGeom>
          <a:solidFill>
            <a:srgbClr val="EACCFF"/>
          </a:solidFill>
          <a:ln w="7620">
            <a:solidFill>
              <a:srgbClr val="D0B2E5"/>
            </a:solidFill>
            <a:prstDash val="solid"/>
          </a:ln>
        </p:spPr>
      </p:sp>
      <p:sp>
        <p:nvSpPr>
          <p:cNvPr id="15" name="Text 12"/>
          <p:cNvSpPr/>
          <p:nvPr/>
        </p:nvSpPr>
        <p:spPr>
          <a:xfrm>
            <a:off x="6229350" y="6604992"/>
            <a:ext cx="2376726" cy="255389"/>
          </a:xfrm>
          <a:prstGeom prst="rect">
            <a:avLst/>
          </a:prstGeom>
          <a:noFill/>
        </p:spPr>
        <p:txBody>
          <a:bodyPr wrap="none" lIns="0" tIns="0" rIns="0" bIns="0" rtlCol="0" anchor="t"/>
          <a:lstStyle/>
          <a:p>
            <a:pPr marL="0" indent="0" algn="l">
              <a:lnSpc>
                <a:spcPts val="2000"/>
              </a:lnSpc>
              <a:buNone/>
            </a:pPr>
            <a:r>
              <a:rPr lang="en-US" sz="1600" b="1" dirty="0">
                <a:solidFill>
                  <a:srgbClr val="272525"/>
                </a:solidFill>
                <a:latin typeface="Inter Bold" pitchFamily="34" charset="0"/>
                <a:ea typeface="Inter Bold" pitchFamily="34" charset="-122"/>
                <a:cs typeface="Inter Bold" pitchFamily="34" charset="-120"/>
              </a:rPr>
              <a:t>%48 Ekonomik Kayıplar</a:t>
            </a:r>
            <a:endParaRPr lang="en-US" sz="1600" dirty="0"/>
          </a:p>
        </p:txBody>
      </p:sp>
      <p:sp>
        <p:nvSpPr>
          <p:cNvPr id="16" name="Text 13"/>
          <p:cNvSpPr/>
          <p:nvPr/>
        </p:nvSpPr>
        <p:spPr>
          <a:xfrm>
            <a:off x="6229350" y="6958370"/>
            <a:ext cx="7658100" cy="522922"/>
          </a:xfrm>
          <a:prstGeom prst="rect">
            <a:avLst/>
          </a:prstGeom>
          <a:noFill/>
        </p:spPr>
        <p:txBody>
          <a:bodyPr wrap="squar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Katılımcıların yaklaşık yarısı, iklim değişikliğinin ekonomik kayıplara ve iş gücü piyasasında olumsuz etkilere yol açtığını belirtti.</a:t>
            </a:r>
            <a:endParaRPr lang="en-US" sz="1250" dirty="0"/>
          </a:p>
        </p:txBody>
      </p:sp>
      <p:pic>
        <p:nvPicPr>
          <p:cNvPr id="17" name="Resim 16"/>
          <p:cNvPicPr>
            <a:picLocks noChangeAspect="1"/>
          </p:cNvPicPr>
          <p:nvPr/>
        </p:nvPicPr>
        <p:blipFill>
          <a:blip r:embed="rId2"/>
          <a:stretch>
            <a:fillRect/>
          </a:stretch>
        </p:blipFill>
        <p:spPr>
          <a:xfrm>
            <a:off x="12893040" y="7690485"/>
            <a:ext cx="161798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30762"/>
            <a:ext cx="9873972" cy="708779"/>
          </a:xfrm>
          <a:prstGeom prst="rect">
            <a:avLst/>
          </a:prstGeom>
          <a:noFill/>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İklim Değişikliğinin Somut Tehditleri</a:t>
            </a:r>
            <a:endParaRPr lang="en-US" sz="4450" dirty="0"/>
          </a:p>
        </p:txBody>
      </p:sp>
      <p:sp>
        <p:nvSpPr>
          <p:cNvPr id="3" name="Text 1"/>
          <p:cNvSpPr/>
          <p:nvPr/>
        </p:nvSpPr>
        <p:spPr>
          <a:xfrm>
            <a:off x="793790" y="2493169"/>
            <a:ext cx="13042821" cy="725805"/>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İklim değişikliğinin etkileri, sadece gelecekteki bir tehdit olmaktan çıkıp, bugünden somut sonuçlar doğurmaktadır. Dünya genelinde yaşanan olaylar, bu tehditlerin ciddiyetini gözler önüne seriyor:</a:t>
            </a:r>
            <a:endParaRPr lang="en-US" sz="1750" dirty="0"/>
          </a:p>
        </p:txBody>
      </p:sp>
      <p:sp>
        <p:nvSpPr>
          <p:cNvPr id="4" name="Text 2"/>
          <p:cNvSpPr/>
          <p:nvPr/>
        </p:nvSpPr>
        <p:spPr>
          <a:xfrm>
            <a:off x="793790" y="3474125"/>
            <a:ext cx="13042821" cy="1088708"/>
          </a:xfrm>
          <a:prstGeom prst="rect">
            <a:avLst/>
          </a:prstGeom>
          <a:noFill/>
        </p:spPr>
        <p:txBody>
          <a:bodyPr wrap="square" lIns="0" tIns="0" rIns="0" bIns="0" rtlCol="0" anchor="t"/>
          <a:lstStyle/>
          <a:p>
            <a:pPr marL="0" indent="0" algn="l">
              <a:lnSpc>
                <a:spcPts val="2850"/>
              </a:lnSpc>
              <a:buSzPct val="100000"/>
              <a:buNone/>
            </a:pPr>
            <a:r>
              <a:rPr lang="en-US" sz="1750" b="1" dirty="0">
                <a:solidFill>
                  <a:srgbClr val="272525"/>
                </a:solidFill>
                <a:latin typeface="Inter" panose="02000503000000020004" pitchFamily="34" charset="0"/>
                <a:ea typeface="Inter" panose="02000503000000020004" pitchFamily="34" charset="-122"/>
                <a:cs typeface="Inter" panose="02000503000000020004" pitchFamily="34" charset="-120"/>
              </a:rPr>
              <a:t>Aşırı Hava Olaylarının Yaygınlaşması:</a:t>
            </a: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 Artan sıcaklıklar, dünya genelinde sellerin, kuraklıkların ve orman yangınlarının sıklığını ve şiddetini artırmaktadır. Bu durum, ekosistemleri tahrip etmekle kalmayıp, tarım alanlarını ve yerleşim yerlerini de olumsuz etkilemektedir.</a:t>
            </a:r>
            <a:endParaRPr lang="en-US" sz="1750" dirty="0"/>
          </a:p>
        </p:txBody>
      </p:sp>
      <p:sp>
        <p:nvSpPr>
          <p:cNvPr id="5" name="Text 3"/>
          <p:cNvSpPr/>
          <p:nvPr/>
        </p:nvSpPr>
        <p:spPr>
          <a:xfrm>
            <a:off x="793790" y="4642128"/>
            <a:ext cx="13042821" cy="1088708"/>
          </a:xfrm>
          <a:prstGeom prst="rect">
            <a:avLst/>
          </a:prstGeom>
          <a:noFill/>
        </p:spPr>
        <p:txBody>
          <a:bodyPr wrap="square" lIns="0" tIns="0" rIns="0" bIns="0" rtlCol="0" anchor="t"/>
          <a:lstStyle/>
          <a:p>
            <a:pPr marL="0" indent="0" algn="l">
              <a:lnSpc>
                <a:spcPts val="2850"/>
              </a:lnSpc>
              <a:buSzPct val="100000"/>
              <a:buNone/>
            </a:pPr>
            <a:r>
              <a:rPr lang="en-US" sz="1750" b="1" dirty="0">
                <a:solidFill>
                  <a:srgbClr val="272525"/>
                </a:solidFill>
                <a:latin typeface="Inter" panose="02000503000000020004" pitchFamily="34" charset="0"/>
                <a:ea typeface="Inter" panose="02000503000000020004" pitchFamily="34" charset="-122"/>
                <a:cs typeface="Inter" panose="02000503000000020004" pitchFamily="34" charset="-120"/>
              </a:rPr>
              <a:t>Deniz Seviyesinin Yükselmesi ve Göç:</a:t>
            </a: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 Kutuplardaki buzulların erimesiyle deniz seviyeleri yükselmekte, kıyı bölgelerinde yaşayan milyonlarca insanı göç etmeye zorlamaktadır. Bu durum, aynı zamanda kaynaklar üzerinde baskı oluşturarak çatışma riskini de artırmaktadır.</a:t>
            </a:r>
            <a:endParaRPr lang="en-US" sz="1750" dirty="0"/>
          </a:p>
        </p:txBody>
      </p:sp>
      <p:sp>
        <p:nvSpPr>
          <p:cNvPr id="6" name="Text 4"/>
          <p:cNvSpPr/>
          <p:nvPr/>
        </p:nvSpPr>
        <p:spPr>
          <a:xfrm>
            <a:off x="793790" y="5810131"/>
            <a:ext cx="13042821" cy="1088708"/>
          </a:xfrm>
          <a:prstGeom prst="rect">
            <a:avLst/>
          </a:prstGeom>
          <a:noFill/>
        </p:spPr>
        <p:txBody>
          <a:bodyPr wrap="square" lIns="0" tIns="0" rIns="0" bIns="0" rtlCol="0" anchor="t"/>
          <a:lstStyle/>
          <a:p>
            <a:pPr marL="0" indent="0" algn="l">
              <a:lnSpc>
                <a:spcPts val="2850"/>
              </a:lnSpc>
              <a:buSzPct val="100000"/>
              <a:buNone/>
            </a:pPr>
            <a:r>
              <a:rPr lang="en-US" sz="1750" b="1" dirty="0">
                <a:solidFill>
                  <a:srgbClr val="272525"/>
                </a:solidFill>
                <a:latin typeface="Inter" panose="02000503000000020004" pitchFamily="34" charset="0"/>
                <a:ea typeface="Inter" panose="02000503000000020004" pitchFamily="34" charset="-122"/>
                <a:cs typeface="Inter" panose="02000503000000020004" pitchFamily="34" charset="-120"/>
              </a:rPr>
              <a:t>Halk Sağlığı Krizi:</a:t>
            </a: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 Dünya Sağlık Örgütü (DSÖ), iklim değişikliğini 21. yüzyılın en büyük küresel sağlık tehdidi olarak tanımlamaktadır. Artan sıcaklıklar, hava kirliliği, vektör kaynaklı hastalıkların yayılması ve gıda güvenliği sorunları insan sağlığını doğrudan etkilemektedir.</a:t>
            </a:r>
            <a:endParaRPr lang="en-US" sz="1750" dirty="0"/>
          </a:p>
        </p:txBody>
      </p:sp>
      <p:pic>
        <p:nvPicPr>
          <p:cNvPr id="13" name="Resim 12"/>
          <p:cNvPicPr>
            <a:picLocks noChangeAspect="1"/>
          </p:cNvPicPr>
          <p:nvPr/>
        </p:nvPicPr>
        <p:blipFill>
          <a:blip r:embed="rId1"/>
          <a:stretch>
            <a:fillRect/>
          </a:stretch>
        </p:blipFill>
        <p:spPr>
          <a:xfrm>
            <a:off x="12893040" y="7690485"/>
            <a:ext cx="161798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10458"/>
            <a:ext cx="13042821" cy="1417558"/>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Makine Öğrenimi ve İklim Krizi: Risk Analizinde Yeni Ufuklar</a:t>
            </a:r>
            <a:endParaRPr lang="en-US" sz="4450" dirty="0"/>
          </a:p>
        </p:txBody>
      </p:sp>
      <p:sp>
        <p:nvSpPr>
          <p:cNvPr id="3" name="Text 1"/>
          <p:cNvSpPr/>
          <p:nvPr/>
        </p:nvSpPr>
        <p:spPr>
          <a:xfrm>
            <a:off x="793790" y="2681645"/>
            <a:ext cx="13042821" cy="725805"/>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Makine öğrenimi algoritmaları, iklim değişikliğinin etkilerini anlamak ve bunlarla mücadele etmek için güçlü araçlar sunmaktadır. Özellikle doğal afet risk analizinde:</a:t>
            </a:r>
            <a:endParaRPr lang="en-US" sz="1750" dirty="0"/>
          </a:p>
        </p:txBody>
      </p:sp>
      <p:pic>
        <p:nvPicPr>
          <p:cNvPr id="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8800" y="3669625"/>
            <a:ext cx="340162" cy="340162"/>
          </a:xfrm>
          <a:prstGeom prst="rect">
            <a:avLst/>
          </a:prstGeom>
        </p:spPr>
      </p:pic>
      <p:sp>
        <p:nvSpPr>
          <p:cNvPr id="5" name="Text 2"/>
          <p:cNvSpPr/>
          <p:nvPr/>
        </p:nvSpPr>
        <p:spPr>
          <a:xfrm>
            <a:off x="1530906" y="3662601"/>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Doğal Afet Tahmini</a:t>
            </a:r>
            <a:endParaRPr lang="en-US" sz="2200" dirty="0"/>
          </a:p>
        </p:txBody>
      </p:sp>
      <p:sp>
        <p:nvSpPr>
          <p:cNvPr id="6" name="Text 3"/>
          <p:cNvSpPr/>
          <p:nvPr/>
        </p:nvSpPr>
        <p:spPr>
          <a:xfrm>
            <a:off x="1530906" y="4153019"/>
            <a:ext cx="3421499" cy="3266123"/>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Karar ağaçları ve Random Forest gibi yöntemler, geçmiş hava durumu verilerini, topoğrafik bilgileri ve uydu görüntülerini kullanarak kuraklık, sel, heyelan ve orman yangınları gibi doğal afetlerin riskini ve yayılımını tahmin etmede kritik rol oynamaktadır.</a:t>
            </a:r>
            <a:endParaRPr lang="en-US" sz="1750" dirty="0"/>
          </a:p>
        </p:txBody>
      </p:sp>
      <p:pic>
        <p:nvPicPr>
          <p:cNvPr id="7"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320903" y="3669625"/>
            <a:ext cx="340162" cy="340162"/>
          </a:xfrm>
          <a:prstGeom prst="rect">
            <a:avLst/>
          </a:prstGeom>
        </p:spPr>
      </p:pic>
      <p:sp>
        <p:nvSpPr>
          <p:cNvPr id="8" name="Text 4"/>
          <p:cNvSpPr/>
          <p:nvPr/>
        </p:nvSpPr>
        <p:spPr>
          <a:xfrm>
            <a:off x="5973008" y="3662601"/>
            <a:ext cx="3051096"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Erken Uyarı Sistemleri</a:t>
            </a:r>
            <a:endParaRPr lang="en-US" sz="2200" dirty="0"/>
          </a:p>
        </p:txBody>
      </p:sp>
      <p:sp>
        <p:nvSpPr>
          <p:cNvPr id="9" name="Text 5"/>
          <p:cNvSpPr/>
          <p:nvPr/>
        </p:nvSpPr>
        <p:spPr>
          <a:xfrm>
            <a:off x="5973008" y="4153019"/>
            <a:ext cx="3421499" cy="3266123"/>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Büyük veri setlerinin ve uydu görüntülerinin analiz edilmesiyle, yapay zeka destekli erken uyarı sistemleri geliştirilmektedir. Bu sistemler, afet öncesinde hızlı müdahale planlarının oluşturulmasına ve can kaybının en aza indirilmesine yardımcı olur.</a:t>
            </a:r>
            <a:endParaRPr lang="en-US" sz="1750" dirty="0"/>
          </a:p>
        </p:txBody>
      </p:sp>
      <p:pic>
        <p:nvPicPr>
          <p:cNvPr id="10"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763006" y="3669625"/>
            <a:ext cx="340162" cy="340162"/>
          </a:xfrm>
          <a:prstGeom prst="rect">
            <a:avLst/>
          </a:prstGeom>
        </p:spPr>
      </p:pic>
      <p:sp>
        <p:nvSpPr>
          <p:cNvPr id="11" name="Text 6"/>
          <p:cNvSpPr/>
          <p:nvPr/>
        </p:nvSpPr>
        <p:spPr>
          <a:xfrm>
            <a:off x="10415111" y="3662601"/>
            <a:ext cx="3421499" cy="708660"/>
          </a:xfrm>
          <a:prstGeom prst="rect">
            <a:avLst/>
          </a:prstGeom>
          <a:noFill/>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Kaynak Yönetimi ve Adaptasyon</a:t>
            </a:r>
            <a:endParaRPr lang="en-US" sz="2200" dirty="0"/>
          </a:p>
        </p:txBody>
      </p:sp>
      <p:sp>
        <p:nvSpPr>
          <p:cNvPr id="12" name="Text 7"/>
          <p:cNvSpPr/>
          <p:nvPr/>
        </p:nvSpPr>
        <p:spPr>
          <a:xfrm>
            <a:off x="10415111" y="4507349"/>
            <a:ext cx="3421499" cy="2177415"/>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Makine öğrenimi, su kaynaklarının etkin yönetimi, tarımsal verimliliğin artırılması ve iklim değişikliğine uyum stratejilerinin geliştirilmesi için de önemli bilgiler sağlar.</a:t>
            </a:r>
            <a:endParaRPr lang="en-US" sz="1750" dirty="0"/>
          </a:p>
        </p:txBody>
      </p:sp>
      <p:pic>
        <p:nvPicPr>
          <p:cNvPr id="13" name="Resim 12"/>
          <p:cNvPicPr>
            <a:picLocks noChangeAspect="1"/>
          </p:cNvPicPr>
          <p:nvPr/>
        </p:nvPicPr>
        <p:blipFill>
          <a:blip r:embed="rId3"/>
          <a:stretch>
            <a:fillRect/>
          </a:stretch>
        </p:blipFill>
        <p:spPr>
          <a:xfrm>
            <a:off x="12893040" y="7690485"/>
            <a:ext cx="161798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604599"/>
            <a:ext cx="4245888" cy="530662"/>
          </a:xfrm>
          <a:prstGeom prst="rect">
            <a:avLst/>
          </a:prstGeom>
          <a:noFill/>
        </p:spPr>
        <p:txBody>
          <a:bodyPr wrap="none" lIns="0" tIns="0" rIns="0" bIns="0" rtlCol="0" anchor="t"/>
          <a:lstStyle/>
          <a:p>
            <a:pPr marL="0" indent="0" algn="l">
              <a:lnSpc>
                <a:spcPts val="4150"/>
              </a:lnSpc>
              <a:buNone/>
            </a:pPr>
            <a:r>
              <a:rPr lang="en-US" sz="3300" b="1" dirty="0">
                <a:solidFill>
                  <a:srgbClr val="000000"/>
                </a:solidFill>
                <a:latin typeface="Inter Bold" pitchFamily="34" charset="0"/>
                <a:ea typeface="Inter Bold" pitchFamily="34" charset="-122"/>
                <a:cs typeface="Inter Bold" pitchFamily="34" charset="-120"/>
              </a:rPr>
              <a:t>Lineer Regresyon </a:t>
            </a:r>
            <a:endParaRPr lang="en-US" sz="3300" dirty="0"/>
          </a:p>
        </p:txBody>
      </p:sp>
      <p:sp>
        <p:nvSpPr>
          <p:cNvPr id="3" name="Text 1"/>
          <p:cNvSpPr/>
          <p:nvPr/>
        </p:nvSpPr>
        <p:spPr>
          <a:xfrm>
            <a:off x="594360" y="1474827"/>
            <a:ext cx="13441680" cy="543163"/>
          </a:xfrm>
          <a:prstGeom prst="rect">
            <a:avLst/>
          </a:prstGeom>
          <a:noFill/>
        </p:spPr>
        <p:txBody>
          <a:bodyPr wrap="square" lIns="0" tIns="0" rIns="0" bIns="0" rtlCol="0" anchor="t"/>
          <a:lstStyle/>
          <a:p>
            <a:pPr marL="0" indent="0" algn="l">
              <a:lnSpc>
                <a:spcPts val="2100"/>
              </a:lnSpc>
              <a:buNone/>
            </a:pPr>
            <a:r>
              <a:rPr lang="en-US" sz="1300" dirty="0">
                <a:solidFill>
                  <a:srgbClr val="272525"/>
                </a:solidFill>
                <a:latin typeface="Inter" panose="02000503000000020004" pitchFamily="34" charset="0"/>
                <a:ea typeface="Inter" panose="02000503000000020004" pitchFamily="34" charset="-122"/>
                <a:cs typeface="Inter" panose="02000503000000020004" pitchFamily="34" charset="-120"/>
              </a:rPr>
              <a:t>Bağımsız değişkenlerle bağımlı değişken arasında doğrusal bir ilişki kurar. Matematiksel olarak y = c \cdot x + m formülüyle tahmin yapar, bu da onu kolay anlaşılır ve hızlı hesaplanabilir kılar. Aşağıdaki grafikte Lineer Regresyon yönteminin tahminine göre son 50 yıllık sıcaklık değişim grafiği yer almaktadır.</a:t>
            </a:r>
            <a:endParaRPr lang="en-US" sz="1300" dirty="0"/>
          </a:p>
        </p:txBody>
      </p:sp>
      <p:pic>
        <p:nvPicPr>
          <p:cNvPr id="4" name="Image 0" descr="preencoded.png"/>
          <p:cNvPicPr>
            <a:picLocks noChangeAspect="1"/>
          </p:cNvPicPr>
          <p:nvPr/>
        </p:nvPicPr>
        <p:blipFill>
          <a:blip r:embed="rId1"/>
          <a:stretch>
            <a:fillRect/>
          </a:stretch>
        </p:blipFill>
        <p:spPr>
          <a:xfrm>
            <a:off x="594360" y="2209165"/>
            <a:ext cx="11516995" cy="4953635"/>
          </a:xfrm>
          <a:prstGeom prst="rect">
            <a:avLst/>
          </a:prstGeom>
        </p:spPr>
      </p:pic>
      <p:sp>
        <p:nvSpPr>
          <p:cNvPr id="5" name="Text 2"/>
          <p:cNvSpPr/>
          <p:nvPr/>
        </p:nvSpPr>
        <p:spPr>
          <a:xfrm>
            <a:off x="594360" y="7353419"/>
            <a:ext cx="13441680" cy="271582"/>
          </a:xfrm>
          <a:prstGeom prst="rect">
            <a:avLst/>
          </a:prstGeom>
          <a:noFill/>
        </p:spPr>
        <p:txBody>
          <a:bodyPr wrap="none" lIns="0" tIns="0" rIns="0" bIns="0" rtlCol="0" anchor="t"/>
          <a:lstStyle/>
          <a:p>
            <a:pPr marL="0" indent="0" algn="l">
              <a:lnSpc>
                <a:spcPts val="2100"/>
              </a:lnSpc>
              <a:buNone/>
            </a:pPr>
            <a:r>
              <a:rPr lang="en-US" sz="1300" dirty="0">
                <a:solidFill>
                  <a:srgbClr val="272525"/>
                </a:solidFill>
                <a:latin typeface="Inter" panose="02000503000000020004" pitchFamily="34" charset="0"/>
                <a:ea typeface="Inter" panose="02000503000000020004" pitchFamily="34" charset="-122"/>
                <a:cs typeface="Inter" panose="02000503000000020004" pitchFamily="34" charset="-120"/>
              </a:rPr>
              <a:t>Bu yöntem daha çok doğrusal bir eğilim gösterir.</a:t>
            </a:r>
            <a:endParaRPr lang="en-US" sz="1300" dirty="0"/>
          </a:p>
        </p:txBody>
      </p:sp>
      <p:pic>
        <p:nvPicPr>
          <p:cNvPr id="13" name="Resim 12"/>
          <p:cNvPicPr>
            <a:picLocks noChangeAspect="1"/>
          </p:cNvPicPr>
          <p:nvPr/>
        </p:nvPicPr>
        <p:blipFill>
          <a:blip r:embed="rId2"/>
          <a:stretch>
            <a:fillRect/>
          </a:stretch>
        </p:blipFill>
        <p:spPr>
          <a:xfrm>
            <a:off x="12893040" y="7690485"/>
            <a:ext cx="1617980" cy="45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7096" y="454581"/>
            <a:ext cx="4122182" cy="515183"/>
          </a:xfrm>
          <a:prstGeom prst="rect">
            <a:avLst/>
          </a:prstGeom>
          <a:noFill/>
        </p:spPr>
        <p:txBody>
          <a:bodyPr wrap="none" lIns="0" tIns="0" rIns="0" bIns="0" rtlCol="0" anchor="t"/>
          <a:lstStyle/>
          <a:p>
            <a:pPr marL="0" indent="0" algn="l">
              <a:lnSpc>
                <a:spcPts val="4050"/>
              </a:lnSpc>
              <a:buNone/>
            </a:pPr>
            <a:r>
              <a:rPr lang="en-US" sz="3200" b="1" dirty="0">
                <a:solidFill>
                  <a:srgbClr val="000000"/>
                </a:solidFill>
                <a:latin typeface="Inter Bold" pitchFamily="34" charset="0"/>
                <a:ea typeface="Inter Bold" pitchFamily="34" charset="-122"/>
                <a:cs typeface="Inter Bold" pitchFamily="34" charset="-120"/>
              </a:rPr>
              <a:t>Karar Ağacı Yöntemi</a:t>
            </a:r>
            <a:endParaRPr lang="en-US" sz="3200" dirty="0"/>
          </a:p>
        </p:txBody>
      </p:sp>
      <p:sp>
        <p:nvSpPr>
          <p:cNvPr id="3" name="Text 1"/>
          <p:cNvSpPr/>
          <p:nvPr/>
        </p:nvSpPr>
        <p:spPr>
          <a:xfrm>
            <a:off x="577096" y="1299448"/>
            <a:ext cx="13476208" cy="527685"/>
          </a:xfrm>
          <a:prstGeom prst="rect">
            <a:avLst/>
          </a:prstGeom>
          <a:noFill/>
        </p:spPr>
        <p:txBody>
          <a:bodyPr wrap="squar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Veriyi belirli özelliklere göre dallandırarak tahminler yapar. Bu yaklaşım, verideki karar verme süreçlerini görselleştirmesi ve yorumlanması kolay olmasıyla öne çıkar, ancak aşırı uyum (overfitting) riski taşır. İklim verilerindeki doğrusal olmayan ve değişken ilişkileri yakalamada esneklik sunar.</a:t>
            </a:r>
            <a:endParaRPr lang="en-US" sz="1250" dirty="0"/>
          </a:p>
        </p:txBody>
      </p:sp>
      <p:pic>
        <p:nvPicPr>
          <p:cNvPr id="4" name="Image 0" descr="preencoded.png"/>
          <p:cNvPicPr>
            <a:picLocks noChangeAspect="1"/>
          </p:cNvPicPr>
          <p:nvPr/>
        </p:nvPicPr>
        <p:blipFill>
          <a:blip r:embed="rId1"/>
          <a:stretch>
            <a:fillRect/>
          </a:stretch>
        </p:blipFill>
        <p:spPr>
          <a:xfrm>
            <a:off x="577215" y="2012950"/>
            <a:ext cx="11821795" cy="5313045"/>
          </a:xfrm>
          <a:prstGeom prst="rect">
            <a:avLst/>
          </a:prstGeom>
        </p:spPr>
      </p:pic>
      <p:sp>
        <p:nvSpPr>
          <p:cNvPr id="5" name="Text 2"/>
          <p:cNvSpPr/>
          <p:nvPr/>
        </p:nvSpPr>
        <p:spPr>
          <a:xfrm>
            <a:off x="577096" y="7511177"/>
            <a:ext cx="13476208" cy="263843"/>
          </a:xfrm>
          <a:prstGeom prst="rect">
            <a:avLst/>
          </a:prstGeom>
          <a:noFill/>
        </p:spPr>
        <p:txBody>
          <a:bodyPr wrap="non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Bu yöntemin grafiğinde yer yer dalgalanmalar ortaya çıkar.</a:t>
            </a:r>
            <a:endParaRPr lang="en-US" sz="1250" dirty="0"/>
          </a:p>
        </p:txBody>
      </p:sp>
      <p:pic>
        <p:nvPicPr>
          <p:cNvPr id="13" name="Resim 12"/>
          <p:cNvPicPr>
            <a:picLocks noChangeAspect="1"/>
          </p:cNvPicPr>
          <p:nvPr/>
        </p:nvPicPr>
        <p:blipFill>
          <a:blip r:embed="rId2"/>
          <a:stretch>
            <a:fillRect/>
          </a:stretch>
        </p:blipFill>
        <p:spPr>
          <a:xfrm>
            <a:off x="12893040" y="7690485"/>
            <a:ext cx="1617980" cy="457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7096" y="454581"/>
            <a:ext cx="4122182" cy="515183"/>
          </a:xfrm>
          <a:prstGeom prst="rect">
            <a:avLst/>
          </a:prstGeom>
          <a:noFill/>
        </p:spPr>
        <p:txBody>
          <a:bodyPr wrap="none" lIns="0" tIns="0" rIns="0" bIns="0" rtlCol="0" anchor="t"/>
          <a:lstStyle/>
          <a:p>
            <a:pPr marL="0" indent="0" algn="l">
              <a:lnSpc>
                <a:spcPts val="4050"/>
              </a:lnSpc>
              <a:buNone/>
            </a:pPr>
            <a:r>
              <a:rPr lang="en-US" sz="3200" b="1" dirty="0">
                <a:solidFill>
                  <a:srgbClr val="000000"/>
                </a:solidFill>
                <a:latin typeface="Inter Bold" pitchFamily="34" charset="0"/>
                <a:ea typeface="Inter Bold" pitchFamily="34" charset="-122"/>
                <a:cs typeface="Inter Bold" pitchFamily="34" charset="-120"/>
              </a:rPr>
              <a:t>Random Forest: </a:t>
            </a:r>
            <a:endParaRPr lang="en-US" sz="3200" dirty="0"/>
          </a:p>
        </p:txBody>
      </p:sp>
      <p:sp>
        <p:nvSpPr>
          <p:cNvPr id="3" name="Text 1"/>
          <p:cNvSpPr/>
          <p:nvPr/>
        </p:nvSpPr>
        <p:spPr>
          <a:xfrm>
            <a:off x="577096" y="1299448"/>
            <a:ext cx="13476208" cy="527685"/>
          </a:xfrm>
          <a:prstGeom prst="rect">
            <a:avLst/>
          </a:prstGeom>
          <a:noFill/>
        </p:spPr>
        <p:txBody>
          <a:bodyPr wrap="squar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Birden fazla karar ağacının "bagging" yöntemiyle bir araya getirilmesiyle çalışır, bu da daha sağlam ve doğru tahminler yapılmasını sağlar. Her bir ağacın tahminlerinin ortalaması alınarak nihai sonuç elde edilir. Bu, tek bir ağacın hatalarını dengeleyerek genelleme yeteneğini artırır. </a:t>
            </a:r>
            <a:endParaRPr lang="en-US" sz="1250" dirty="0"/>
          </a:p>
        </p:txBody>
      </p:sp>
      <p:pic>
        <p:nvPicPr>
          <p:cNvPr id="4" name="Image 0" descr="preencoded.png"/>
          <p:cNvPicPr>
            <a:picLocks noChangeAspect="1"/>
          </p:cNvPicPr>
          <p:nvPr/>
        </p:nvPicPr>
        <p:blipFill>
          <a:blip r:embed="rId1"/>
          <a:stretch>
            <a:fillRect/>
          </a:stretch>
        </p:blipFill>
        <p:spPr>
          <a:xfrm>
            <a:off x="577215" y="2012950"/>
            <a:ext cx="11904980" cy="5313045"/>
          </a:xfrm>
          <a:prstGeom prst="rect">
            <a:avLst/>
          </a:prstGeom>
        </p:spPr>
      </p:pic>
      <p:sp>
        <p:nvSpPr>
          <p:cNvPr id="5" name="Text 2"/>
          <p:cNvSpPr/>
          <p:nvPr/>
        </p:nvSpPr>
        <p:spPr>
          <a:xfrm>
            <a:off x="577096" y="7511177"/>
            <a:ext cx="13476208" cy="263843"/>
          </a:xfrm>
          <a:prstGeom prst="rect">
            <a:avLst/>
          </a:prstGeom>
          <a:noFill/>
        </p:spPr>
        <p:txBody>
          <a:bodyPr wrap="none" lIns="0" tIns="0" rIns="0" bIns="0" rtlCol="0" anchor="t"/>
          <a:lstStyle/>
          <a:p>
            <a:pPr marL="0" indent="0" algn="l">
              <a:lnSpc>
                <a:spcPts val="205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 yöntemi 2021 ve 2025 araştırmalarında, iklim tahminlerinde en yüksek doğruluk oranı ile öne çıkmıştır.</a:t>
            </a:r>
            <a:endParaRPr lang="en-US" sz="1250" dirty="0"/>
          </a:p>
        </p:txBody>
      </p:sp>
      <p:pic>
        <p:nvPicPr>
          <p:cNvPr id="13" name="Resim 12"/>
          <p:cNvPicPr>
            <a:picLocks noChangeAspect="1"/>
          </p:cNvPicPr>
          <p:nvPr/>
        </p:nvPicPr>
        <p:blipFill>
          <a:blip r:embed="rId2"/>
          <a:stretch>
            <a:fillRect/>
          </a:stretch>
        </p:blipFill>
        <p:spPr>
          <a:xfrm>
            <a:off x="12893040" y="7690485"/>
            <a:ext cx="1617980" cy="457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7443" y="390882"/>
            <a:ext cx="5901928" cy="444222"/>
          </a:xfrm>
          <a:prstGeom prst="rect">
            <a:avLst/>
          </a:prstGeom>
          <a:noFill/>
        </p:spPr>
        <p:txBody>
          <a:bodyPr wrap="non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Son 50 Yılın Gerçek Sıcaklık Verisi</a:t>
            </a:r>
            <a:endParaRPr lang="en-US" sz="2750" dirty="0"/>
          </a:p>
        </p:txBody>
      </p:sp>
      <p:sp>
        <p:nvSpPr>
          <p:cNvPr id="3" name="Text 1"/>
          <p:cNvSpPr/>
          <p:nvPr/>
        </p:nvSpPr>
        <p:spPr>
          <a:xfrm>
            <a:off x="497443" y="1119307"/>
            <a:ext cx="13635514" cy="454819"/>
          </a:xfrm>
          <a:prstGeom prst="rect">
            <a:avLst/>
          </a:prstGeom>
          <a:noFill/>
        </p:spPr>
        <p:txBody>
          <a:bodyPr wrap="square" lIns="0" tIns="0" rIns="0" bIns="0" rtlCol="0" anchor="t"/>
          <a:lstStyle/>
          <a:p>
            <a:pPr marL="0" indent="0" algn="l">
              <a:lnSpc>
                <a:spcPts val="175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NASA, NOAA ve IPCC gibi saygın kurumların raporlarından derlenen verilerle, 1975-2025 yılları arasındaki yıllık ortalama sıcaklık değişimini inceledik. Bu veriler, küresel sıcaklık artışının açık bir resmini sunmaktadır.</a:t>
            </a:r>
            <a:endParaRPr lang="en-US" sz="1100" dirty="0"/>
          </a:p>
        </p:txBody>
      </p:sp>
      <p:pic>
        <p:nvPicPr>
          <p:cNvPr id="4" name="Image 0" descr="preencoded.png"/>
          <p:cNvPicPr>
            <a:picLocks noChangeAspect="1"/>
          </p:cNvPicPr>
          <p:nvPr/>
        </p:nvPicPr>
        <p:blipFill>
          <a:blip r:embed="rId1"/>
          <a:stretch>
            <a:fillRect/>
          </a:stretch>
        </p:blipFill>
        <p:spPr>
          <a:xfrm>
            <a:off x="497205" y="1734185"/>
            <a:ext cx="12003405" cy="5499735"/>
          </a:xfrm>
          <a:prstGeom prst="rect">
            <a:avLst/>
          </a:prstGeom>
        </p:spPr>
      </p:pic>
      <p:sp>
        <p:nvSpPr>
          <p:cNvPr id="5" name="Text 2"/>
          <p:cNvSpPr/>
          <p:nvPr/>
        </p:nvSpPr>
        <p:spPr>
          <a:xfrm>
            <a:off x="727948" y="7393623"/>
            <a:ext cx="13635514" cy="227409"/>
          </a:xfrm>
          <a:prstGeom prst="rect">
            <a:avLst/>
          </a:prstGeom>
          <a:noFill/>
        </p:spPr>
        <p:txBody>
          <a:bodyPr wrap="none" lIns="0" tIns="0" rIns="0" bIns="0" rtlCol="0" anchor="t"/>
          <a:lstStyle/>
          <a:p>
            <a:pPr marL="0" indent="0" algn="l">
              <a:lnSpc>
                <a:spcPts val="175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Grafik, son 50 yılda yaşanan </a:t>
            </a:r>
            <a:r>
              <a:rPr lang="en-US" sz="1100" dirty="0">
                <a:solidFill>
                  <a:srgbClr val="000000"/>
                </a:solidFill>
                <a:latin typeface="Inter" panose="02000503000000020004" pitchFamily="34" charset="0"/>
                <a:ea typeface="Inter" panose="02000503000000020004" pitchFamily="34" charset="-122"/>
                <a:cs typeface="Inter" panose="02000503000000020004" pitchFamily="34" charset="-120"/>
              </a:rPr>
              <a:t>gerçek sıcaklık artış trendini</a:t>
            </a: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 net bir şekilde gözler önüne sermektedir.</a:t>
            </a:r>
            <a:endParaRPr lang="en-US" sz="1100" dirty="0"/>
          </a:p>
        </p:txBody>
      </p:sp>
      <p:pic>
        <p:nvPicPr>
          <p:cNvPr id="13" name="Resim 12"/>
          <p:cNvPicPr>
            <a:picLocks noChangeAspect="1"/>
          </p:cNvPicPr>
          <p:nvPr/>
        </p:nvPicPr>
        <p:blipFill>
          <a:blip r:embed="rId2"/>
          <a:stretch>
            <a:fillRect/>
          </a:stretch>
        </p:blipFill>
        <p:spPr>
          <a:xfrm>
            <a:off x="12893040" y="7690485"/>
            <a:ext cx="161798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3399" y="531495"/>
            <a:ext cx="8280440" cy="467320"/>
          </a:xfrm>
          <a:prstGeom prst="rect">
            <a:avLst/>
          </a:prstGeom>
          <a:noFill/>
        </p:spPr>
        <p:txBody>
          <a:bodyPr wrap="none" lIns="0" tIns="0" rIns="0" bIns="0" rtlCol="0" anchor="t"/>
          <a:lstStyle/>
          <a:p>
            <a:pPr marL="0" indent="0" algn="l">
              <a:lnSpc>
                <a:spcPts val="3650"/>
              </a:lnSpc>
              <a:buNone/>
            </a:pPr>
            <a:r>
              <a:rPr lang="en-US" sz="2900" b="1" dirty="0">
                <a:solidFill>
                  <a:srgbClr val="000000"/>
                </a:solidFill>
                <a:latin typeface="Inter Bold" pitchFamily="34" charset="0"/>
                <a:ea typeface="Inter Bold" pitchFamily="34" charset="-122"/>
                <a:cs typeface="Inter Bold" pitchFamily="34" charset="-120"/>
              </a:rPr>
              <a:t>Model Tahminlerinin Grafiksel Karşılaştırması</a:t>
            </a:r>
            <a:endParaRPr lang="en-US" sz="2900" dirty="0"/>
          </a:p>
        </p:txBody>
      </p:sp>
      <p:sp>
        <p:nvSpPr>
          <p:cNvPr id="3" name="Text 1"/>
          <p:cNvSpPr/>
          <p:nvPr/>
        </p:nvSpPr>
        <p:spPr>
          <a:xfrm>
            <a:off x="523399" y="1297900"/>
            <a:ext cx="13583602" cy="239197"/>
          </a:xfrm>
          <a:prstGeom prst="rect">
            <a:avLst/>
          </a:prstGeom>
          <a:noFill/>
        </p:spPr>
        <p:txBody>
          <a:bodyPr wrap="none" lIns="0" tIns="0" rIns="0" bIns="0" rtlCol="0" anchor="t"/>
          <a:lstStyle/>
          <a:p>
            <a:pPr marL="0" indent="0" algn="l">
              <a:lnSpc>
                <a:spcPts val="1850"/>
              </a:lnSpc>
              <a:buNone/>
            </a:pP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Farklı modellerimizin son 50 yıllık sıcaklık değişim tahminlerini gerçek verilerle karşılaştırdık. Bu karşılaştırma, her bir modelin performansını görsel olarak değerlendirmemizi sağlıyor.</a:t>
            </a:r>
            <a:endParaRPr lang="en-US" sz="1150" dirty="0"/>
          </a:p>
        </p:txBody>
      </p:sp>
      <p:pic>
        <p:nvPicPr>
          <p:cNvPr id="4" name="Image 0" descr="preencoded.png"/>
          <p:cNvPicPr>
            <a:picLocks noChangeAspect="1"/>
          </p:cNvPicPr>
          <p:nvPr/>
        </p:nvPicPr>
        <p:blipFill>
          <a:blip r:embed="rId1"/>
          <a:stretch>
            <a:fillRect/>
          </a:stretch>
        </p:blipFill>
        <p:spPr>
          <a:xfrm>
            <a:off x="523240" y="1705610"/>
            <a:ext cx="12517755" cy="4471670"/>
          </a:xfrm>
          <a:prstGeom prst="rect">
            <a:avLst/>
          </a:prstGeom>
        </p:spPr>
      </p:pic>
      <p:sp>
        <p:nvSpPr>
          <p:cNvPr id="5" name="Shape 2"/>
          <p:cNvSpPr/>
          <p:nvPr/>
        </p:nvSpPr>
        <p:spPr>
          <a:xfrm>
            <a:off x="933688" y="6274872"/>
            <a:ext cx="149543" cy="149543"/>
          </a:xfrm>
          <a:prstGeom prst="roundRect">
            <a:avLst>
              <a:gd name="adj" fmla="val 12229"/>
            </a:avLst>
          </a:prstGeom>
          <a:solidFill>
            <a:srgbClr val="9A0DFF"/>
          </a:solidFill>
        </p:spPr>
      </p:sp>
      <p:sp>
        <p:nvSpPr>
          <p:cNvPr id="6" name="Text 3"/>
          <p:cNvSpPr/>
          <p:nvPr/>
        </p:nvSpPr>
        <p:spPr>
          <a:xfrm>
            <a:off x="1144191" y="6275507"/>
            <a:ext cx="1414701" cy="149543"/>
          </a:xfrm>
          <a:prstGeom prst="rect">
            <a:avLst/>
          </a:prstGeom>
          <a:noFill/>
        </p:spPr>
        <p:txBody>
          <a:bodyPr wrap="none" lIns="0" tIns="0" rIns="0" bIns="0" rtlCol="0" anchor="t"/>
          <a:lstStyle/>
          <a:p>
            <a:pPr marL="0" indent="0" algn="l">
              <a:lnSpc>
                <a:spcPts val="1150"/>
              </a:lnSpc>
              <a:buNone/>
            </a:pP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Gerçek Sıcaklık (°C)</a:t>
            </a:r>
            <a:endParaRPr lang="en-US" sz="1150" dirty="0"/>
          </a:p>
        </p:txBody>
      </p:sp>
      <p:sp>
        <p:nvSpPr>
          <p:cNvPr id="7" name="Shape 4"/>
          <p:cNvSpPr/>
          <p:nvPr/>
        </p:nvSpPr>
        <p:spPr>
          <a:xfrm>
            <a:off x="2823726" y="6273602"/>
            <a:ext cx="149543" cy="149543"/>
          </a:xfrm>
          <a:prstGeom prst="roundRect">
            <a:avLst>
              <a:gd name="adj" fmla="val 12229"/>
            </a:avLst>
          </a:prstGeom>
          <a:solidFill>
            <a:srgbClr val="FF0D72"/>
          </a:solidFill>
        </p:spPr>
        <p:txBody>
          <a:bodyPr/>
          <a:p>
            <a:endParaRPr lang="tr-TR" altLang="en-US"/>
          </a:p>
        </p:txBody>
      </p:sp>
      <p:sp>
        <p:nvSpPr>
          <p:cNvPr id="8" name="Text 5"/>
          <p:cNvSpPr/>
          <p:nvPr/>
        </p:nvSpPr>
        <p:spPr>
          <a:xfrm>
            <a:off x="3123763" y="6274237"/>
            <a:ext cx="1559481" cy="149543"/>
          </a:xfrm>
          <a:prstGeom prst="rect">
            <a:avLst/>
          </a:prstGeom>
          <a:noFill/>
        </p:spPr>
        <p:txBody>
          <a:bodyPr wrap="none" lIns="0" tIns="0" rIns="0" bIns="0" rtlCol="0" anchor="t"/>
          <a:lstStyle/>
          <a:p>
            <a:pPr marL="0" indent="0" algn="l">
              <a:lnSpc>
                <a:spcPts val="1150"/>
              </a:lnSpc>
              <a:buNone/>
            </a:pP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Lineer Regresyon (°C)</a:t>
            </a:r>
            <a:endParaRPr lang="en-US" sz="1150" dirty="0"/>
          </a:p>
        </p:txBody>
      </p:sp>
      <p:sp>
        <p:nvSpPr>
          <p:cNvPr id="9" name="Shape 6"/>
          <p:cNvSpPr/>
          <p:nvPr/>
        </p:nvSpPr>
        <p:spPr>
          <a:xfrm>
            <a:off x="5247759" y="6272967"/>
            <a:ext cx="149543" cy="149543"/>
          </a:xfrm>
          <a:prstGeom prst="roundRect">
            <a:avLst>
              <a:gd name="adj" fmla="val 12229"/>
            </a:avLst>
          </a:prstGeom>
          <a:solidFill>
            <a:srgbClr val="FF9A0D"/>
          </a:solidFill>
        </p:spPr>
      </p:sp>
      <p:sp>
        <p:nvSpPr>
          <p:cNvPr id="10" name="Text 7"/>
          <p:cNvSpPr/>
          <p:nvPr/>
        </p:nvSpPr>
        <p:spPr>
          <a:xfrm>
            <a:off x="5447467" y="6275507"/>
            <a:ext cx="1149548" cy="149543"/>
          </a:xfrm>
          <a:prstGeom prst="rect">
            <a:avLst/>
          </a:prstGeom>
          <a:noFill/>
        </p:spPr>
        <p:txBody>
          <a:bodyPr wrap="none" lIns="0" tIns="0" rIns="0" bIns="0" rtlCol="0" anchor="t"/>
          <a:lstStyle/>
          <a:p>
            <a:pPr marL="0" indent="0" algn="l">
              <a:lnSpc>
                <a:spcPts val="1150"/>
              </a:lnSpc>
              <a:buNone/>
            </a:pP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Karar Ağacı (°C)</a:t>
            </a:r>
            <a:endParaRPr lang="en-US" sz="1150" dirty="0"/>
          </a:p>
        </p:txBody>
      </p:sp>
      <p:sp>
        <p:nvSpPr>
          <p:cNvPr id="11" name="Shape 8"/>
          <p:cNvSpPr/>
          <p:nvPr/>
        </p:nvSpPr>
        <p:spPr>
          <a:xfrm>
            <a:off x="7086560" y="6275507"/>
            <a:ext cx="149543" cy="149543"/>
          </a:xfrm>
          <a:prstGeom prst="roundRect">
            <a:avLst>
              <a:gd name="adj" fmla="val 12229"/>
            </a:avLst>
          </a:prstGeom>
          <a:solidFill>
            <a:srgbClr val="72FF0D"/>
          </a:solidFill>
        </p:spPr>
      </p:sp>
      <p:sp>
        <p:nvSpPr>
          <p:cNvPr id="12" name="Text 9"/>
          <p:cNvSpPr/>
          <p:nvPr/>
        </p:nvSpPr>
        <p:spPr>
          <a:xfrm>
            <a:off x="7320558" y="6275507"/>
            <a:ext cx="1388745" cy="149543"/>
          </a:xfrm>
          <a:prstGeom prst="rect">
            <a:avLst/>
          </a:prstGeom>
          <a:noFill/>
        </p:spPr>
        <p:txBody>
          <a:bodyPr wrap="none" lIns="0" tIns="0" rIns="0" bIns="0" rtlCol="0" anchor="t"/>
          <a:lstStyle/>
          <a:p>
            <a:pPr marL="0" indent="0" algn="l">
              <a:lnSpc>
                <a:spcPts val="1150"/>
              </a:lnSpc>
              <a:buNone/>
            </a:pP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 (°C)</a:t>
            </a:r>
            <a:endParaRPr lang="en-US" sz="1150" dirty="0"/>
          </a:p>
        </p:txBody>
      </p:sp>
      <p:sp>
        <p:nvSpPr>
          <p:cNvPr id="13" name="Text 10"/>
          <p:cNvSpPr/>
          <p:nvPr/>
        </p:nvSpPr>
        <p:spPr>
          <a:xfrm>
            <a:off x="523399" y="6584513"/>
            <a:ext cx="13583602" cy="239197"/>
          </a:xfrm>
          <a:prstGeom prst="rect">
            <a:avLst/>
          </a:prstGeom>
          <a:noFill/>
        </p:spPr>
        <p:txBody>
          <a:bodyPr wrap="none" lIns="0" tIns="0" rIns="0" bIns="0" rtlCol="0" anchor="t"/>
          <a:lstStyle/>
          <a:p>
            <a:pPr marL="0" indent="0" algn="l">
              <a:lnSpc>
                <a:spcPts val="1850"/>
              </a:lnSpc>
              <a:buSzPct val="100000"/>
              <a:buNone/>
            </a:pPr>
            <a:r>
              <a:rPr lang="en-US" sz="1150" dirty="0">
                <a:solidFill>
                  <a:srgbClr val="5E208E"/>
                </a:solidFill>
                <a:latin typeface="Inter" panose="02000503000000020004" pitchFamily="34" charset="0"/>
                <a:ea typeface="Inter" panose="02000503000000020004" pitchFamily="34" charset="-122"/>
                <a:cs typeface="Inter" panose="02000503000000020004" pitchFamily="34" charset="-120"/>
              </a:rPr>
              <a:t>Gerçek Sıcaklık Trendi (mor çizgi):</a:t>
            </a: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 Gözlemlenen artış.</a:t>
            </a:r>
            <a:endParaRPr lang="en-US" sz="1150" dirty="0"/>
          </a:p>
        </p:txBody>
      </p:sp>
      <p:sp>
        <p:nvSpPr>
          <p:cNvPr id="14" name="Text 11"/>
          <p:cNvSpPr/>
          <p:nvPr/>
        </p:nvSpPr>
        <p:spPr>
          <a:xfrm>
            <a:off x="523399" y="6875978"/>
            <a:ext cx="13583602" cy="239197"/>
          </a:xfrm>
          <a:prstGeom prst="rect">
            <a:avLst/>
          </a:prstGeom>
          <a:noFill/>
        </p:spPr>
        <p:txBody>
          <a:bodyPr wrap="none" lIns="0" tIns="0" rIns="0" bIns="0" rtlCol="0" anchor="t"/>
          <a:lstStyle/>
          <a:p>
            <a:pPr marL="0" indent="0" algn="l">
              <a:lnSpc>
                <a:spcPts val="1850"/>
              </a:lnSpc>
              <a:buSzPct val="100000"/>
              <a:buNone/>
            </a:pPr>
            <a:r>
              <a:rPr lang="en-US" sz="1150" dirty="0">
                <a:solidFill>
                  <a:srgbClr val="FF0000"/>
                </a:solidFill>
                <a:latin typeface="Inter" panose="02000503000000020004" pitchFamily="34" charset="0"/>
                <a:ea typeface="Inter" panose="02000503000000020004" pitchFamily="34" charset="-122"/>
                <a:cs typeface="Inter" panose="02000503000000020004" pitchFamily="34" charset="-120"/>
              </a:rPr>
              <a:t>Lineer Regresyon Tahmini (kırmızı çizgi)</a:t>
            </a: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 Doğrusal bir eğilim gösterir.</a:t>
            </a:r>
            <a:endParaRPr lang="en-US" sz="1150" dirty="0"/>
          </a:p>
        </p:txBody>
      </p:sp>
      <p:sp>
        <p:nvSpPr>
          <p:cNvPr id="15" name="Text 12"/>
          <p:cNvSpPr/>
          <p:nvPr/>
        </p:nvSpPr>
        <p:spPr>
          <a:xfrm>
            <a:off x="523399" y="7167443"/>
            <a:ext cx="13583602" cy="239197"/>
          </a:xfrm>
          <a:prstGeom prst="rect">
            <a:avLst/>
          </a:prstGeom>
          <a:noFill/>
        </p:spPr>
        <p:txBody>
          <a:bodyPr wrap="none" lIns="0" tIns="0" rIns="0" bIns="0" rtlCol="0" anchor="t"/>
          <a:lstStyle/>
          <a:p>
            <a:pPr marL="0" indent="0" algn="l">
              <a:lnSpc>
                <a:spcPts val="1850"/>
              </a:lnSpc>
              <a:buSzPct val="100000"/>
              <a:buNone/>
            </a:pPr>
            <a:r>
              <a:rPr lang="en-US" sz="1150" dirty="0">
                <a:solidFill>
                  <a:srgbClr val="FFA44F"/>
                </a:solidFill>
                <a:latin typeface="Inter" panose="02000503000000020004" pitchFamily="34" charset="0"/>
                <a:ea typeface="Inter" panose="02000503000000020004" pitchFamily="34" charset="-122"/>
                <a:cs typeface="Inter" panose="02000503000000020004" pitchFamily="34" charset="-120"/>
              </a:rPr>
              <a:t>Karar Ağacı Tahmini (turuncu çizgi):</a:t>
            </a: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 Yer yer dalgalanmalar gösterir.</a:t>
            </a:r>
            <a:endParaRPr lang="en-US" sz="1150" dirty="0"/>
          </a:p>
        </p:txBody>
      </p:sp>
      <p:sp>
        <p:nvSpPr>
          <p:cNvPr id="16" name="Text 13"/>
          <p:cNvSpPr/>
          <p:nvPr/>
        </p:nvSpPr>
        <p:spPr>
          <a:xfrm>
            <a:off x="523399" y="7458908"/>
            <a:ext cx="13583602" cy="239197"/>
          </a:xfrm>
          <a:prstGeom prst="rect">
            <a:avLst/>
          </a:prstGeom>
          <a:noFill/>
        </p:spPr>
        <p:txBody>
          <a:bodyPr wrap="none" lIns="0" tIns="0" rIns="0" bIns="0" rtlCol="0" anchor="t"/>
          <a:lstStyle/>
          <a:p>
            <a:pPr marL="0" indent="0" algn="l">
              <a:lnSpc>
                <a:spcPts val="1850"/>
              </a:lnSpc>
              <a:buSzPct val="100000"/>
              <a:buNone/>
            </a:pPr>
            <a:r>
              <a:rPr lang="en-US" sz="1150" dirty="0">
                <a:solidFill>
                  <a:srgbClr val="5CC97B"/>
                </a:solidFill>
                <a:latin typeface="Inter" panose="02000503000000020004" pitchFamily="34" charset="0"/>
                <a:ea typeface="Inter" panose="02000503000000020004" pitchFamily="34" charset="-122"/>
                <a:cs typeface="Inter" panose="02000503000000020004" pitchFamily="34" charset="-120"/>
              </a:rPr>
              <a:t>Random Forest Tahmini (yeşil çizgi):</a:t>
            </a:r>
            <a:r>
              <a:rPr lang="en-US" sz="1150" dirty="0">
                <a:solidFill>
                  <a:srgbClr val="272525"/>
                </a:solidFill>
                <a:latin typeface="Inter" panose="02000503000000020004" pitchFamily="34" charset="0"/>
                <a:ea typeface="Inter" panose="02000503000000020004" pitchFamily="34" charset="-122"/>
                <a:cs typeface="Inter" panose="02000503000000020004" pitchFamily="34" charset="-120"/>
              </a:rPr>
              <a:t> Gerçek verilere en yakın seyri izler.</a:t>
            </a:r>
            <a:endParaRPr lang="en-US" sz="1150" dirty="0"/>
          </a:p>
        </p:txBody>
      </p:sp>
      <p:pic>
        <p:nvPicPr>
          <p:cNvPr id="17" name="Resim 16"/>
          <p:cNvPicPr>
            <a:picLocks noChangeAspect="1"/>
          </p:cNvPicPr>
          <p:nvPr/>
        </p:nvPicPr>
        <p:blipFill>
          <a:blip r:embed="rId2"/>
          <a:stretch>
            <a:fillRect/>
          </a:stretch>
        </p:blipFill>
        <p:spPr>
          <a:xfrm>
            <a:off x="12893040" y="7690485"/>
            <a:ext cx="1617980" cy="457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9847" y="686276"/>
            <a:ext cx="9983629" cy="606981"/>
          </a:xfrm>
          <a:prstGeom prst="rect">
            <a:avLst/>
          </a:prstGeom>
          <a:noFill/>
        </p:spPr>
        <p:txBody>
          <a:bodyPr wrap="none" lIns="0" tIns="0" rIns="0" bIns="0" rtlCol="0" anchor="t"/>
          <a:lstStyle/>
          <a:p>
            <a:pPr marL="0" indent="0" algn="l">
              <a:lnSpc>
                <a:spcPts val="4750"/>
              </a:lnSpc>
              <a:buNone/>
            </a:pPr>
            <a:r>
              <a:rPr lang="en-US" sz="3800" b="1" dirty="0">
                <a:solidFill>
                  <a:srgbClr val="000000"/>
                </a:solidFill>
                <a:latin typeface="Inter Bold" pitchFamily="34" charset="0"/>
                <a:ea typeface="Inter Bold" pitchFamily="34" charset="-122"/>
                <a:cs typeface="Inter Bold" pitchFamily="34" charset="-120"/>
              </a:rPr>
              <a:t>Performans Karşılaştırması: Hata Ölçütleri</a:t>
            </a:r>
            <a:endParaRPr lang="en-US" sz="3800" dirty="0"/>
          </a:p>
        </p:txBody>
      </p:sp>
      <p:sp>
        <p:nvSpPr>
          <p:cNvPr id="3" name="Text 1"/>
          <p:cNvSpPr/>
          <p:nvPr/>
        </p:nvSpPr>
        <p:spPr>
          <a:xfrm>
            <a:off x="679847" y="1681758"/>
            <a:ext cx="13270706" cy="621744"/>
          </a:xfrm>
          <a:prstGeom prst="rect">
            <a:avLst/>
          </a:prstGeom>
          <a:noFill/>
        </p:spPr>
        <p:txBody>
          <a:bodyPr wrap="squar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Modellerin performansını değerlendirmek için Ortalama Mutlak Hata (MAE), Kök Ortalama Kare Hata (RMSE) ve R² skorları gibi hata ölçütlerini kullandık. Bu metrikler, modellerin tahminlerinin gerçek değerlerden ne kadar saptığını gösterir.</a:t>
            </a:r>
            <a:endParaRPr lang="en-US" sz="1500" dirty="0"/>
          </a:p>
        </p:txBody>
      </p:sp>
      <p:sp>
        <p:nvSpPr>
          <p:cNvPr id="4" name="Text 2"/>
          <p:cNvSpPr/>
          <p:nvPr/>
        </p:nvSpPr>
        <p:spPr>
          <a:xfrm>
            <a:off x="679847" y="2619018"/>
            <a:ext cx="4261723" cy="641033"/>
          </a:xfrm>
          <a:prstGeom prst="rect">
            <a:avLst/>
          </a:prstGeom>
          <a:noFill/>
        </p:spPr>
        <p:txBody>
          <a:bodyPr wrap="none" lIns="0" tIns="0" rIns="0" bIns="0" rtlCol="0" anchor="t"/>
          <a:lstStyle/>
          <a:p>
            <a:pPr marL="0" indent="0" algn="ctr">
              <a:lnSpc>
                <a:spcPts val="5000"/>
              </a:lnSpc>
              <a:buNone/>
            </a:pPr>
            <a:r>
              <a:rPr lang="en-US" sz="5000" b="1" dirty="0">
                <a:solidFill>
                  <a:srgbClr val="272525"/>
                </a:solidFill>
                <a:latin typeface="Inter Bold" pitchFamily="34" charset="0"/>
                <a:ea typeface="Inter Bold" pitchFamily="34" charset="-122"/>
                <a:cs typeface="Inter Bold" pitchFamily="34" charset="-120"/>
              </a:rPr>
              <a:t>0.12</a:t>
            </a:r>
            <a:endParaRPr lang="en-US" sz="5000" dirty="0"/>
          </a:p>
        </p:txBody>
      </p:sp>
      <p:sp>
        <p:nvSpPr>
          <p:cNvPr id="5" name="Text 3"/>
          <p:cNvSpPr/>
          <p:nvPr/>
        </p:nvSpPr>
        <p:spPr>
          <a:xfrm>
            <a:off x="1596628" y="3502700"/>
            <a:ext cx="2428161" cy="303371"/>
          </a:xfrm>
          <a:prstGeom prst="rect">
            <a:avLst/>
          </a:prstGeom>
          <a:noFill/>
        </p:spPr>
        <p:txBody>
          <a:bodyPr wrap="none" lIns="0" tIns="0" rIns="0" bIns="0" rtlCol="0" anchor="t"/>
          <a:lstStyle/>
          <a:p>
            <a:pPr marL="0" indent="0" algn="ctr">
              <a:lnSpc>
                <a:spcPts val="2350"/>
              </a:lnSpc>
              <a:buNone/>
            </a:pPr>
            <a:r>
              <a:rPr lang="en-US" sz="1900" b="1" dirty="0">
                <a:solidFill>
                  <a:srgbClr val="272525"/>
                </a:solidFill>
                <a:latin typeface="Inter Bold" pitchFamily="34" charset="0"/>
                <a:ea typeface="Inter Bold" pitchFamily="34" charset="-122"/>
                <a:cs typeface="Inter Bold" pitchFamily="34" charset="-120"/>
              </a:rPr>
              <a:t>RF MAE</a:t>
            </a:r>
            <a:endParaRPr lang="en-US" sz="1900" dirty="0"/>
          </a:p>
        </p:txBody>
      </p:sp>
      <p:sp>
        <p:nvSpPr>
          <p:cNvPr id="6" name="Text 4"/>
          <p:cNvSpPr/>
          <p:nvPr/>
        </p:nvSpPr>
        <p:spPr>
          <a:xfrm>
            <a:off x="679847" y="3922514"/>
            <a:ext cx="4261723" cy="621744"/>
          </a:xfrm>
          <a:prstGeom prst="rect">
            <a:avLst/>
          </a:prstGeom>
          <a:noFill/>
        </p:spPr>
        <p:txBody>
          <a:bodyPr wrap="square" lIns="0" tIns="0" rIns="0" bIns="0" rtlCol="0" anchor="t"/>
          <a:lstStyle/>
          <a:p>
            <a:pPr marL="0" indent="0" algn="ctr">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 için Ortalama Mutlak Hata, düşük sapmayı gösterir.</a:t>
            </a:r>
            <a:endParaRPr lang="en-US" sz="1500" dirty="0"/>
          </a:p>
        </p:txBody>
      </p:sp>
      <p:sp>
        <p:nvSpPr>
          <p:cNvPr id="7" name="Text 5"/>
          <p:cNvSpPr/>
          <p:nvPr/>
        </p:nvSpPr>
        <p:spPr>
          <a:xfrm>
            <a:off x="5184338" y="2619018"/>
            <a:ext cx="4261723" cy="641033"/>
          </a:xfrm>
          <a:prstGeom prst="rect">
            <a:avLst/>
          </a:prstGeom>
          <a:noFill/>
        </p:spPr>
        <p:txBody>
          <a:bodyPr wrap="none" lIns="0" tIns="0" rIns="0" bIns="0" rtlCol="0" anchor="t"/>
          <a:lstStyle/>
          <a:p>
            <a:pPr marL="0" indent="0" algn="ctr">
              <a:lnSpc>
                <a:spcPts val="5000"/>
              </a:lnSpc>
              <a:buNone/>
            </a:pPr>
            <a:r>
              <a:rPr lang="en-US" sz="5000" b="1" dirty="0">
                <a:solidFill>
                  <a:srgbClr val="272525"/>
                </a:solidFill>
                <a:latin typeface="Inter Bold" pitchFamily="34" charset="0"/>
                <a:ea typeface="Inter Bold" pitchFamily="34" charset="-122"/>
                <a:cs typeface="Inter Bold" pitchFamily="34" charset="-120"/>
              </a:rPr>
              <a:t>0.15</a:t>
            </a:r>
            <a:endParaRPr lang="en-US" sz="5000" dirty="0"/>
          </a:p>
        </p:txBody>
      </p:sp>
      <p:sp>
        <p:nvSpPr>
          <p:cNvPr id="8" name="Text 6"/>
          <p:cNvSpPr/>
          <p:nvPr/>
        </p:nvSpPr>
        <p:spPr>
          <a:xfrm>
            <a:off x="6101120" y="3502700"/>
            <a:ext cx="2428161" cy="303371"/>
          </a:xfrm>
          <a:prstGeom prst="rect">
            <a:avLst/>
          </a:prstGeom>
          <a:noFill/>
        </p:spPr>
        <p:txBody>
          <a:bodyPr wrap="none" lIns="0" tIns="0" rIns="0" bIns="0" rtlCol="0" anchor="t"/>
          <a:lstStyle/>
          <a:p>
            <a:pPr marL="0" indent="0" algn="ctr">
              <a:lnSpc>
                <a:spcPts val="2350"/>
              </a:lnSpc>
              <a:buNone/>
            </a:pPr>
            <a:r>
              <a:rPr lang="en-US" sz="1900" b="1" dirty="0">
                <a:solidFill>
                  <a:srgbClr val="272525"/>
                </a:solidFill>
                <a:latin typeface="Inter Bold" pitchFamily="34" charset="0"/>
                <a:ea typeface="Inter Bold" pitchFamily="34" charset="-122"/>
                <a:cs typeface="Inter Bold" pitchFamily="34" charset="-120"/>
              </a:rPr>
              <a:t>RF RMSE</a:t>
            </a:r>
            <a:endParaRPr lang="en-US" sz="1900" dirty="0"/>
          </a:p>
        </p:txBody>
      </p:sp>
      <p:sp>
        <p:nvSpPr>
          <p:cNvPr id="9" name="Text 7"/>
          <p:cNvSpPr/>
          <p:nvPr/>
        </p:nvSpPr>
        <p:spPr>
          <a:xfrm>
            <a:off x="5184338" y="3922514"/>
            <a:ext cx="4261723" cy="621744"/>
          </a:xfrm>
          <a:prstGeom prst="rect">
            <a:avLst/>
          </a:prstGeom>
          <a:noFill/>
        </p:spPr>
        <p:txBody>
          <a:bodyPr wrap="square" lIns="0" tIns="0" rIns="0" bIns="0" rtlCol="0" anchor="t"/>
          <a:lstStyle/>
          <a:p>
            <a:pPr marL="0" indent="0" algn="ctr">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 için Kök Ortalama Kare Hata, tutarlı doğruluğu belirtir.</a:t>
            </a:r>
            <a:endParaRPr lang="en-US" sz="1500" dirty="0"/>
          </a:p>
        </p:txBody>
      </p:sp>
      <p:sp>
        <p:nvSpPr>
          <p:cNvPr id="10" name="Text 8"/>
          <p:cNvSpPr/>
          <p:nvPr/>
        </p:nvSpPr>
        <p:spPr>
          <a:xfrm>
            <a:off x="9688830" y="2619018"/>
            <a:ext cx="4261723" cy="641033"/>
          </a:xfrm>
          <a:prstGeom prst="rect">
            <a:avLst/>
          </a:prstGeom>
          <a:noFill/>
        </p:spPr>
        <p:txBody>
          <a:bodyPr wrap="none" lIns="0" tIns="0" rIns="0" bIns="0" rtlCol="0" anchor="t"/>
          <a:lstStyle/>
          <a:p>
            <a:pPr marL="0" indent="0" algn="ctr">
              <a:lnSpc>
                <a:spcPts val="5000"/>
              </a:lnSpc>
              <a:buNone/>
            </a:pPr>
            <a:r>
              <a:rPr lang="en-US" sz="5000" b="1" dirty="0">
                <a:solidFill>
                  <a:srgbClr val="272525"/>
                </a:solidFill>
                <a:latin typeface="Inter Bold" pitchFamily="34" charset="0"/>
                <a:ea typeface="Inter Bold" pitchFamily="34" charset="-122"/>
                <a:cs typeface="Inter Bold" pitchFamily="34" charset="-120"/>
              </a:rPr>
              <a:t>0.92</a:t>
            </a:r>
            <a:endParaRPr lang="en-US" sz="5000" dirty="0"/>
          </a:p>
        </p:txBody>
      </p:sp>
      <p:sp>
        <p:nvSpPr>
          <p:cNvPr id="11" name="Text 9"/>
          <p:cNvSpPr/>
          <p:nvPr/>
        </p:nvSpPr>
        <p:spPr>
          <a:xfrm>
            <a:off x="10605611" y="3502700"/>
            <a:ext cx="2428161" cy="303371"/>
          </a:xfrm>
          <a:prstGeom prst="rect">
            <a:avLst/>
          </a:prstGeom>
          <a:noFill/>
        </p:spPr>
        <p:txBody>
          <a:bodyPr wrap="none" lIns="0" tIns="0" rIns="0" bIns="0" rtlCol="0" anchor="t"/>
          <a:lstStyle/>
          <a:p>
            <a:pPr marL="0" indent="0" algn="ctr">
              <a:lnSpc>
                <a:spcPts val="2350"/>
              </a:lnSpc>
              <a:buNone/>
            </a:pPr>
            <a:r>
              <a:rPr lang="en-US" sz="1900" b="1" dirty="0">
                <a:solidFill>
                  <a:srgbClr val="272525"/>
                </a:solidFill>
                <a:latin typeface="Inter Bold" pitchFamily="34" charset="0"/>
                <a:ea typeface="Inter Bold" pitchFamily="34" charset="-122"/>
                <a:cs typeface="Inter Bold" pitchFamily="34" charset="-120"/>
              </a:rPr>
              <a:t>RF R²</a:t>
            </a:r>
            <a:endParaRPr lang="en-US" sz="1900" dirty="0"/>
          </a:p>
        </p:txBody>
      </p:sp>
      <p:sp>
        <p:nvSpPr>
          <p:cNvPr id="12" name="Text 10"/>
          <p:cNvSpPr/>
          <p:nvPr/>
        </p:nvSpPr>
        <p:spPr>
          <a:xfrm>
            <a:off x="9688830" y="3922514"/>
            <a:ext cx="4261723" cy="621744"/>
          </a:xfrm>
          <a:prstGeom prst="rect">
            <a:avLst/>
          </a:prstGeom>
          <a:noFill/>
        </p:spPr>
        <p:txBody>
          <a:bodyPr wrap="square" lIns="0" tIns="0" rIns="0" bIns="0" rtlCol="0" anchor="t"/>
          <a:lstStyle/>
          <a:p>
            <a:pPr marL="0" indent="0" algn="ctr">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 için R² skoru, modelin varyansı açıklama gücünün yüksek olduğunu gösterir.</a:t>
            </a:r>
            <a:endParaRPr lang="en-US" sz="1500" dirty="0"/>
          </a:p>
        </p:txBody>
      </p:sp>
      <p:sp>
        <p:nvSpPr>
          <p:cNvPr id="13" name="Shape 11"/>
          <p:cNvSpPr/>
          <p:nvPr/>
        </p:nvSpPr>
        <p:spPr>
          <a:xfrm>
            <a:off x="679847" y="4762738"/>
            <a:ext cx="13270706" cy="2251234"/>
          </a:xfrm>
          <a:prstGeom prst="roundRect">
            <a:avLst>
              <a:gd name="adj" fmla="val 3624"/>
            </a:avLst>
          </a:prstGeom>
          <a:noFill/>
          <a:ln w="7620">
            <a:solidFill>
              <a:srgbClr val="000000">
                <a:alpha val="8000"/>
              </a:srgbClr>
            </a:solidFill>
            <a:prstDash val="solid"/>
          </a:ln>
        </p:spPr>
      </p:sp>
      <p:sp>
        <p:nvSpPr>
          <p:cNvPr id="14" name="Shape 12"/>
          <p:cNvSpPr/>
          <p:nvPr/>
        </p:nvSpPr>
        <p:spPr>
          <a:xfrm>
            <a:off x="687467" y="4770358"/>
            <a:ext cx="13255466" cy="558998"/>
          </a:xfrm>
          <a:prstGeom prst="rect">
            <a:avLst/>
          </a:prstGeom>
          <a:solidFill>
            <a:srgbClr val="FFFFFF">
              <a:alpha val="4000"/>
            </a:srgbClr>
          </a:solidFill>
        </p:spPr>
      </p:sp>
      <p:sp>
        <p:nvSpPr>
          <p:cNvPr id="15" name="Text 13"/>
          <p:cNvSpPr/>
          <p:nvPr/>
        </p:nvSpPr>
        <p:spPr>
          <a:xfrm>
            <a:off x="881896" y="4894421"/>
            <a:ext cx="3584377" cy="310872"/>
          </a:xfrm>
          <a:prstGeom prst="rect">
            <a:avLst/>
          </a:prstGeom>
          <a:noFill/>
        </p:spPr>
        <p:txBody>
          <a:bodyPr wrap="none" lIns="0" tIns="0" rIns="0" bIns="0" rtlCol="0" anchor="t"/>
          <a:lstStyle/>
          <a:p>
            <a:pPr marL="0" indent="0" algn="l">
              <a:lnSpc>
                <a:spcPts val="2400"/>
              </a:lnSpc>
              <a:buNone/>
            </a:pPr>
            <a:r>
              <a:rPr lang="en-US" sz="1500" b="1" dirty="0">
                <a:solidFill>
                  <a:srgbClr val="272525"/>
                </a:solidFill>
                <a:latin typeface="Inter" panose="02000503000000020004" pitchFamily="34" charset="0"/>
                <a:ea typeface="Inter" panose="02000503000000020004" pitchFamily="34" charset="-122"/>
                <a:cs typeface="Inter" panose="02000503000000020004" pitchFamily="34" charset="-120"/>
              </a:rPr>
              <a:t>Model</a:t>
            </a:r>
            <a:endParaRPr lang="en-US" sz="1500" dirty="0"/>
          </a:p>
        </p:txBody>
      </p:sp>
      <p:sp>
        <p:nvSpPr>
          <p:cNvPr id="16" name="Text 14"/>
          <p:cNvSpPr/>
          <p:nvPr/>
        </p:nvSpPr>
        <p:spPr>
          <a:xfrm>
            <a:off x="4862274" y="4894421"/>
            <a:ext cx="2652713" cy="310872"/>
          </a:xfrm>
          <a:prstGeom prst="rect">
            <a:avLst/>
          </a:prstGeom>
          <a:noFill/>
        </p:spPr>
        <p:txBody>
          <a:bodyPr wrap="none" lIns="0" tIns="0" rIns="0" bIns="0" rtlCol="0" anchor="t"/>
          <a:lstStyle/>
          <a:p>
            <a:pPr marL="0" indent="0" algn="l">
              <a:lnSpc>
                <a:spcPts val="2400"/>
              </a:lnSpc>
              <a:buNone/>
            </a:pPr>
            <a:r>
              <a:rPr lang="en-US" sz="1500" b="1" dirty="0">
                <a:solidFill>
                  <a:srgbClr val="272525"/>
                </a:solidFill>
                <a:latin typeface="Inter" panose="02000503000000020004" pitchFamily="34" charset="0"/>
                <a:ea typeface="Inter" panose="02000503000000020004" pitchFamily="34" charset="-122"/>
                <a:cs typeface="Inter" panose="02000503000000020004" pitchFamily="34" charset="-120"/>
              </a:rPr>
              <a:t>MAE</a:t>
            </a:r>
            <a:endParaRPr lang="en-US" sz="1500" dirty="0"/>
          </a:p>
        </p:txBody>
      </p:sp>
      <p:sp>
        <p:nvSpPr>
          <p:cNvPr id="17" name="Text 15"/>
          <p:cNvSpPr/>
          <p:nvPr/>
        </p:nvSpPr>
        <p:spPr>
          <a:xfrm>
            <a:off x="7910989" y="4894421"/>
            <a:ext cx="2652713" cy="310872"/>
          </a:xfrm>
          <a:prstGeom prst="rect">
            <a:avLst/>
          </a:prstGeom>
          <a:noFill/>
        </p:spPr>
        <p:txBody>
          <a:bodyPr wrap="none" lIns="0" tIns="0" rIns="0" bIns="0" rtlCol="0" anchor="t"/>
          <a:lstStyle/>
          <a:p>
            <a:pPr marL="0" indent="0" algn="l">
              <a:lnSpc>
                <a:spcPts val="2400"/>
              </a:lnSpc>
              <a:buNone/>
            </a:pPr>
            <a:r>
              <a:rPr lang="en-US" sz="1500" b="1" dirty="0">
                <a:solidFill>
                  <a:srgbClr val="272525"/>
                </a:solidFill>
                <a:latin typeface="Inter" panose="02000503000000020004" pitchFamily="34" charset="0"/>
                <a:ea typeface="Inter" panose="02000503000000020004" pitchFamily="34" charset="-122"/>
                <a:cs typeface="Inter" panose="02000503000000020004" pitchFamily="34" charset="-120"/>
              </a:rPr>
              <a:t>RMSE</a:t>
            </a:r>
            <a:endParaRPr lang="en-US" sz="1500" dirty="0"/>
          </a:p>
        </p:txBody>
      </p:sp>
      <p:sp>
        <p:nvSpPr>
          <p:cNvPr id="18" name="Text 16"/>
          <p:cNvSpPr/>
          <p:nvPr/>
        </p:nvSpPr>
        <p:spPr>
          <a:xfrm>
            <a:off x="10959703" y="4894421"/>
            <a:ext cx="2789039" cy="310872"/>
          </a:xfrm>
          <a:prstGeom prst="rect">
            <a:avLst/>
          </a:prstGeom>
          <a:noFill/>
        </p:spPr>
        <p:txBody>
          <a:bodyPr wrap="none" lIns="0" tIns="0" rIns="0" bIns="0" rtlCol="0" anchor="t"/>
          <a:lstStyle/>
          <a:p>
            <a:pPr marL="0" indent="0" algn="l">
              <a:lnSpc>
                <a:spcPts val="2400"/>
              </a:lnSpc>
              <a:buNone/>
            </a:pPr>
            <a:r>
              <a:rPr lang="en-US" sz="1500" b="1" dirty="0">
                <a:solidFill>
                  <a:srgbClr val="272525"/>
                </a:solidFill>
                <a:latin typeface="Inter" panose="02000503000000020004" pitchFamily="34" charset="0"/>
                <a:ea typeface="Inter" panose="02000503000000020004" pitchFamily="34" charset="-122"/>
                <a:cs typeface="Inter" panose="02000503000000020004" pitchFamily="34" charset="-120"/>
              </a:rPr>
              <a:t>R² Skoru</a:t>
            </a:r>
            <a:endParaRPr lang="en-US" sz="1500" dirty="0"/>
          </a:p>
        </p:txBody>
      </p:sp>
      <p:sp>
        <p:nvSpPr>
          <p:cNvPr id="19" name="Shape 17"/>
          <p:cNvSpPr/>
          <p:nvPr/>
        </p:nvSpPr>
        <p:spPr>
          <a:xfrm>
            <a:off x="687467" y="5329357"/>
            <a:ext cx="13255466" cy="558998"/>
          </a:xfrm>
          <a:prstGeom prst="rect">
            <a:avLst/>
          </a:prstGeom>
          <a:solidFill>
            <a:srgbClr val="000000">
              <a:alpha val="4000"/>
            </a:srgbClr>
          </a:solidFill>
        </p:spPr>
      </p:sp>
      <p:sp>
        <p:nvSpPr>
          <p:cNvPr id="20" name="Text 18"/>
          <p:cNvSpPr/>
          <p:nvPr/>
        </p:nvSpPr>
        <p:spPr>
          <a:xfrm>
            <a:off x="881896" y="5453420"/>
            <a:ext cx="3584377"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a:t>
            </a:r>
            <a:endParaRPr lang="en-US" sz="1500" dirty="0"/>
          </a:p>
        </p:txBody>
      </p:sp>
      <p:sp>
        <p:nvSpPr>
          <p:cNvPr id="21" name="Text 19"/>
          <p:cNvSpPr/>
          <p:nvPr/>
        </p:nvSpPr>
        <p:spPr>
          <a:xfrm>
            <a:off x="4862274" y="5453420"/>
            <a:ext cx="2652713"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0.12</a:t>
            </a:r>
            <a:endParaRPr lang="en-US" sz="1500" dirty="0"/>
          </a:p>
        </p:txBody>
      </p:sp>
      <p:sp>
        <p:nvSpPr>
          <p:cNvPr id="22" name="Text 20"/>
          <p:cNvSpPr/>
          <p:nvPr/>
        </p:nvSpPr>
        <p:spPr>
          <a:xfrm>
            <a:off x="7910989" y="5453420"/>
            <a:ext cx="2652713"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0.15</a:t>
            </a:r>
            <a:endParaRPr lang="en-US" sz="1500" dirty="0"/>
          </a:p>
        </p:txBody>
      </p:sp>
      <p:sp>
        <p:nvSpPr>
          <p:cNvPr id="23" name="Text 21"/>
          <p:cNvSpPr/>
          <p:nvPr/>
        </p:nvSpPr>
        <p:spPr>
          <a:xfrm>
            <a:off x="10959703" y="5453420"/>
            <a:ext cx="2789039"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0.92</a:t>
            </a:r>
            <a:endParaRPr lang="en-US" sz="1500" dirty="0"/>
          </a:p>
        </p:txBody>
      </p:sp>
      <p:sp>
        <p:nvSpPr>
          <p:cNvPr id="24" name="Shape 22"/>
          <p:cNvSpPr/>
          <p:nvPr/>
        </p:nvSpPr>
        <p:spPr>
          <a:xfrm>
            <a:off x="687467" y="5888355"/>
            <a:ext cx="13255466" cy="558998"/>
          </a:xfrm>
          <a:prstGeom prst="rect">
            <a:avLst/>
          </a:prstGeom>
          <a:solidFill>
            <a:srgbClr val="FFFFFF">
              <a:alpha val="4000"/>
            </a:srgbClr>
          </a:solidFill>
        </p:spPr>
      </p:sp>
      <p:sp>
        <p:nvSpPr>
          <p:cNvPr id="25" name="Text 23"/>
          <p:cNvSpPr/>
          <p:nvPr/>
        </p:nvSpPr>
        <p:spPr>
          <a:xfrm>
            <a:off x="881896" y="6012418"/>
            <a:ext cx="3584377"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Karar Ağacı</a:t>
            </a:r>
            <a:endParaRPr lang="en-US" sz="1500" dirty="0"/>
          </a:p>
        </p:txBody>
      </p:sp>
      <p:sp>
        <p:nvSpPr>
          <p:cNvPr id="26" name="Text 24"/>
          <p:cNvSpPr/>
          <p:nvPr/>
        </p:nvSpPr>
        <p:spPr>
          <a:xfrm>
            <a:off x="4862274" y="6012418"/>
            <a:ext cx="2652713"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0.18</a:t>
            </a:r>
            <a:endParaRPr lang="en-US" sz="1500" dirty="0"/>
          </a:p>
        </p:txBody>
      </p:sp>
      <p:sp>
        <p:nvSpPr>
          <p:cNvPr id="27" name="Text 25"/>
          <p:cNvSpPr/>
          <p:nvPr/>
        </p:nvSpPr>
        <p:spPr>
          <a:xfrm>
            <a:off x="7910989" y="6012418"/>
            <a:ext cx="2652713"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0.22</a:t>
            </a:r>
            <a:endParaRPr lang="en-US" sz="1500" dirty="0"/>
          </a:p>
        </p:txBody>
      </p:sp>
      <p:sp>
        <p:nvSpPr>
          <p:cNvPr id="28" name="Text 26"/>
          <p:cNvSpPr/>
          <p:nvPr/>
        </p:nvSpPr>
        <p:spPr>
          <a:xfrm>
            <a:off x="10959703" y="6012418"/>
            <a:ext cx="2789039"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0.85</a:t>
            </a:r>
            <a:endParaRPr lang="en-US" sz="1500" dirty="0"/>
          </a:p>
        </p:txBody>
      </p:sp>
      <p:sp>
        <p:nvSpPr>
          <p:cNvPr id="29" name="Shape 27"/>
          <p:cNvSpPr/>
          <p:nvPr/>
        </p:nvSpPr>
        <p:spPr>
          <a:xfrm>
            <a:off x="687467" y="6447353"/>
            <a:ext cx="13255466" cy="558998"/>
          </a:xfrm>
          <a:prstGeom prst="rect">
            <a:avLst/>
          </a:prstGeom>
          <a:solidFill>
            <a:srgbClr val="000000">
              <a:alpha val="4000"/>
            </a:srgbClr>
          </a:solidFill>
        </p:spPr>
      </p:sp>
      <p:sp>
        <p:nvSpPr>
          <p:cNvPr id="30" name="Text 28"/>
          <p:cNvSpPr/>
          <p:nvPr/>
        </p:nvSpPr>
        <p:spPr>
          <a:xfrm>
            <a:off x="881896" y="6571417"/>
            <a:ext cx="3584377"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Lineer Regresyon</a:t>
            </a:r>
            <a:endParaRPr lang="en-US" sz="1500" dirty="0"/>
          </a:p>
        </p:txBody>
      </p:sp>
      <p:sp>
        <p:nvSpPr>
          <p:cNvPr id="31" name="Text 29"/>
          <p:cNvSpPr/>
          <p:nvPr/>
        </p:nvSpPr>
        <p:spPr>
          <a:xfrm>
            <a:off x="4862274" y="6571417"/>
            <a:ext cx="2652713"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0.25</a:t>
            </a:r>
            <a:endParaRPr lang="en-US" sz="1500" dirty="0"/>
          </a:p>
        </p:txBody>
      </p:sp>
      <p:sp>
        <p:nvSpPr>
          <p:cNvPr id="32" name="Text 30"/>
          <p:cNvSpPr/>
          <p:nvPr/>
        </p:nvSpPr>
        <p:spPr>
          <a:xfrm>
            <a:off x="7910989" y="6571417"/>
            <a:ext cx="2652713"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0.30</a:t>
            </a:r>
            <a:endParaRPr lang="en-US" sz="1500" dirty="0"/>
          </a:p>
        </p:txBody>
      </p:sp>
      <p:sp>
        <p:nvSpPr>
          <p:cNvPr id="33" name="Text 31"/>
          <p:cNvSpPr/>
          <p:nvPr/>
        </p:nvSpPr>
        <p:spPr>
          <a:xfrm>
            <a:off x="10959703" y="6571417"/>
            <a:ext cx="2789039" cy="310872"/>
          </a:xfrm>
          <a:prstGeom prst="rect">
            <a:avLst/>
          </a:prstGeom>
          <a:noFill/>
        </p:spPr>
        <p:txBody>
          <a:bodyPr wrap="none" lIns="0" tIns="0" rIns="0" bIns="0" rtlCol="0" anchor="t"/>
          <a:lstStyle/>
          <a:p>
            <a:pPr marL="0" indent="0" algn="l">
              <a:lnSpc>
                <a:spcPts val="2400"/>
              </a:lnSpc>
              <a:buNone/>
            </a:pP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0.75</a:t>
            </a:r>
            <a:endParaRPr lang="en-US" sz="1500" dirty="0"/>
          </a:p>
        </p:txBody>
      </p:sp>
      <p:sp>
        <p:nvSpPr>
          <p:cNvPr id="34" name="Text 32"/>
          <p:cNvSpPr/>
          <p:nvPr/>
        </p:nvSpPr>
        <p:spPr>
          <a:xfrm>
            <a:off x="679847" y="7232452"/>
            <a:ext cx="13270706" cy="310872"/>
          </a:xfrm>
          <a:prstGeom prst="rect">
            <a:avLst/>
          </a:prstGeom>
          <a:noFill/>
        </p:spPr>
        <p:txBody>
          <a:bodyPr wrap="none" lIns="0" tIns="0" rIns="0" bIns="0" rtlCol="0" anchor="t"/>
          <a:lstStyle/>
          <a:p>
            <a:pPr marL="0" indent="0" algn="l">
              <a:lnSpc>
                <a:spcPts val="2400"/>
              </a:lnSpc>
              <a:buNone/>
            </a:pPr>
            <a:r>
              <a:rPr lang="en-US" sz="1500" dirty="0">
                <a:solidFill>
                  <a:srgbClr val="4950BC"/>
                </a:solidFill>
                <a:latin typeface="Inter" panose="02000503000000020004" pitchFamily="34" charset="0"/>
                <a:ea typeface="Inter" panose="02000503000000020004" pitchFamily="34" charset="-122"/>
                <a:cs typeface="Inter" panose="02000503000000020004" pitchFamily="34" charset="-120"/>
              </a:rPr>
              <a:t>Random Forest</a:t>
            </a:r>
            <a:r>
              <a:rPr lang="en-US" sz="1500" dirty="0">
                <a:solidFill>
                  <a:srgbClr val="272525"/>
                </a:solidFill>
                <a:latin typeface="Inter" panose="02000503000000020004" pitchFamily="34" charset="0"/>
                <a:ea typeface="Inter" panose="02000503000000020004" pitchFamily="34" charset="-122"/>
                <a:cs typeface="Inter" panose="02000503000000020004" pitchFamily="34" charset="-120"/>
              </a:rPr>
              <a:t>, tüm metriklerde en iyi sonuçları elde ederek üstün performansını kanıtlamıştır.</a:t>
            </a:r>
            <a:endParaRPr lang="en-US" sz="1500" dirty="0"/>
          </a:p>
        </p:txBody>
      </p:sp>
      <p:pic>
        <p:nvPicPr>
          <p:cNvPr id="35" name="Resim 34"/>
          <p:cNvPicPr>
            <a:picLocks noChangeAspect="1"/>
          </p:cNvPicPr>
          <p:nvPr/>
        </p:nvPicPr>
        <p:blipFill>
          <a:blip r:embed="rId1"/>
          <a:stretch>
            <a:fillRect/>
          </a:stretch>
        </p:blipFill>
        <p:spPr>
          <a:xfrm>
            <a:off x="12893040" y="7690485"/>
            <a:ext cx="161798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3530" y="489942"/>
            <a:ext cx="7977068" cy="556736"/>
          </a:xfrm>
          <a:prstGeom prst="rect">
            <a:avLst/>
          </a:prstGeom>
          <a:noFill/>
        </p:spPr>
        <p:txBody>
          <a:bodyPr wrap="none" lIns="0" tIns="0" rIns="0" bIns="0" rtlCol="0" anchor="t"/>
          <a:lstStyle/>
          <a:p>
            <a:pPr marL="0" indent="0" algn="l">
              <a:lnSpc>
                <a:spcPts val="4350"/>
              </a:lnSpc>
              <a:buNone/>
            </a:pPr>
            <a:r>
              <a:rPr lang="en-US" sz="3500" b="1" dirty="0">
                <a:solidFill>
                  <a:srgbClr val="000000"/>
                </a:solidFill>
                <a:latin typeface="Inter Bold" pitchFamily="34" charset="0"/>
                <a:ea typeface="Inter Bold" pitchFamily="34" charset="-122"/>
                <a:cs typeface="Inter Bold" pitchFamily="34" charset="-120"/>
              </a:rPr>
              <a:t>Neden Random Forest Daha Başarılı?</a:t>
            </a:r>
            <a:endParaRPr lang="en-US" sz="3500" dirty="0"/>
          </a:p>
        </p:txBody>
      </p:sp>
      <p:sp>
        <p:nvSpPr>
          <p:cNvPr id="3" name="Text 1"/>
          <p:cNvSpPr/>
          <p:nvPr/>
        </p:nvSpPr>
        <p:spPr>
          <a:xfrm>
            <a:off x="623530" y="1313855"/>
            <a:ext cx="13383339" cy="284917"/>
          </a:xfrm>
          <a:prstGeom prst="rect">
            <a:avLst/>
          </a:prstGeom>
          <a:noFill/>
        </p:spPr>
        <p:txBody>
          <a:bodyPr wrap="none" lIns="0" tIns="0" rIns="0" bIns="0" rtlCol="0" anchor="t"/>
          <a:lstStyle/>
          <a:p>
            <a:pPr marL="0" indent="0" algn="l">
              <a:lnSpc>
                <a:spcPts val="220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Forest'ın iklim sıcaklık tahminlerinde diğer modellere kıyasla daha başarılı olmasının temelinde yatan birkaç önemli neden bulunmaktadır.</a:t>
            </a:r>
            <a:endParaRPr lang="en-US" sz="1400" dirty="0"/>
          </a:p>
        </p:txBody>
      </p:sp>
      <p:pic>
        <p:nvPicPr>
          <p:cNvPr id="4" name="Image 0" descr="preencoded.png"/>
          <p:cNvPicPr>
            <a:picLocks noChangeAspect="1"/>
          </p:cNvPicPr>
          <p:nvPr/>
        </p:nvPicPr>
        <p:blipFill>
          <a:blip r:embed="rId1"/>
          <a:stretch>
            <a:fillRect/>
          </a:stretch>
        </p:blipFill>
        <p:spPr>
          <a:xfrm>
            <a:off x="623530" y="1799153"/>
            <a:ext cx="890826" cy="890826"/>
          </a:xfrm>
          <a:prstGeom prst="rect">
            <a:avLst/>
          </a:prstGeom>
        </p:spPr>
      </p:pic>
      <p:sp>
        <p:nvSpPr>
          <p:cNvPr id="5" name="Text 2"/>
          <p:cNvSpPr/>
          <p:nvPr/>
        </p:nvSpPr>
        <p:spPr>
          <a:xfrm>
            <a:off x="1692473" y="1799153"/>
            <a:ext cx="2227064" cy="278368"/>
          </a:xfrm>
          <a:prstGeom prst="rect">
            <a:avLst/>
          </a:prstGeom>
          <a:noFill/>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Ensemble Öğrenme</a:t>
            </a:r>
            <a:endParaRPr lang="en-US" sz="1750" dirty="0"/>
          </a:p>
        </p:txBody>
      </p:sp>
      <p:sp>
        <p:nvSpPr>
          <p:cNvPr id="6" name="Text 3"/>
          <p:cNvSpPr/>
          <p:nvPr/>
        </p:nvSpPr>
        <p:spPr>
          <a:xfrm>
            <a:off x="1692473" y="2184321"/>
            <a:ext cx="12314396" cy="284917"/>
          </a:xfrm>
          <a:prstGeom prst="rect">
            <a:avLst/>
          </a:prstGeom>
          <a:noFill/>
        </p:spPr>
        <p:txBody>
          <a:bodyPr wrap="none" lIns="0" tIns="0" rIns="0" bIns="0" rtlCol="0" anchor="t"/>
          <a:lstStyle/>
          <a:p>
            <a:pPr marL="0" indent="0" algn="l">
              <a:lnSpc>
                <a:spcPts val="220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Birden çok karar ağacını birleştirerek tahminlerin doğruluğunu artırır.</a:t>
            </a:r>
            <a:endParaRPr lang="en-US" sz="1400" dirty="0"/>
          </a:p>
        </p:txBody>
      </p:sp>
      <p:pic>
        <p:nvPicPr>
          <p:cNvPr id="7" name="Image 1" descr="preencoded.png"/>
          <p:cNvPicPr>
            <a:picLocks noChangeAspect="1"/>
          </p:cNvPicPr>
          <p:nvPr/>
        </p:nvPicPr>
        <p:blipFill>
          <a:blip r:embed="rId2"/>
          <a:stretch>
            <a:fillRect/>
          </a:stretch>
        </p:blipFill>
        <p:spPr>
          <a:xfrm>
            <a:off x="623530" y="2868097"/>
            <a:ext cx="890826" cy="890826"/>
          </a:xfrm>
          <a:prstGeom prst="rect">
            <a:avLst/>
          </a:prstGeom>
        </p:spPr>
      </p:pic>
      <p:sp>
        <p:nvSpPr>
          <p:cNvPr id="8" name="Text 4"/>
          <p:cNvSpPr/>
          <p:nvPr/>
        </p:nvSpPr>
        <p:spPr>
          <a:xfrm>
            <a:off x="1692473" y="2868097"/>
            <a:ext cx="2520910" cy="278368"/>
          </a:xfrm>
          <a:prstGeom prst="rect">
            <a:avLst/>
          </a:prstGeom>
          <a:noFill/>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Rastgele Özellik Seçimi</a:t>
            </a:r>
            <a:endParaRPr lang="en-US" sz="1750" dirty="0"/>
          </a:p>
        </p:txBody>
      </p:sp>
      <p:sp>
        <p:nvSpPr>
          <p:cNvPr id="9" name="Text 5"/>
          <p:cNvSpPr/>
          <p:nvPr/>
        </p:nvSpPr>
        <p:spPr>
          <a:xfrm>
            <a:off x="1692473" y="3253264"/>
            <a:ext cx="12314396" cy="284917"/>
          </a:xfrm>
          <a:prstGeom prst="rect">
            <a:avLst/>
          </a:prstGeom>
          <a:noFill/>
        </p:spPr>
        <p:txBody>
          <a:bodyPr wrap="none" lIns="0" tIns="0" rIns="0" bIns="0" rtlCol="0" anchor="t"/>
          <a:lstStyle/>
          <a:p>
            <a:pPr marL="0" indent="0" algn="l">
              <a:lnSpc>
                <a:spcPts val="220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Her bir ağacın farklı özellik alt kümeleriyle eğitilmesi, model çeşitliliğini artırır.</a:t>
            </a:r>
            <a:endParaRPr lang="en-US" sz="1400" dirty="0"/>
          </a:p>
        </p:txBody>
      </p:sp>
      <p:pic>
        <p:nvPicPr>
          <p:cNvPr id="10" name="Image 2" descr="preencoded.png"/>
          <p:cNvPicPr>
            <a:picLocks noChangeAspect="1"/>
          </p:cNvPicPr>
          <p:nvPr/>
        </p:nvPicPr>
        <p:blipFill>
          <a:blip r:embed="rId3"/>
          <a:stretch>
            <a:fillRect/>
          </a:stretch>
        </p:blipFill>
        <p:spPr>
          <a:xfrm>
            <a:off x="623530" y="3937040"/>
            <a:ext cx="890826" cy="890826"/>
          </a:xfrm>
          <a:prstGeom prst="rect">
            <a:avLst/>
          </a:prstGeom>
        </p:spPr>
      </p:pic>
      <p:sp>
        <p:nvSpPr>
          <p:cNvPr id="11" name="Text 6"/>
          <p:cNvSpPr/>
          <p:nvPr/>
        </p:nvSpPr>
        <p:spPr>
          <a:xfrm>
            <a:off x="1692473" y="3937040"/>
            <a:ext cx="2227064" cy="278368"/>
          </a:xfrm>
          <a:prstGeom prst="rect">
            <a:avLst/>
          </a:prstGeom>
          <a:noFill/>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Karmaşık İlişkiler</a:t>
            </a:r>
            <a:endParaRPr lang="en-US" sz="1750" dirty="0"/>
          </a:p>
        </p:txBody>
      </p:sp>
      <p:sp>
        <p:nvSpPr>
          <p:cNvPr id="12" name="Text 7"/>
          <p:cNvSpPr/>
          <p:nvPr/>
        </p:nvSpPr>
        <p:spPr>
          <a:xfrm>
            <a:off x="1692473" y="4322207"/>
            <a:ext cx="12314396" cy="284917"/>
          </a:xfrm>
          <a:prstGeom prst="rect">
            <a:avLst/>
          </a:prstGeom>
          <a:noFill/>
        </p:spPr>
        <p:txBody>
          <a:bodyPr wrap="none" lIns="0" tIns="0" rIns="0" bIns="0" rtlCol="0" anchor="t"/>
          <a:lstStyle/>
          <a:p>
            <a:pPr marL="0" indent="0" algn="l">
              <a:lnSpc>
                <a:spcPts val="220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Doğrusal olmayan ve karmaşık iklim ilişkilerini etkili bir şekilde yakalama yeteneği vardır.</a:t>
            </a:r>
            <a:endParaRPr lang="en-US" sz="1400" dirty="0"/>
          </a:p>
        </p:txBody>
      </p:sp>
      <p:pic>
        <p:nvPicPr>
          <p:cNvPr id="13" name="Image 3" descr="preencoded.png"/>
          <p:cNvPicPr>
            <a:picLocks noChangeAspect="1"/>
          </p:cNvPicPr>
          <p:nvPr/>
        </p:nvPicPr>
        <p:blipFill>
          <a:blip r:embed="rId4"/>
          <a:stretch>
            <a:fillRect/>
          </a:stretch>
        </p:blipFill>
        <p:spPr>
          <a:xfrm>
            <a:off x="623530" y="5005983"/>
            <a:ext cx="890826" cy="890826"/>
          </a:xfrm>
          <a:prstGeom prst="rect">
            <a:avLst/>
          </a:prstGeom>
        </p:spPr>
      </p:pic>
      <p:sp>
        <p:nvSpPr>
          <p:cNvPr id="14" name="Text 8"/>
          <p:cNvSpPr/>
          <p:nvPr/>
        </p:nvSpPr>
        <p:spPr>
          <a:xfrm>
            <a:off x="1692473" y="5005983"/>
            <a:ext cx="2380178" cy="278368"/>
          </a:xfrm>
          <a:prstGeom prst="rect">
            <a:avLst/>
          </a:prstGeom>
          <a:noFill/>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Gürültüye Dayanıklılık</a:t>
            </a:r>
            <a:endParaRPr lang="en-US" sz="1750" dirty="0"/>
          </a:p>
        </p:txBody>
      </p:sp>
      <p:sp>
        <p:nvSpPr>
          <p:cNvPr id="15" name="Text 9"/>
          <p:cNvSpPr/>
          <p:nvPr/>
        </p:nvSpPr>
        <p:spPr>
          <a:xfrm>
            <a:off x="1692473" y="5391150"/>
            <a:ext cx="12314396" cy="284917"/>
          </a:xfrm>
          <a:prstGeom prst="rect">
            <a:avLst/>
          </a:prstGeom>
          <a:noFill/>
        </p:spPr>
        <p:txBody>
          <a:bodyPr wrap="none" lIns="0" tIns="0" rIns="0" bIns="0" rtlCol="0" anchor="t"/>
          <a:lstStyle/>
          <a:p>
            <a:pPr marL="0" indent="0" algn="l">
              <a:lnSpc>
                <a:spcPts val="220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İklim verilerindeki gürültü ve değişkenliklere karşı daha dayanıklı bir yapı sunar.</a:t>
            </a:r>
            <a:endParaRPr lang="en-US" sz="1400" dirty="0"/>
          </a:p>
        </p:txBody>
      </p:sp>
      <p:sp>
        <p:nvSpPr>
          <p:cNvPr id="16" name="Text 10"/>
          <p:cNvSpPr/>
          <p:nvPr/>
        </p:nvSpPr>
        <p:spPr>
          <a:xfrm>
            <a:off x="623530" y="6342102"/>
            <a:ext cx="5156121" cy="278368"/>
          </a:xfrm>
          <a:prstGeom prst="rect">
            <a:avLst/>
          </a:prstGeom>
          <a:noFill/>
        </p:spPr>
        <p:txBody>
          <a:bodyPr wrap="none" lIns="0" tIns="0" rIns="0" bIns="0" rtlCol="0" anchor="t"/>
          <a:lstStyle/>
          <a:p>
            <a:pPr marL="0" indent="0" algn="l">
              <a:lnSpc>
                <a:spcPts val="2150"/>
              </a:lnSpc>
              <a:buNone/>
            </a:pPr>
            <a:r>
              <a:rPr lang="en-US" sz="1750" b="1" dirty="0">
                <a:solidFill>
                  <a:srgbClr val="000000"/>
                </a:solidFill>
                <a:latin typeface="Inter Bold" pitchFamily="34" charset="0"/>
                <a:ea typeface="Inter Bold" pitchFamily="34" charset="-122"/>
                <a:cs typeface="Inter Bold" pitchFamily="34" charset="-120"/>
              </a:rPr>
              <a:t>Dezavantajları: Karmaşıklık ve Hesaplama Yükü</a:t>
            </a:r>
            <a:endParaRPr lang="en-US" sz="1750" dirty="0"/>
          </a:p>
        </p:txBody>
      </p:sp>
      <p:sp>
        <p:nvSpPr>
          <p:cNvPr id="17" name="Text 11"/>
          <p:cNvSpPr/>
          <p:nvPr/>
        </p:nvSpPr>
        <p:spPr>
          <a:xfrm>
            <a:off x="623530" y="6887647"/>
            <a:ext cx="13383339" cy="854750"/>
          </a:xfrm>
          <a:prstGeom prst="rect">
            <a:avLst/>
          </a:prstGeom>
          <a:noFill/>
        </p:spPr>
        <p:txBody>
          <a:bodyPr wrap="square" lIns="0" tIns="0" rIns="0" bIns="0" rtlCol="0" anchor="t"/>
          <a:lstStyle/>
          <a:p>
            <a:pPr marL="0" indent="0" algn="l">
              <a:lnSpc>
                <a:spcPts val="220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Forest'ın temel dezavantajı, modelin yorumlanmasının zorluğudur. Çok sayıda ağacın birleşimi, modelin "kara kutu" gibi görünmesine neden olur. Ayrıca, eğitim süreci ve tahminler için daha fazla hesaplama kaynağı ve zaman gerektirebilir, bu da onu büyük ve karmaşık veri setlerinde daha maliyetli hale getirir.</a:t>
            </a:r>
            <a:endParaRPr lang="en-US" sz="1400" dirty="0"/>
          </a:p>
        </p:txBody>
      </p:sp>
      <p:pic>
        <p:nvPicPr>
          <p:cNvPr id="18" name="Resim 17"/>
          <p:cNvPicPr>
            <a:picLocks noChangeAspect="1"/>
          </p:cNvPicPr>
          <p:nvPr/>
        </p:nvPicPr>
        <p:blipFill>
          <a:blip r:embed="rId5"/>
          <a:stretch>
            <a:fillRect/>
          </a:stretch>
        </p:blipFill>
        <p:spPr>
          <a:xfrm>
            <a:off x="12893040" y="7690485"/>
            <a:ext cx="1617980" cy="457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37342" y="792480"/>
            <a:ext cx="7869317" cy="1138238"/>
          </a:xfrm>
          <a:prstGeom prst="rect">
            <a:avLst/>
          </a:prstGeom>
          <a:noFill/>
        </p:spPr>
        <p:txBody>
          <a:bodyPr wrap="squar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Sonuç: Bilgiyle Güçlen, Geleceği Koru</a:t>
            </a:r>
            <a:endParaRPr lang="en-US" sz="3550" dirty="0"/>
          </a:p>
        </p:txBody>
      </p:sp>
      <p:sp>
        <p:nvSpPr>
          <p:cNvPr id="4" name="Text 1"/>
          <p:cNvSpPr/>
          <p:nvPr/>
        </p:nvSpPr>
        <p:spPr>
          <a:xfrm>
            <a:off x="637342" y="2203847"/>
            <a:ext cx="7869317" cy="874395"/>
          </a:xfrm>
          <a:prstGeom prst="rect">
            <a:avLst/>
          </a:prstGeom>
          <a:noFill/>
        </p:spPr>
        <p:txBody>
          <a:bodyPr wrap="square" lIns="0" tIns="0" rIns="0" bIns="0" rtlCol="0" anchor="t"/>
          <a:lstStyle/>
          <a:p>
            <a:pPr marL="0" indent="0" algn="l">
              <a:lnSpc>
                <a:spcPts val="225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İklim değişikliğiyle mücadele, hem teknolojik yenilikleri hem de toplumsal farkındalığı gerektiren küresel bir çabadır. Makine öğrenimi gibi ileri teknolojiler, bu mücadelede bize yol gösterici olabilir.</a:t>
            </a:r>
            <a:endParaRPr lang="en-US" sz="1400" dirty="0"/>
          </a:p>
        </p:txBody>
      </p:sp>
      <p:sp>
        <p:nvSpPr>
          <p:cNvPr id="5" name="Shape 2"/>
          <p:cNvSpPr/>
          <p:nvPr/>
        </p:nvSpPr>
        <p:spPr>
          <a:xfrm>
            <a:off x="637342" y="3283029"/>
            <a:ext cx="7869317" cy="4154091"/>
          </a:xfrm>
          <a:prstGeom prst="roundRect">
            <a:avLst>
              <a:gd name="adj" fmla="val 1841"/>
            </a:avLst>
          </a:prstGeom>
          <a:solidFill>
            <a:srgbClr val="EACCFF"/>
          </a:solidFill>
          <a:ln w="7620">
            <a:solidFill>
              <a:srgbClr val="D0B2E5"/>
            </a:solidFill>
            <a:prstDash val="solid"/>
          </a:ln>
        </p:spPr>
      </p:sp>
      <p:sp>
        <p:nvSpPr>
          <p:cNvPr id="6" name="Shape 3"/>
          <p:cNvSpPr/>
          <p:nvPr/>
        </p:nvSpPr>
        <p:spPr>
          <a:xfrm>
            <a:off x="644962" y="3290649"/>
            <a:ext cx="3927038" cy="2798088"/>
          </a:xfrm>
          <a:prstGeom prst="roundRect">
            <a:avLst>
              <a:gd name="adj" fmla="val 2734"/>
            </a:avLst>
          </a:prstGeom>
          <a:solidFill>
            <a:srgbClr val="EACCFF"/>
          </a:solidFill>
        </p:spPr>
      </p:sp>
      <p:sp>
        <p:nvSpPr>
          <p:cNvPr id="7" name="Text 4"/>
          <p:cNvSpPr/>
          <p:nvPr/>
        </p:nvSpPr>
        <p:spPr>
          <a:xfrm>
            <a:off x="827008" y="3472696"/>
            <a:ext cx="2386013" cy="284559"/>
          </a:xfrm>
          <a:prstGeom prst="rect">
            <a:avLst/>
          </a:prstGeom>
          <a:noFill/>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Doğru Yöntem Seçimi</a:t>
            </a:r>
            <a:endParaRPr lang="en-US" sz="1750" dirty="0"/>
          </a:p>
        </p:txBody>
      </p:sp>
      <p:sp>
        <p:nvSpPr>
          <p:cNvPr id="8" name="Text 5"/>
          <p:cNvSpPr/>
          <p:nvPr/>
        </p:nvSpPr>
        <p:spPr>
          <a:xfrm>
            <a:off x="827008" y="3866436"/>
            <a:ext cx="3289816" cy="2040255"/>
          </a:xfrm>
          <a:prstGeom prst="rect">
            <a:avLst/>
          </a:prstGeom>
          <a:noFill/>
        </p:spPr>
        <p:txBody>
          <a:bodyPr wrap="square" lIns="0" tIns="0" rIns="0" bIns="0" rtlCol="0" anchor="t"/>
          <a:lstStyle/>
          <a:p>
            <a:pPr marL="0" indent="0" algn="l">
              <a:lnSpc>
                <a:spcPts val="225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Riskleri doğru bir şekilde analiz etmek ve iklim verilerinden en iyi şekilde yararlanmak için, Lineer Regresyon, Karar Ağacı ve Random Forest gibi makine öğrenimi modellerinin avantaj ve dezavantajlarını iyi anlamak kritik öneme sahiptir.</a:t>
            </a:r>
            <a:endParaRPr lang="en-US" sz="1400" dirty="0"/>
          </a:p>
        </p:txBody>
      </p:sp>
      <p:sp>
        <p:nvSpPr>
          <p:cNvPr id="9" name="Shape 6"/>
          <p:cNvSpPr/>
          <p:nvPr/>
        </p:nvSpPr>
        <p:spPr>
          <a:xfrm>
            <a:off x="4572000" y="3290649"/>
            <a:ext cx="3927038" cy="2798088"/>
          </a:xfrm>
          <a:prstGeom prst="rect">
            <a:avLst/>
          </a:prstGeom>
          <a:solidFill>
            <a:srgbClr val="EACCFF"/>
          </a:solidFill>
        </p:spPr>
      </p:sp>
      <p:sp>
        <p:nvSpPr>
          <p:cNvPr id="10" name="Shape 7"/>
          <p:cNvSpPr/>
          <p:nvPr/>
        </p:nvSpPr>
        <p:spPr>
          <a:xfrm>
            <a:off x="4572000" y="3290649"/>
            <a:ext cx="22860" cy="2798088"/>
          </a:xfrm>
          <a:prstGeom prst="roundRect">
            <a:avLst>
              <a:gd name="adj" fmla="val 334585"/>
            </a:avLst>
          </a:prstGeom>
          <a:solidFill>
            <a:srgbClr val="D0B2E5"/>
          </a:solidFill>
        </p:spPr>
      </p:sp>
      <p:sp>
        <p:nvSpPr>
          <p:cNvPr id="11" name="Text 8"/>
          <p:cNvSpPr/>
          <p:nvPr/>
        </p:nvSpPr>
        <p:spPr>
          <a:xfrm>
            <a:off x="5027176" y="3472696"/>
            <a:ext cx="2276356" cy="284559"/>
          </a:xfrm>
          <a:prstGeom prst="rect">
            <a:avLst/>
          </a:prstGeom>
          <a:noFill/>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Birlikte Mücadele</a:t>
            </a:r>
            <a:endParaRPr lang="en-US" sz="1750" dirty="0"/>
          </a:p>
        </p:txBody>
      </p:sp>
      <p:sp>
        <p:nvSpPr>
          <p:cNvPr id="12" name="Text 9"/>
          <p:cNvSpPr/>
          <p:nvPr/>
        </p:nvSpPr>
        <p:spPr>
          <a:xfrm>
            <a:off x="5027176" y="3866436"/>
            <a:ext cx="3289816" cy="1457325"/>
          </a:xfrm>
          <a:prstGeom prst="rect">
            <a:avLst/>
          </a:prstGeom>
          <a:noFill/>
        </p:spPr>
        <p:txBody>
          <a:bodyPr wrap="square" lIns="0" tIns="0" rIns="0" bIns="0" rtlCol="0" anchor="t"/>
          <a:lstStyle/>
          <a:p>
            <a:pPr marL="0" indent="0" algn="l">
              <a:lnSpc>
                <a:spcPts val="225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Toplumun farkındalığını artırmak, bilimsel verileri kullanmak ve teknolojik çözümleri entegre etmek, iklim değişikliğinin yıkıcı etkilerini azaltmada birleşmemizi sağlar.</a:t>
            </a:r>
            <a:endParaRPr lang="en-US" sz="1400" dirty="0"/>
          </a:p>
        </p:txBody>
      </p:sp>
      <p:sp>
        <p:nvSpPr>
          <p:cNvPr id="13" name="Shape 10"/>
          <p:cNvSpPr/>
          <p:nvPr/>
        </p:nvSpPr>
        <p:spPr>
          <a:xfrm>
            <a:off x="4344472" y="4462046"/>
            <a:ext cx="455176" cy="455176"/>
          </a:xfrm>
          <a:prstGeom prst="roundRect">
            <a:avLst>
              <a:gd name="adj" fmla="val 16804"/>
            </a:avLst>
          </a:prstGeom>
          <a:solidFill>
            <a:srgbClr val="FFFFFF"/>
          </a:solidFill>
          <a:ln w="22860">
            <a:solidFill>
              <a:srgbClr val="D0B2E5"/>
            </a:solidFill>
            <a:prstDash val="solid"/>
          </a:ln>
        </p:spPr>
      </p:sp>
      <p:pic>
        <p:nvPicPr>
          <p:cNvPr id="14"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58295" y="4575870"/>
            <a:ext cx="227528" cy="227528"/>
          </a:xfrm>
          <a:prstGeom prst="rect">
            <a:avLst/>
          </a:prstGeom>
        </p:spPr>
      </p:pic>
      <p:sp>
        <p:nvSpPr>
          <p:cNvPr id="15" name="Shape 11"/>
          <p:cNvSpPr/>
          <p:nvPr/>
        </p:nvSpPr>
        <p:spPr>
          <a:xfrm>
            <a:off x="644962" y="6088737"/>
            <a:ext cx="7854077" cy="1340763"/>
          </a:xfrm>
          <a:prstGeom prst="rect">
            <a:avLst/>
          </a:prstGeom>
          <a:solidFill>
            <a:srgbClr val="EACCFF"/>
          </a:solidFill>
        </p:spPr>
      </p:sp>
      <p:sp>
        <p:nvSpPr>
          <p:cNvPr id="16" name="Shape 12"/>
          <p:cNvSpPr/>
          <p:nvPr/>
        </p:nvSpPr>
        <p:spPr>
          <a:xfrm>
            <a:off x="644962" y="6088737"/>
            <a:ext cx="7854077" cy="22860"/>
          </a:xfrm>
          <a:prstGeom prst="roundRect">
            <a:avLst>
              <a:gd name="adj" fmla="val 334585"/>
            </a:avLst>
          </a:prstGeom>
          <a:solidFill>
            <a:srgbClr val="D0B2E5"/>
          </a:solidFill>
        </p:spPr>
      </p:sp>
      <p:sp>
        <p:nvSpPr>
          <p:cNvPr id="17" name="Text 13"/>
          <p:cNvSpPr/>
          <p:nvPr/>
        </p:nvSpPr>
        <p:spPr>
          <a:xfrm>
            <a:off x="827008" y="6270784"/>
            <a:ext cx="2474238" cy="284559"/>
          </a:xfrm>
          <a:prstGeom prst="rect">
            <a:avLst/>
          </a:prstGeom>
          <a:noFill/>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Sürdürülebilir Gelecek</a:t>
            </a:r>
            <a:endParaRPr lang="en-US" sz="1750" dirty="0"/>
          </a:p>
        </p:txBody>
      </p:sp>
      <p:sp>
        <p:nvSpPr>
          <p:cNvPr id="18" name="Text 14"/>
          <p:cNvSpPr/>
          <p:nvPr/>
        </p:nvSpPr>
        <p:spPr>
          <a:xfrm>
            <a:off x="827008" y="6664523"/>
            <a:ext cx="7216854" cy="582930"/>
          </a:xfrm>
          <a:prstGeom prst="rect">
            <a:avLst/>
          </a:prstGeom>
          <a:noFill/>
        </p:spPr>
        <p:txBody>
          <a:bodyPr wrap="square" lIns="0" tIns="0" rIns="0" bIns="0" rtlCol="0" anchor="t"/>
          <a:lstStyle/>
          <a:p>
            <a:pPr marL="0" indent="0" algn="l">
              <a:lnSpc>
                <a:spcPts val="2250"/>
              </a:lnSpc>
              <a:buNone/>
            </a:pPr>
            <a:r>
              <a:rPr lang="en-US" sz="1400" dirty="0">
                <a:solidFill>
                  <a:srgbClr val="272525"/>
                </a:solidFill>
                <a:latin typeface="Inter" panose="02000503000000020004" pitchFamily="34" charset="0"/>
                <a:ea typeface="Inter" panose="02000503000000020004" pitchFamily="34" charset="-122"/>
                <a:cs typeface="Inter" panose="02000503000000020004" pitchFamily="34" charset="-120"/>
              </a:rPr>
              <a:t>Her birimizin atacağı adımlar, daha dirençli ve sürdürülebilir bir gelecek inşa etme yolunda büyük bir fark yaratacaktır. Bilgiyle güçlenerek, geleceğimizi koruyalım.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758309" y="1373743"/>
            <a:ext cx="7185184" cy="712708"/>
          </a:xfrm>
          <a:prstGeom prst="rect">
            <a:avLst/>
          </a:prstGeom>
          <a:noFill/>
        </p:spPr>
        <p:txBody>
          <a:bodyPr wrap="none" lIns="0" tIns="0" rIns="0" bIns="0" rtlCol="0" anchor="t"/>
          <a:p>
            <a:pPr marL="0" indent="0" algn="l">
              <a:lnSpc>
                <a:spcPts val="5600"/>
              </a:lnSpc>
              <a:buNone/>
            </a:pPr>
            <a:r>
              <a:rPr lang="tr-TR" altLang="en-US" sz="4450" dirty="0">
                <a:solidFill>
                  <a:srgbClr val="1F1E1E"/>
                </a:solidFill>
                <a:latin typeface="Alexandria Semi Bold" pitchFamily="34" charset="0"/>
                <a:ea typeface="Alexandria Semi Bold" pitchFamily="34" charset="-122"/>
                <a:cs typeface="Alexandria Semi Bold" pitchFamily="34" charset="-120"/>
              </a:rPr>
              <a:t>Dinlediğiniz</a:t>
            </a:r>
            <a:r>
              <a:rPr lang="en-US" sz="4450" dirty="0">
                <a:solidFill>
                  <a:srgbClr val="1F1E1E"/>
                </a:solidFill>
                <a:latin typeface="Alexandria Semi Bold" pitchFamily="34" charset="0"/>
                <a:ea typeface="Alexandria Semi Bold" pitchFamily="34" charset="-122"/>
                <a:cs typeface="Alexandria Semi Bold" pitchFamily="34" charset="-120"/>
              </a:rPr>
              <a:t> için Teşekkürler.</a:t>
            </a:r>
            <a:endParaRPr lang="en-US" sz="4450" dirty="0"/>
          </a:p>
        </p:txBody>
      </p:sp>
      <p:sp>
        <p:nvSpPr>
          <p:cNvPr id="3" name="Text 1"/>
          <p:cNvSpPr/>
          <p:nvPr/>
        </p:nvSpPr>
        <p:spPr>
          <a:xfrm>
            <a:off x="758309" y="2519720"/>
            <a:ext cx="13113782" cy="346710"/>
          </a:xfrm>
          <a:prstGeom prst="rect">
            <a:avLst/>
          </a:prstGeom>
          <a:noFill/>
        </p:spPr>
        <p:txBody>
          <a:bodyPr wrap="none" lIns="0" tIns="0" rIns="0" bIns="0" rtlCol="0" anchor="t"/>
          <a:p>
            <a:pPr marL="0" indent="0" algn="l">
              <a:lnSpc>
                <a:spcPts val="2700"/>
              </a:lnSpc>
              <a:buNone/>
            </a:pPr>
            <a:endParaRPr lang="en-US" sz="1700" dirty="0"/>
          </a:p>
        </p:txBody>
      </p:sp>
      <p:sp>
        <p:nvSpPr>
          <p:cNvPr id="4" name="Text 2"/>
          <p:cNvSpPr/>
          <p:nvPr/>
        </p:nvSpPr>
        <p:spPr>
          <a:xfrm>
            <a:off x="758309" y="3191351"/>
            <a:ext cx="5701546" cy="712708"/>
          </a:xfrm>
          <a:prstGeom prst="rect">
            <a:avLst/>
          </a:prstGeom>
          <a:noFill/>
        </p:spPr>
        <p:txBody>
          <a:bodyPr wrap="none" lIns="0" tIns="0" rIns="0" bIns="0" rtlCol="0" anchor="t"/>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İletişim:</a:t>
            </a:r>
            <a:endParaRPr lang="en-US" sz="4450" dirty="0"/>
          </a:p>
        </p:txBody>
      </p:sp>
      <p:sp>
        <p:nvSpPr>
          <p:cNvPr id="5" name="Text 3"/>
          <p:cNvSpPr/>
          <p:nvPr/>
        </p:nvSpPr>
        <p:spPr>
          <a:xfrm>
            <a:off x="1083231" y="4472702"/>
            <a:ext cx="12788860" cy="1386840"/>
          </a:xfrm>
          <a:prstGeom prst="rect">
            <a:avLst/>
          </a:prstGeom>
          <a:noFill/>
        </p:spPr>
        <p:txBody>
          <a:bodyPr wrap="square" lIns="0" tIns="0" rIns="0" bIns="0" rtlCol="0" anchor="t"/>
          <a:p>
            <a:pPr>
              <a:lnSpc>
                <a:spcPts val="2700"/>
              </a:lnSpc>
            </a:pPr>
            <a:r>
              <a:rPr lang="en-US" sz="1700" dirty="0">
                <a:solidFill>
                  <a:srgbClr val="3B3535"/>
                </a:solidFill>
                <a:latin typeface="Sora Light"/>
                <a:ea typeface="Sora Light" pitchFamily="34" charset="-122"/>
                <a:cs typeface="Sora Light"/>
              </a:rPr>
              <a:t>Mustafa ERAYDIN                       </a:t>
            </a:r>
            <a:r>
              <a:rPr lang="en-US" sz="1700" dirty="0">
                <a:solidFill>
                  <a:srgbClr val="3B3535"/>
                </a:solidFill>
                <a:latin typeface="Sora Light"/>
                <a:ea typeface="Sora Light" pitchFamily="34" charset="-122"/>
                <a:cs typeface="Sora Light"/>
                <a:hlinkClick r:id="rId1"/>
              </a:rPr>
              <a:t>mustafaeraydin@marun.edu.tr</a:t>
            </a:r>
            <a:endParaRPr lang="en-US" sz="1700" dirty="0">
              <a:solidFill>
                <a:srgbClr val="000000"/>
              </a:solidFill>
              <a:latin typeface="Sora Light"/>
              <a:ea typeface="Calibri" panose="020F0502020204030204"/>
              <a:cs typeface="Calibri" panose="020F0502020204030204"/>
            </a:endParaRPr>
          </a:p>
          <a:p>
            <a:pPr>
              <a:lnSpc>
                <a:spcPts val="2700"/>
              </a:lnSpc>
            </a:pPr>
            <a:r>
              <a:rPr lang="en-US" sz="1700" dirty="0">
                <a:solidFill>
                  <a:srgbClr val="3B3535"/>
                </a:solidFill>
                <a:latin typeface="Sora Light"/>
                <a:ea typeface="Sora Light" pitchFamily="34" charset="-122"/>
                <a:cs typeface="Sora Light"/>
              </a:rPr>
              <a:t>Muhammed Eren TAŞTAN          </a:t>
            </a:r>
            <a:r>
              <a:rPr lang="en-US" sz="1700" dirty="0">
                <a:solidFill>
                  <a:srgbClr val="3B3535"/>
                </a:solidFill>
                <a:latin typeface="Sora Light"/>
                <a:ea typeface="Sora Light" pitchFamily="34" charset="-122"/>
                <a:cs typeface="Sora Light"/>
                <a:hlinkClick r:id="rId2"/>
              </a:rPr>
              <a:t>eren.tastan@marun.edu.tr</a:t>
            </a:r>
            <a:endParaRPr lang="en-US" sz="1700">
              <a:solidFill>
                <a:srgbClr val="000000"/>
              </a:solidFill>
              <a:latin typeface="Sora Light"/>
              <a:ea typeface="Calibri" panose="020F0502020204030204"/>
              <a:cs typeface="Calibri" panose="020F0502020204030204"/>
            </a:endParaRPr>
          </a:p>
          <a:p>
            <a:pPr>
              <a:lnSpc>
                <a:spcPts val="2700"/>
              </a:lnSpc>
            </a:pPr>
            <a:r>
              <a:rPr lang="en-US" sz="1700" dirty="0">
                <a:solidFill>
                  <a:srgbClr val="3B3535"/>
                </a:solidFill>
                <a:latin typeface="Sora Light"/>
                <a:ea typeface="Sora Light" pitchFamily="34" charset="-122"/>
                <a:cs typeface="Sora Light"/>
              </a:rPr>
              <a:t>Meva Su ULUSAL                       </a:t>
            </a:r>
            <a:r>
              <a:rPr lang="en-US" sz="1700" dirty="0">
                <a:solidFill>
                  <a:srgbClr val="3B3535"/>
                </a:solidFill>
                <a:latin typeface="Sora Light"/>
                <a:ea typeface="Sora Light" pitchFamily="34" charset="-122"/>
                <a:cs typeface="Sora Light"/>
                <a:hlinkClick r:id="rId3"/>
              </a:rPr>
              <a:t>su.ulusal@marun.edu.tr</a:t>
            </a:r>
            <a:endParaRPr lang="en-US" sz="1700" dirty="0">
              <a:solidFill>
                <a:srgbClr val="000000"/>
              </a:solidFill>
              <a:latin typeface="Sora Light"/>
              <a:ea typeface="Calibri" panose="020F0502020204030204"/>
              <a:cs typeface="Calibri" panose="020F0502020204030204"/>
            </a:endParaRPr>
          </a:p>
          <a:p>
            <a:pPr>
              <a:lnSpc>
                <a:spcPts val="2700"/>
              </a:lnSpc>
            </a:pPr>
            <a:r>
              <a:rPr lang="en-US" sz="1700" dirty="0" err="1">
                <a:solidFill>
                  <a:srgbClr val="3B3535"/>
                </a:solidFill>
                <a:latin typeface="Sora Light"/>
                <a:ea typeface="Sora Light" pitchFamily="34" charset="-122"/>
                <a:cs typeface="Sora Light"/>
              </a:rPr>
              <a:t>Şevki</a:t>
            </a:r>
            <a:r>
              <a:rPr lang="en-US" sz="1700" dirty="0">
                <a:solidFill>
                  <a:srgbClr val="3B3535"/>
                </a:solidFill>
                <a:latin typeface="Sora Light"/>
                <a:ea typeface="Sora Light" pitchFamily="34" charset="-122"/>
                <a:cs typeface="Sora Light"/>
              </a:rPr>
              <a:t> BİLGİÇ                               </a:t>
            </a:r>
            <a:r>
              <a:rPr lang="en-US" sz="1700" dirty="0">
                <a:solidFill>
                  <a:srgbClr val="3B3535"/>
                </a:solidFill>
                <a:latin typeface="Sora Light"/>
                <a:ea typeface="Sora Light" pitchFamily="34" charset="-122"/>
                <a:cs typeface="Sora Light"/>
                <a:hlinkClick r:id="rId4"/>
              </a:rPr>
              <a:t>sevkibilgic@marun.edu.tr</a:t>
            </a:r>
            <a:endParaRPr lang="en-US" sz="1700">
              <a:solidFill>
                <a:srgbClr val="000000"/>
              </a:solidFill>
              <a:latin typeface="Sora Light"/>
              <a:ea typeface="Calibri" panose="020F0502020204030204"/>
              <a:cs typeface="Calibri" panose="020F0502020204030204"/>
            </a:endParaRPr>
          </a:p>
          <a:p>
            <a:pPr>
              <a:lnSpc>
                <a:spcPts val="2700"/>
              </a:lnSpc>
            </a:pPr>
            <a:endParaRPr lang="en-US" sz="1700" dirty="0">
              <a:solidFill>
                <a:srgbClr val="3B3535"/>
              </a:solidFill>
              <a:latin typeface="Sora Light"/>
              <a:ea typeface="Calibri" panose="020F0502020204030204"/>
              <a:cs typeface="Sora Light"/>
            </a:endParaRPr>
          </a:p>
        </p:txBody>
      </p:sp>
      <p:sp>
        <p:nvSpPr>
          <p:cNvPr id="6" name="Shape 4"/>
          <p:cNvSpPr/>
          <p:nvPr/>
        </p:nvSpPr>
        <p:spPr>
          <a:xfrm>
            <a:off x="758309" y="4228981"/>
            <a:ext cx="30480" cy="1874282"/>
          </a:xfrm>
          <a:prstGeom prst="rect">
            <a:avLst/>
          </a:prstGeom>
          <a:solidFill>
            <a:srgbClr val="1A2D7A"/>
          </a:solidFill>
        </p:spPr>
      </p:sp>
      <p:sp>
        <p:nvSpPr>
          <p:cNvPr id="7" name="Text 5"/>
          <p:cNvSpPr/>
          <p:nvPr/>
        </p:nvSpPr>
        <p:spPr>
          <a:xfrm>
            <a:off x="758309" y="6428184"/>
            <a:ext cx="3420904" cy="427553"/>
          </a:xfrm>
          <a:prstGeom prst="rect">
            <a:avLst/>
          </a:prstGeom>
          <a:noFill/>
        </p:spPr>
        <p:txBody>
          <a:bodyPr wrap="none" lIns="0" tIns="0" rIns="0" bIns="0" rtlCol="0" anchor="t"/>
          <a:p>
            <a:pPr marL="0" indent="0" algn="l">
              <a:lnSpc>
                <a:spcPts val="3350"/>
              </a:lnSpc>
              <a:buNone/>
            </a:pPr>
            <a:endParaRPr lang="en-US" sz="2650" dirty="0"/>
          </a:p>
        </p:txBody>
      </p:sp>
      <p:pic>
        <p:nvPicPr>
          <p:cNvPr id="13" name="Resim 12"/>
          <p:cNvPicPr>
            <a:picLocks noChangeAspect="1"/>
          </p:cNvPicPr>
          <p:nvPr/>
        </p:nvPicPr>
        <p:blipFill>
          <a:blip r:embed="rId5"/>
          <a:stretch>
            <a:fillRect/>
          </a:stretch>
        </p:blipFill>
        <p:spPr>
          <a:xfrm>
            <a:off x="12893040" y="7690485"/>
            <a:ext cx="1617980" cy="457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Resim 12"/>
          <p:cNvPicPr>
            <a:picLocks noChangeAspect="1"/>
          </p:cNvPicPr>
          <p:nvPr/>
        </p:nvPicPr>
        <p:blipFill>
          <a:blip r:embed="rId1"/>
          <a:stretch>
            <a:fillRect/>
          </a:stretch>
        </p:blipFill>
        <p:spPr>
          <a:xfrm>
            <a:off x="12893040" y="7690485"/>
            <a:ext cx="1617980" cy="457200"/>
          </a:xfrm>
          <a:prstGeom prst="rect">
            <a:avLst/>
          </a:prstGeom>
        </p:spPr>
      </p:pic>
      <p:sp>
        <p:nvSpPr>
          <p:cNvPr id="5" name="Metin Kutusu 4"/>
          <p:cNvSpPr txBox="1"/>
          <p:nvPr/>
        </p:nvSpPr>
        <p:spPr>
          <a:xfrm>
            <a:off x="695325" y="481965"/>
            <a:ext cx="4876800" cy="706755"/>
          </a:xfrm>
          <a:prstGeom prst="rect">
            <a:avLst/>
          </a:prstGeom>
          <a:noFill/>
        </p:spPr>
        <p:txBody>
          <a:bodyPr wrap="square" rtlCol="0">
            <a:spAutoFit/>
          </a:bodyPr>
          <a:p>
            <a:r>
              <a:rPr lang="tr-TR" altLang="en-US" sz="4000"/>
              <a:t>Kaynakça</a:t>
            </a:r>
            <a:endParaRPr lang="tr-TR" altLang="en-US" sz="4000"/>
          </a:p>
        </p:txBody>
      </p:sp>
      <p:sp>
        <p:nvSpPr>
          <p:cNvPr id="6" name="Metin Kutusu 5"/>
          <p:cNvSpPr txBox="1"/>
          <p:nvPr/>
        </p:nvSpPr>
        <p:spPr>
          <a:xfrm>
            <a:off x="890905" y="2217420"/>
            <a:ext cx="13347700" cy="4760595"/>
          </a:xfrm>
          <a:prstGeom prst="rect">
            <a:avLst/>
          </a:prstGeom>
          <a:noFill/>
        </p:spPr>
        <p:txBody>
          <a:bodyPr wrap="square" rtlCol="0">
            <a:noAutofit/>
          </a:bodyPr>
          <a:p>
            <a:pPr marL="285750" indent="-285750">
              <a:buFont typeface="Arial" panose="020B0604020202020204" pitchFamily="34" charset="0"/>
              <a:buChar char="•"/>
            </a:pPr>
            <a:r>
              <a:rPr lang="en-US" altLang="tr-TR"/>
              <a:t>https://www.iklimhaber.org/wp-content/uploads/2023/05/Iklim-Haber-Konda-Arastirma-2022.pdf</a:t>
            </a:r>
            <a:endParaRPr lang="en-US" altLang="tr-TR"/>
          </a:p>
          <a:p>
            <a:pPr marL="285750" indent="-285750">
              <a:buFont typeface="Arial" panose="020B0604020202020204" pitchFamily="34" charset="0"/>
              <a:buChar char="•"/>
            </a:pPr>
            <a:endParaRPr lang="en-US" altLang="tr-TR"/>
          </a:p>
          <a:p>
            <a:pPr marL="285750" indent="-285750">
              <a:buFont typeface="Arial" panose="020B0604020202020204" pitchFamily="34" charset="0"/>
              <a:buChar char="•"/>
            </a:pPr>
            <a:r>
              <a:rPr lang="en-US" altLang="tr-TR"/>
              <a:t>https://data.giss.nasa.gov/gistemp/</a:t>
            </a:r>
            <a:endParaRPr lang="en-US" altLang="tr-TR"/>
          </a:p>
          <a:p>
            <a:pPr marL="285750" indent="-285750">
              <a:buFont typeface="Arial" panose="020B0604020202020204" pitchFamily="34" charset="0"/>
              <a:buChar char="•"/>
            </a:pPr>
            <a:endParaRPr lang="en-US" altLang="tr-TR"/>
          </a:p>
          <a:p>
            <a:pPr marL="285750" indent="-285750">
              <a:buFont typeface="Arial" panose="020B0604020202020204" pitchFamily="34" charset="0"/>
              <a:buChar char="•"/>
            </a:pPr>
            <a:r>
              <a:rPr lang="en-US" altLang="tr-TR"/>
              <a:t>https://www.ncei.noaa.gov/access/monitoring/climate-at-a-glance/</a:t>
            </a:r>
            <a:endParaRPr lang="en-US" altLang="tr-TR"/>
          </a:p>
          <a:p>
            <a:pPr marL="285750" indent="-285750">
              <a:buFont typeface="Arial" panose="020B0604020202020204" pitchFamily="34" charset="0"/>
              <a:buChar char="•"/>
            </a:pPr>
            <a:endParaRPr lang="en-US" altLang="tr-TR"/>
          </a:p>
          <a:p>
            <a:pPr marL="285750" indent="-285750">
              <a:buFont typeface="Arial" panose="020B0604020202020204" pitchFamily="34" charset="0"/>
              <a:buChar char="•"/>
            </a:pPr>
            <a:r>
              <a:rPr lang="en-US" altLang="tr-TR"/>
              <a:t>https://www.ipcc.ch/reports/</a:t>
            </a:r>
            <a:endParaRPr lang="en-US" altLang="tr-TR"/>
          </a:p>
          <a:p>
            <a:pPr marL="285750" indent="-285750">
              <a:buFont typeface="Arial" panose="020B0604020202020204" pitchFamily="34" charset="0"/>
              <a:buChar char="•"/>
            </a:pPr>
            <a:endParaRPr lang="en-US" altLang="tr-TR"/>
          </a:p>
          <a:p>
            <a:pPr marL="285750" indent="-285750">
              <a:buFont typeface="Arial" panose="020B0604020202020204" pitchFamily="34" charset="0"/>
              <a:buChar char="•"/>
            </a:pPr>
            <a:r>
              <a:rPr lang="en-US" altLang="tr-TR"/>
              <a:t>https://climate.nasa.gov/</a:t>
            </a:r>
            <a:endParaRPr lang="en-US" altLang="tr-TR"/>
          </a:p>
          <a:p>
            <a:pPr marL="285750" indent="-285750">
              <a:buFont typeface="Arial" panose="020B0604020202020204" pitchFamily="34" charset="0"/>
              <a:buChar char="•"/>
            </a:pPr>
            <a:endParaRPr lang="en-US" altLang="tr-TR"/>
          </a:p>
          <a:p>
            <a:pPr marL="285750" indent="-285750">
              <a:buFont typeface="Arial" panose="020B0604020202020204" pitchFamily="34" charset="0"/>
              <a:buChar char="•"/>
            </a:pPr>
            <a:r>
              <a:rPr lang="en-US" altLang="tr-TR"/>
              <a:t>https://climateknowledgeportal.worldbank.org/</a:t>
            </a:r>
            <a:endParaRPr lang="en-US" altLang="tr-TR"/>
          </a:p>
          <a:p>
            <a:pPr marL="285750" indent="-285750">
              <a:buFont typeface="Arial" panose="020B0604020202020204" pitchFamily="34" charset="0"/>
              <a:buChar char="•"/>
            </a:pPr>
            <a:endParaRPr lang="en-US" altLang="tr-TR"/>
          </a:p>
          <a:p>
            <a:pPr marL="285750" indent="-285750">
              <a:buFont typeface="Arial" panose="020B0604020202020204" pitchFamily="34" charset="0"/>
              <a:buChar char="•"/>
            </a:pPr>
            <a:r>
              <a:rPr lang="en-US" altLang="tr-TR"/>
              <a:t>https://gemini.google.com/app?hl=tr</a:t>
            </a:r>
            <a:endParaRPr lang="en-US" alt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8708</Words>
  <Application>WPS Sunum</Application>
  <PresentationFormat>On-screen Show (16:9)</PresentationFormat>
  <Paragraphs>228</Paragraphs>
  <Slides>15</Slides>
  <Notes>13</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15</vt:i4>
      </vt:variant>
    </vt:vector>
  </HeadingPairs>
  <TitlesOfParts>
    <vt:vector size="36" baseType="lpstr">
      <vt:lpstr>Arial</vt:lpstr>
      <vt:lpstr>SimSun</vt:lpstr>
      <vt:lpstr>Wingdings</vt:lpstr>
      <vt:lpstr>Inter Bold</vt:lpstr>
      <vt:lpstr>Segoe Print</vt:lpstr>
      <vt:lpstr>Inter Bold</vt:lpstr>
      <vt:lpstr>Inter Bold</vt:lpstr>
      <vt:lpstr>Inter</vt:lpstr>
      <vt:lpstr>Inter</vt:lpstr>
      <vt:lpstr>Inter</vt:lpstr>
      <vt:lpstr>Calibri</vt:lpstr>
      <vt:lpstr>Microsoft YaHei</vt:lpstr>
      <vt:lpstr>Arial Unicode MS</vt:lpstr>
      <vt:lpstr>MingLiU-ExtB</vt:lpstr>
      <vt:lpstr>Alexandria Semi Bold</vt:lpstr>
      <vt:lpstr>Alexandria Semi Bold</vt:lpstr>
      <vt:lpstr>Alexandria Semi Bold</vt:lpstr>
      <vt:lpstr>Sora Light</vt:lpstr>
      <vt:lpstr>Sora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bilgi</cp:lastModifiedBy>
  <cp:revision>6</cp:revision>
  <dcterms:created xsi:type="dcterms:W3CDTF">2025-11-19T12:53:00Z</dcterms:created>
  <dcterms:modified xsi:type="dcterms:W3CDTF">2025-11-19T15:14:41Z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BAFEC7FCB3854B87AE429B700EF489A2_13</vt:lpwstr>
  </property>
  <property fmtid="{D5CDD505-2E9C-101B-9397-08002B2CF9AE}" pid="3" name="KSOProductBuildVer">
    <vt:lpwstr>1055-12.2.0.22549</vt:lpwstr>
  </property>
</Properties>
</file>